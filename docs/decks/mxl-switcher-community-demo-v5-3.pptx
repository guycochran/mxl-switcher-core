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9c27fc1bab4749" /><Relationship Type="http://schemas.openxmlformats.org/officeDocument/2006/relationships/extended-properties" Target="/docProps/app.xml" Id="Rce84ac4ce3bb4b54" /><Relationship Type="http://schemas.openxmlformats.org/officeDocument/2006/relationships/officeDocument" Target="/ppt/presentation.xml" Id="R9c2993be595b47bf" /></Relationships>
</file>

<file path=ppt/presentation.xml><?xml version="1.0" encoding="utf-8"?>
<p:presentation xmlns:p="http://schemas.openxmlformats.org/presentationml/2006/main">
  <p:sldMasterIdLst>
    <p:sldMasterId xmlns:r="http://schemas.openxmlformats.org/officeDocument/2006/relationships" id="2147483648" r:id="Rca0992090a504ea2"/>
  </p:sldMasterIdLst>
  <p:notesMasterIdLst>
    <p:notesMasterId xmlns:r="http://schemas.openxmlformats.org/officeDocument/2006/relationships" r:id="R300fc3090daf4ed5"/>
  </p:notesMasterIdLst>
  <p:sldIdLst>
    <p:sldId xmlns:r="http://schemas.openxmlformats.org/officeDocument/2006/relationships" id="256" r:id="R52ef921c37a64dcd"/>
    <p:sldId xmlns:r="http://schemas.openxmlformats.org/officeDocument/2006/relationships" id="257" r:id="Rc42cc2a216044c1d"/>
    <p:sldId xmlns:r="http://schemas.openxmlformats.org/officeDocument/2006/relationships" id="258" r:id="Rc2c8f8d67d96462f"/>
    <p:sldId xmlns:r="http://schemas.openxmlformats.org/officeDocument/2006/relationships" id="259" r:id="Ra0d55bbe9b524dda"/>
    <p:sldId xmlns:r="http://schemas.openxmlformats.org/officeDocument/2006/relationships" id="260" r:id="R916377c4719b432a"/>
    <p:sldId xmlns:r="http://schemas.openxmlformats.org/officeDocument/2006/relationships" id="261" r:id="R01a920d5c4254c0e"/>
    <p:sldId xmlns:r="http://schemas.openxmlformats.org/officeDocument/2006/relationships" id="262" r:id="R8b58377233f249fb"/>
    <p:sldId xmlns:r="http://schemas.openxmlformats.org/officeDocument/2006/relationships" id="263" r:id="R03db9b43fb764cea"/>
    <p:sldId xmlns:r="http://schemas.openxmlformats.org/officeDocument/2006/relationships" id="264" r:id="R541904b6f0ce4d03"/>
    <p:sldId xmlns:r="http://schemas.openxmlformats.org/officeDocument/2006/relationships" id="265" r:id="R0425ffd30b78446c"/>
    <p:sldId xmlns:r="http://schemas.openxmlformats.org/officeDocument/2006/relationships" id="266" r:id="R052b68f1edd54a4c"/>
    <p:sldId xmlns:r="http://schemas.openxmlformats.org/officeDocument/2006/relationships" id="267" r:id="Rf92afad68f2244d8"/>
    <p:sldId xmlns:r="http://schemas.openxmlformats.org/officeDocument/2006/relationships" id="268" r:id="R1dd2c3c74c1b46f1"/>
    <p:sldId xmlns:r="http://schemas.openxmlformats.org/officeDocument/2006/relationships" id="269" r:id="Rfb4e5f9e7b924693"/>
    <p:sldId xmlns:r="http://schemas.openxmlformats.org/officeDocument/2006/relationships" id="270" r:id="R8761c4e0acbb4784"/>
    <p:sldId xmlns:r="http://schemas.openxmlformats.org/officeDocument/2006/relationships" id="271" r:id="R0aada4962b5e4bcb"/>
    <p:sldId xmlns:r="http://schemas.openxmlformats.org/officeDocument/2006/relationships" id="272" r:id="R81b1c552c83c48bb"/>
    <p:sldId xmlns:r="http://schemas.openxmlformats.org/officeDocument/2006/relationships" id="273" r:id="R91a0d545efe040ed"/>
    <p:sldId xmlns:r="http://schemas.openxmlformats.org/officeDocument/2006/relationships" id="274" r:id="Rcadea3ff25604459"/>
    <p:sldId xmlns:r="http://schemas.openxmlformats.org/officeDocument/2006/relationships" id="275" r:id="R5091fa0f30c84d16"/>
    <p:sldId xmlns:r="http://schemas.openxmlformats.org/officeDocument/2006/relationships" id="276" r:id="R06510408cec34cd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4f37ef2f304dc8" /><Relationship Type="http://schemas.openxmlformats.org/officeDocument/2006/relationships/slideMaster" Target="/ppt/slideMasters/slideMaster1.xml" Id="Rca0992090a504ea2" /><Relationship Type="http://schemas.openxmlformats.org/officeDocument/2006/relationships/notesMaster" Target="/ppt/notesMasters/notesMaster1.xml" Id="R300fc3090daf4ed5" /><Relationship Type="http://schemas.openxmlformats.org/officeDocument/2006/relationships/presProps" Target="/ppt/presProps.xml" Id="R691b9061c92a4b20" /><Relationship Type="http://schemas.openxmlformats.org/officeDocument/2006/relationships/tableStyles" Target="/ppt/tableStyles.xml" Id="Raded20eaeb644e2c" /><Relationship Type="http://schemas.openxmlformats.org/officeDocument/2006/relationships/slide" Target="/ppt/slides/slide1.xml" Id="R52ef921c37a64dcd" /><Relationship Type="http://schemas.openxmlformats.org/officeDocument/2006/relationships/slide" Target="/ppt/slides/slide2.xml" Id="Rc42cc2a216044c1d" /><Relationship Type="http://schemas.openxmlformats.org/officeDocument/2006/relationships/slide" Target="/ppt/slides/slide3.xml" Id="Rc2c8f8d67d96462f" /><Relationship Type="http://schemas.openxmlformats.org/officeDocument/2006/relationships/slide" Target="/ppt/slides/slide4.xml" Id="Ra0d55bbe9b524dda" /><Relationship Type="http://schemas.openxmlformats.org/officeDocument/2006/relationships/slide" Target="/ppt/slides/slide5.xml" Id="R916377c4719b432a" /><Relationship Type="http://schemas.openxmlformats.org/officeDocument/2006/relationships/slide" Target="/ppt/slides/slide6.xml" Id="R01a920d5c4254c0e" /><Relationship Type="http://schemas.openxmlformats.org/officeDocument/2006/relationships/slide" Target="/ppt/slides/slide7.xml" Id="R8b58377233f249fb" /><Relationship Type="http://schemas.openxmlformats.org/officeDocument/2006/relationships/slide" Target="/ppt/slides/slide8.xml" Id="R03db9b43fb764cea" /><Relationship Type="http://schemas.openxmlformats.org/officeDocument/2006/relationships/slide" Target="/ppt/slides/slide9.xml" Id="R541904b6f0ce4d03" /><Relationship Type="http://schemas.openxmlformats.org/officeDocument/2006/relationships/slide" Target="/ppt/slides/slide10.xml" Id="R0425ffd30b78446c" /><Relationship Type="http://schemas.openxmlformats.org/officeDocument/2006/relationships/slide" Target="/ppt/slides/slide11.xml" Id="R052b68f1edd54a4c" /><Relationship Type="http://schemas.openxmlformats.org/officeDocument/2006/relationships/slide" Target="/ppt/slides/slide12.xml" Id="Rf92afad68f2244d8" /><Relationship Type="http://schemas.openxmlformats.org/officeDocument/2006/relationships/slide" Target="/ppt/slides/slide13.xml" Id="R1dd2c3c74c1b46f1" /><Relationship Type="http://schemas.openxmlformats.org/officeDocument/2006/relationships/slide" Target="/ppt/slides/slide14.xml" Id="Rfb4e5f9e7b924693" /><Relationship Type="http://schemas.openxmlformats.org/officeDocument/2006/relationships/slide" Target="/ppt/slides/slide15.xml" Id="R8761c4e0acbb4784" /><Relationship Type="http://schemas.openxmlformats.org/officeDocument/2006/relationships/slide" Target="/ppt/slides/slide16.xml" Id="R0aada4962b5e4bcb" /><Relationship Type="http://schemas.openxmlformats.org/officeDocument/2006/relationships/slide" Target="/ppt/slides/slide17.xml" Id="R81b1c552c83c48bb" /><Relationship Type="http://schemas.openxmlformats.org/officeDocument/2006/relationships/slide" Target="/ppt/slides/slide18.xml" Id="R91a0d545efe040ed" /><Relationship Type="http://schemas.openxmlformats.org/officeDocument/2006/relationships/slide" Target="/ppt/slides/slide19.xml" Id="Rcadea3ff25604459" /><Relationship Type="http://schemas.openxmlformats.org/officeDocument/2006/relationships/slide" Target="/ppt/slides/slide20.xml" Id="R5091fa0f30c84d16" /><Relationship Type="http://schemas.openxmlformats.org/officeDocument/2006/relationships/slide" Target="/ppt/slides/slide21.xml" Id="R06510408cec34c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17889ce34244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cd293c72544835" /><Relationship Type="http://schemas.openxmlformats.org/officeDocument/2006/relationships/notesMaster" Target="/ppt/notesMasters/notesMaster1.xml" Id="Rfbf1bf8369d34b1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d27da8d71c4784" /><Relationship Type="http://schemas.openxmlformats.org/officeDocument/2006/relationships/notesMaster" Target="/ppt/notesMasters/notesMaster1.xml" Id="R1d4a13d3802845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db0ff5d4de414a" /><Relationship Type="http://schemas.openxmlformats.org/officeDocument/2006/relationships/notesMaster" Target="/ppt/notesMasters/notesMaster1.xml" Id="R41c78319f77841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060bfd271f4c0f" /><Relationship Type="http://schemas.openxmlformats.org/officeDocument/2006/relationships/notesMaster" Target="/ppt/notesMasters/notesMaster1.xml" Id="R83c67e94a1c847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94b5aadc264b20" /><Relationship Type="http://schemas.openxmlformats.org/officeDocument/2006/relationships/notesMaster" Target="/ppt/notesMasters/notesMaster1.xml" Id="Ra74a2524957b45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fec77b6edc45e3" /><Relationship Type="http://schemas.openxmlformats.org/officeDocument/2006/relationships/notesMaster" Target="/ppt/notesMasters/notesMaster1.xml" Id="Rf9144e11c22046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1d511bdb5a4591" /><Relationship Type="http://schemas.openxmlformats.org/officeDocument/2006/relationships/notesMaster" Target="/ppt/notesMasters/notesMaster1.xml" Id="R917aca88f93140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d2a78070b2b43f3" /><Relationship Type="http://schemas.openxmlformats.org/officeDocument/2006/relationships/notesMaster" Target="/ppt/notesMasters/notesMaster1.xml" Id="Ra2191a0a31a44c5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e924df9851f454f" /><Relationship Type="http://schemas.openxmlformats.org/officeDocument/2006/relationships/notesMaster" Target="/ppt/notesMasters/notesMaster1.xml" Id="R4ad0e7b0023d4e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ad24d83348840a1" /><Relationship Type="http://schemas.openxmlformats.org/officeDocument/2006/relationships/notesMaster" Target="/ppt/notesMasters/notesMaster1.xml" Id="R5bae547b2e3c498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180086229d94157" /><Relationship Type="http://schemas.openxmlformats.org/officeDocument/2006/relationships/notesMaster" Target="/ppt/notesMasters/notesMaster1.xml" Id="R3a7bdf65689944c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45b57543c41480a" /><Relationship Type="http://schemas.openxmlformats.org/officeDocument/2006/relationships/notesMaster" Target="/ppt/notesMasters/notesMaster1.xml" Id="Rf3dd85eba497499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58539bcbced438f" /><Relationship Type="http://schemas.openxmlformats.org/officeDocument/2006/relationships/notesMaster" Target="/ppt/notesMasters/notesMaster1.xml" Id="Red9749c61c7547c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951a7cafbeb43cd" /><Relationship Type="http://schemas.openxmlformats.org/officeDocument/2006/relationships/notesMaster" Target="/ppt/notesMasters/notesMaster1.xml" Id="R2cfdd0166061434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bc338837c794801" /><Relationship Type="http://schemas.openxmlformats.org/officeDocument/2006/relationships/notesMaster" Target="/ppt/notesMasters/notesMaster1.xml" Id="R87cca81bcf3f46c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5184eb63a1d4607" /><Relationship Type="http://schemas.openxmlformats.org/officeDocument/2006/relationships/notesMaster" Target="/ppt/notesMasters/notesMaster1.xml" Id="R9a72630f10fc451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d895f29e3cf4b76" /><Relationship Type="http://schemas.openxmlformats.org/officeDocument/2006/relationships/notesMaster" Target="/ppt/notesMasters/notesMaster1.xml" Id="R3895c0844368451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a318e6d9d6a4cab" /><Relationship Type="http://schemas.openxmlformats.org/officeDocument/2006/relationships/notesMaster" Target="/ppt/notesMasters/notesMaster1.xml" Id="R20c79de76b7d4d5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ebebe98fd0841a6" /><Relationship Type="http://schemas.openxmlformats.org/officeDocument/2006/relationships/notesMaster" Target="/ppt/notesMasters/notesMaster1.xml" Id="Rdf730be582e34cf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e1d3e18a4b54a63" /><Relationship Type="http://schemas.openxmlformats.org/officeDocument/2006/relationships/notesMaster" Target="/ppt/notesMasters/notesMaster1.xml" Id="R043a2aa5f4f6487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9fac49f6d734fb6" /><Relationship Type="http://schemas.openxmlformats.org/officeDocument/2006/relationships/notesMaster" Target="/ppt/notesMasters/notesMaster1.xml" Id="R2196e8542bde4c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result: this is a live working system, not a future architecture slide. Eight isolated Zoom participants enter one CPU-only node as native MXL flows. The node switches, composites, meters, monitors, and accepts browser or Companion control without another codec boundary between those production functions.</a:t>
            </a:r>
          </a:p>
          <a:p xmlns:a="http://schemas.openxmlformats.org/drawingml/2006/main">
            <a:r>
              <a:t/>
            </a:r>
          </a:p>
          <a:p xmlns:a="http://schemas.openxmlformats.org/drawingml/2006/main">
            <a:r>
              <a:t>Keep the first minute visual. Show the multiview before explaining the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diagnosis showed that the heavy work lived around the switcher. The new architecture isolates timing, source selection, stable Program and Preview flows, control, and health reporting.</a:t>
            </a:r>
          </a:p>
          <a:p xmlns:a="http://schemas.openxmlformats.org/drawingml/2006/main">
            <a:r>
              <a:t/>
            </a:r>
          </a:p>
          <a:p xmlns:a="http://schemas.openxmlformats.org/drawingml/2006/main">
            <a:r>
              <a:t>Acceptance evidence now includes an eight-hour loaded run with one real NDI source and one synthetic v210 source, followed by a clean five-minute loaded run with two independent real NDI sources. Both sustained NDI outputs decoded with zero drops during the two-real-source gate.</a:t>
            </a:r>
          </a:p>
          <a:p xmlns:a="http://schemas.openxmlformats.org/drawingml/2006/main">
            <a:r>
              <a:t/>
            </a:r>
          </a:p>
          <a:p xmlns:a="http://schemas.openxmlformats.org/drawingml/2006/main">
            <a:r>
              <a:t>Source:</a:t>
            </a:r>
          </a:p>
          <a:p xmlns:a="http://schemas.openxmlformats.org/drawingml/2006/main">
            <a:r>
              <a:t>- https://github.com/guycochran/mxl-switcher-core/blob/main/docs/ACCEPTANCE_2026-10-12.md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boundary is now implemented in the public prototype. The Core performs deterministic frame-boundary TAKEs between configured native v210 sources, preserves stable Program and Preview flow identities, exposes HTTP control and SSE tally/state, and attributes media faults to the upstream source. Transitions, audio-follow-video, graphics, replay, multiview, and encoding remain outside the current Core.</a:t>
            </a:r>
          </a:p>
          <a:p xmlns:a="http://schemas.openxmlformats.org/drawingml/2006/main">
            <a:r>
              <a:t/>
            </a:r>
          </a:p>
          <a:p xmlns:a="http://schemas.openxmlformats.org/drawingml/2006/main">
            <a:r>
              <a:t>Sources:</a:t>
            </a:r>
          </a:p>
          <a:p xmlns:a="http://schemas.openxmlformats.org/drawingml/2006/main">
            <a:r>
              <a:t>- https://github.com/guycochran/mxl-switcher-core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terminology is important. A skin is a control surface only. Anything that processes or creates media is a media function. That keeps custom community interfaces easy to build while protecting the reliability of the media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suggestion to use NV12 as the canonical internal format was wrong for this product. The opportunity is to remove redundant conversions and transports around v210, not replace v210. NDI, SRT, SDI, and WebRTC belong at the edge, where an adapter converts them into native MXL flows. MXL-Lab demonstrates NDI ingest converted to v210 before mxlsink. A 1080p60 v210 flow is roughly 2.65 Gbit/s of payload, which makes same-host shared-memory placement important.</a:t>
            </a:r>
          </a:p>
          <a:p xmlns:a="http://schemas.openxmlformats.org/drawingml/2006/main">
            <a:r>
              <a:t/>
            </a:r>
          </a:p>
          <a:p xmlns:a="http://schemas.openxmlformats.org/drawingml/2006/main">
            <a:r>
              <a:t>Sources:</a:t>
            </a:r>
          </a:p>
          <a:p xmlns:a="http://schemas.openxmlformats.org/drawingml/2006/main">
            <a:r>
              <a:t>- https://github.com/dmf-mxl/mxl</a:t>
            </a:r>
          </a:p>
          <a:p xmlns:a="http://schemas.openxmlformats.org/drawingml/2006/main">
            <a:r>
              <a:t>- https://github.com/dmf-mxl/mxl-requirements/blob/main/Initial-MXL-Requirements.md</a:t>
            </a:r>
          </a:p>
          <a:p xmlns:a="http://schemas.openxmlformats.org/drawingml/2006/main">
            <a:r>
              <a:t>- https://github.com/mykeman/MXL-Lab/blob/main/scripts/run-ingest.sh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Mathieu Rochon is a Senior Technical Advisor at CBC/Radio-Canada and a visible MXL/DMF contributor. His repository is a fork of JohannesItten/obs-mxl-plugin. The bridge proves OBS can participate as an MXL media function.</a:t>
            </a:r>
          </a:p>
          <a:p xmlns:a="http://schemas.openxmlformats.org/drawingml/2006/main">
            <a:r>
              <a:t/>
            </a:r>
          </a:p>
          <a:p xmlns:a="http://schemas.openxmlformats.org/drawingml/2006/main">
            <a:r>
              <a:t>Sources:</a:t>
            </a:r>
          </a:p>
          <a:p xmlns:a="http://schemas.openxmlformats.org/drawingml/2006/main">
            <a:r>
              <a:t>- https://github.com/rochonma/obs-mxl-plugin-latest</a:t>
            </a:r>
          </a:p>
          <a:p xmlns:a="http://schemas.openxmlformats.org/drawingml/2006/main">
            <a:r>
              <a:t>- https://github.com/JohannesItten/obs-mxl-plugin</a:t>
            </a:r>
          </a:p>
          <a:p xmlns:a="http://schemas.openxmlformats.org/drawingml/2006/main">
            <a:r>
              <a:t>- https://tech.ebu.ch/news/2025/06/ebu-launches-open-source-mxl-sdk-for-software-based-media-exchange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results now span both facility and meeting-media workflows:</a:t>
            </a:r>
          </a:p>
          <a:p xmlns:a="http://schemas.openxmlformats.org/drawingml/2006/main">
            <a:r>
              <a:t>- Eight-hour loaded Core acceptance passed with stable Program and Preview and no fatal media or timing faults.</a:t>
            </a:r>
          </a:p>
          <a:p xmlns:a="http://schemas.openxmlformats.org/drawingml/2006/main">
            <a:r>
              <a:t>- Two real NDI sources passed loaded switching and return-output tests.</a:t>
            </a:r>
          </a:p>
          <a:p xmlns:a="http://schemas.openxmlformats.org/drawingml/2006/main">
            <a:r>
              <a:t>- Four 1080p30 ZoomISO inputs passed a 30-minute local CPU-only confirmation.</a:t>
            </a:r>
          </a:p>
          <a:p xmlns:a="http://schemas.openxmlformats.org/drawingml/2006/main">
            <a:r>
              <a:t>- Eight 1080p29.97 ZoomISO video flows passed clean direct and Core gates on one CPU-only Azure VM.</a:t>
            </a:r>
          </a:p>
          <a:p xmlns:a="http://schemas.openxmlformats.org/drawingml/2006/main">
            <a:r>
              <a:t/>
            </a:r>
          </a:p>
          <a:p xmlns:a="http://schemas.openxmlformats.org/drawingml/2006/main">
            <a:r>
              <a:t>Important limits:</a:t>
            </a:r>
          </a:p>
          <a:p xmlns:a="http://schemas.openxmlformats.org/drawingml/2006/main">
            <a:r>
              <a:t>- ZoomISO created separate Float32 audio flows, but active audio content still requires a controlled proof.</a:t>
            </a:r>
          </a:p>
          <a:p xmlns:a="http://schemas.openxmlformats.org/drawingml/2006/main">
            <a:r>
              <a:t>- A longer Azure switching run exposed a sustained-unavailable alarm during source reactivation. The alarm recovered and did not coincide with host saturation, but the recovery path remains open.</a:t>
            </a:r>
          </a:p>
          <a:p xmlns:a="http://schemas.openxmlformats.org/drawingml/2006/main">
            <a:r>
              <a:t/>
            </a:r>
          </a:p>
          <a:p xmlns:a="http://schemas.openxmlformats.org/drawingml/2006/main">
            <a:r>
              <a:t>Sources:</a:t>
            </a:r>
          </a:p>
          <a:p xmlns:a="http://schemas.openxmlformats.org/drawingml/2006/main">
            <a:r>
              <a:t>- https://github.com/guycochran/mxl-switcher-core/blob/main/docs/ACCEPTANCE_2026-10-12.md</a:t>
            </a:r>
          </a:p>
          <a:p xmlns:a="http://schemas.openxmlformats.org/drawingml/2006/main">
            <a:r>
              <a:t>- https://github.com/guycochran/mxl-switcher-core/blob/main/docs/ZOOMISO_MXL_ACCEPTANCE_2026-10-12.md</a:t>
            </a:r>
          </a:p>
          <a:p xmlns:a="http://schemas.openxmlformats.org/drawingml/2006/main">
            <a:r>
              <a:t>- Internal Azure validation evidence, 2026-10-13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architectural rule is simple: transports own network behavior and format conversion; MXL owns native local exchange; the Core owns synchronized selection and stable Program/Preview identities; media functions own processing; Skins own the operator experience.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and ingest path now have enough evidence to move the visible production function to the front of the roadmap. The immediate community target is a native MXL compositor with repeatable 2-up through 8-up looks, followed by output adapters and cross-cloud sizing.</a:t>
            </a:r>
          </a:p>
          <a:p xmlns:a="http://schemas.openxmlformats.org/drawingml/2006/main">
            <a:r>
              <a:t/>
            </a:r>
          </a:p>
          <a:p xmlns:a="http://schemas.openxmlformats.org/drawingml/2006/main">
            <a:r>
              <a:t>Keep audio and recovery limits visible. A feature moves into the passed column only after changing-content, cadence, drop, latency, and resource checks pass under 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control and media sides have different contracts. The current Core exposes HTTP commands plus an SSE state/tally stream to skins and automation. It exchanges native v210 MXL flows with media functions. OBS is a candidate graphics and scene-composition function, not a required dependency.</a:t>
            </a:r>
          </a:p>
          <a:p xmlns:a="http://schemas.openxmlformats.org/drawingml/2006/main">
            <a:r>
              <a:t/>
            </a:r>
          </a:p>
          <a:p xmlns:a="http://schemas.openxmlformats.org/drawingml/2006/main">
            <a:r>
              <a:t>Sources:</a:t>
            </a:r>
          </a:p>
          <a:p xmlns:a="http://schemas.openxmlformats.org/drawingml/2006/main">
            <a:r>
              <a:t>- https://github.com/guycochran/mxl-switcher-core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verbal checklist before the live switch.</a:t>
            </a:r>
          </a:p>
          <a:p xmlns:a="http://schemas.openxmlformats.org/drawingml/2006/main">
            <a:r>
              <a:t/>
            </a:r>
          </a:p>
          <a:p xmlns:a="http://schemas.openxmlformats.org/drawingml/2006/main">
            <a:r>
              <a:t>Validated for the demonstration:</a:t>
            </a:r>
          </a:p>
          <a:p xmlns:a="http://schemas.openxmlformats.org/drawingml/2006/main">
            <a:r>
              <a:t>- Eight isolated 1920×1080p29.97 ZoomISO video inputs on a CPU-only Azure VM.</a:t>
            </a:r>
          </a:p>
          <a:p xmlns:a="http://schemas.openxmlformats.org/drawingml/2006/main">
            <a:r>
              <a:t>- Stable Program and Preview identities with frame-boundary direct cuts.</a:t>
            </a:r>
          </a:p>
          <a:p xmlns:a="http://schemas.openxmlformats.org/drawingml/2006/main">
            <a:r>
              <a:t>- Two persistent compositor banks with 2-up through 8-up Looks.</a:t>
            </a:r>
          </a:p>
          <a:p xmlns:a="http://schemas.openxmlformats.org/drawingml/2006/main">
            <a:r>
              <a:t>- Warm Look preparation in roughly 0.9–1.8 seconds while the on-air bank remains unchanged.</a:t>
            </a:r>
          </a:p>
          <a:p xmlns:a="http://schemas.openxmlformats.org/drawingml/2006/main">
            <a:r>
              <a:t>- Immediate CUT between prepared ME banks.</a:t>
            </a:r>
          </a:p>
          <a:p xmlns:a="http://schemas.openxmlformats.org/drawingml/2006/main">
            <a:r>
              <a:t>- Browser multiview and Companion/Stream Deck control with tally.</a:t>
            </a:r>
          </a:p>
          <a:p xmlns:a="http://schemas.openxmlformats.org/drawingml/2006/main">
            <a:r>
              <a:t>- Native 48 kHz Float32 source audio, meters, AFV/manual mixing, and a separate clock-correction candidate.</a:t>
            </a:r>
          </a:p>
          <a:p xmlns:a="http://schemas.openxmlformats.org/drawingml/2006/main">
            <a:r>
              <a:t/>
            </a:r>
          </a:p>
          <a:p xmlns:a="http://schemas.openxmlformats.org/drawingml/2006/main">
            <a:r>
              <a:t>Do not claim that the audience-meeting return or end-to-end A/V sync is finished. The candidate is deliberately not mapped into the live show.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finding: no purpose-built public NDI-to-MXL bridge was found in GitHub repository search or exact public code searches for the NDI SDK symbols together with MXL. The closest composable path is Teltek's Linux GStreamer NDI source/sink plus the gst-mxl-rs elements released with MXL 1.1.</a:t>
            </a:r>
          </a:p>
          <a:p xmlns:a="http://schemas.openxmlformats.org/drawingml/2006/main">
            <a:r>
              <a:t/>
            </a:r>
          </a:p>
          <a:p xmlns:a="http://schemas.openxmlformats.org/drawingml/2006/main">
            <a:r>
              <a:t>Architectural recommendation: keep NDI outside MXL Switcher Core. A separate edge gateway owns NDI discovery, receive/decode, source reconnect, color conversion, audio mapping, and optional NDI return output. It publishes native v210 video and Float32 audio into MXL. The Core continues to select and route existing MXL flows without linking to the proprietary NDI SDK.</a:t>
            </a:r>
          </a:p>
          <a:p xmlns:a="http://schemas.openxmlformats.org/drawingml/2006/main">
            <a:r>
              <a:t/>
            </a:r>
          </a:p>
          <a:p xmlns:a="http://schemas.openxmlformats.org/drawingml/2006/main">
            <a:r>
              <a:t>The benefit appears when several local functions need the same source. The node receives and decodes NDI once, then Core, graphics, multiview, record, and encode functions share the native timed flow through MXL. NDI remains useful for the facility network; MXL removes repeated network and codec boundaries among neighboring applications.</a:t>
            </a:r>
          </a:p>
          <a:p xmlns:a="http://schemas.openxmlformats.org/drawingml/2006/main">
            <a:r>
              <a:t/>
            </a:r>
          </a:p>
          <a:p xmlns:a="http://schemas.openxmlformats.org/drawingml/2006/main">
            <a:r>
              <a:t>Sources:</a:t>
            </a:r>
          </a:p>
          <a:p xmlns:a="http://schemas.openxmlformats.org/drawingml/2006/main">
            <a:r>
              <a:t>- https://github.com/teltek/gst-plugin-ndi</a:t>
            </a:r>
          </a:p>
          <a:p xmlns:a="http://schemas.openxmlformats.org/drawingml/2006/main">
            <a:r>
              <a:t>- https://github.com/dmf-mxl/mxl/releases/tag/v1.1.0</a:t>
            </a:r>
          </a:p>
          <a:p xmlns:a="http://schemas.openxmlformats.org/drawingml/2006/main">
            <a:r>
              <a:t>- https://ndi.video/for-developers/ndi-sdk/</a:t>
            </a:r>
          </a:p>
          <a:p xmlns:a="http://schemas.openxmlformats.org/drawingml/2006/main">
            <a:r>
              <a:t>- https://docs.ndi.video/all/developing-with-ndi/sdk/ndi-recv</a:t>
            </a:r>
          </a:p>
          <a:p xmlns:a="http://schemas.openxmlformats.org/drawingml/2006/main">
            <a:r>
              <a:t>- GitHub public repository and code searches performed 2026-10-10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alpha should optimize for repeatability and extension, not an exhaustive feature list. The first operator Skin proves the API and provides a useful demo, but it remains replaceable. Audio-follow-video belongs in the near-term media contract because a switcher without audio cannot support a complete show.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result, 2026-10-13:</a:t>
            </a:r>
          </a:p>
          <a:p xmlns:a="http://schemas.openxmlformats.org/drawingml/2006/main">
            <a:r>
              <a:t>- ZoomISO Cloud 0.1.0.77 published eight 1920×1080 participant video flows at 30000/1001 plus eight separate Float32 stereo audio flows.</a:t>
            </a:r>
          </a:p>
          <a:p xmlns:a="http://schemas.openxmlformats.org/drawingml/2006/main">
            <a:r>
              <a:t>- A direct 10-minute gate passed with all eight pictures changing and all eight audio flows advancing at approximately 48 kHz.</a:t>
            </a:r>
          </a:p>
          <a:p xmlns:a="http://schemas.openxmlformats.org/drawingml/2006/main">
            <a:r>
              <a:t>- The 10-minute Core confirmation produced stable Program and Preview at 29.97 fps with zero output drops and no fatal timing-counter movement.</a:t>
            </a:r>
          </a:p>
          <a:p xmlns:a="http://schemas.openxmlformats.org/drawingml/2006/main">
            <a:r>
              <a:t>- ZoomISO averaged approximately 438% CPU on a 32-vCPU Azure D32s v5 host. Core averaged approximately 15% of one CPU. No GPU was present or required.</a:t>
            </a:r>
          </a:p>
          <a:p xmlns:a="http://schemas.openxmlformats.org/drawingml/2006/main">
            <a:r>
              <a:t/>
            </a:r>
          </a:p>
          <a:p xmlns:a="http://schemas.openxmlformats.org/drawingml/2006/main">
            <a:r>
              <a:t>Important limits:</a:t>
            </a:r>
          </a:p>
          <a:p xmlns:a="http://schemas.openxmlformats.org/drawingml/2006/main">
            <a:r>
              <a:t>- The native log showed that ZoomISO writes silence whenever converted Zoom audio misses its MXL deadline. A controlled active-audio test is still required.</a:t>
            </a:r>
          </a:p>
          <a:p xmlns:a="http://schemas.openxmlformats.org/drawingml/2006/main">
            <a:r>
              <a:t>- A later 30-minute switching gate stopped when the candidate Core raised sustained-unavailable alarms during source reactivation. The alarms recovered, and the incident did not coincide with host saturation. This remains a Core recovery issue, not an eight-output capacity result.</a:t>
            </a:r>
          </a:p>
          <a:p xmlns:a="http://schemas.openxmlformats.org/drawingml/2006/main">
            <a:r>
              <a:t/>
            </a:r>
          </a:p>
          <a:p xmlns:a="http://schemas.openxmlformats.org/drawingml/2006/main">
            <a:r>
              <a:t>Sources:</a:t>
            </a:r>
          </a:p>
          <a:p xmlns:a="http://schemas.openxmlformats.org/drawingml/2006/main">
            <a:r>
              <a:t>- Microsoft Azure Linux VM benchmark table for Dsv5: https://learn.microsoft.com/en-us/azure/virtual-machines/linux/compute-benchmark-scores</a:t>
            </a:r>
          </a:p>
          <a:p xmlns:a="http://schemas.openxmlformats.org/drawingml/2006/main">
            <a:r>
              <a:t>- Internal Azure validation evidence, 2026-10-13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attention slide. Lead with what the audience can see tonight, then explain why it matters.</a:t>
            </a:r>
          </a:p>
          <a:p xmlns:a="http://schemas.openxmlformats.org/drawingml/2006/main">
            <a:r>
              <a:t/>
            </a:r>
          </a:p>
          <a:p xmlns:a="http://schemas.openxmlformats.org/drawingml/2006/main">
            <a:r>
              <a:t>1. MXL removes repeated codec and transport boundaries between neighboring applications on one node.</a:t>
            </a:r>
          </a:p>
          <a:p xmlns:a="http://schemas.openxmlformats.org/drawingml/2006/main">
            <a:r>
              <a:t>2. Stable native flows let small applications do one job well and be replaced independently.</a:t>
            </a:r>
          </a:p>
          <a:p xmlns:a="http://schemas.openxmlformats.org/drawingml/2006/main">
            <a:r>
              <a:t>3. The same media can serve switching, composition, monitoring, graphics, recording, and egress.</a:t>
            </a:r>
          </a:p>
          <a:p xmlns:a="http://schemas.openxmlformats.org/drawingml/2006/main">
            <a:r>
              <a:t>4. The operator is not locked to one UI: browser, Companion, and automation share the control contract.</a:t>
            </a:r>
          </a:p>
          <a:p xmlns:a="http://schemas.openxmlformats.org/drawingml/2006/main">
            <a:r>
              <a:t>5. The proof runs on CPUs only. The local older server and the modern Azure VM show a path from inexpensive lab hardware to cloud production.</a:t>
            </a:r>
          </a:p>
          <a:p xmlns:a="http://schemas.openxmlformats.org/drawingml/2006/main">
            <a:r>
              <a:t/>
            </a:r>
          </a:p>
          <a:p xmlns:a="http://schemas.openxmlformats.org/drawingml/2006/main">
            <a:r>
              <a:t>The honest limit: this is strong architectural and capability evidence, not yet a matched MXL-versus-NDI cost benchmark.</a:t>
            </a:r>
          </a:p>
          <a:p xmlns:a="http://schemas.openxmlformats.org/drawingml/2006/main">
            <a:r>
              <a:t/>
            </a:r>
          </a:p>
          <a:p xmlns:a="http://schemas.openxmlformats.org/drawingml/2006/main">
            <a:r>
              <a:t>Source:</a:t>
            </a:r>
          </a:p>
          <a:p xmlns:a="http://schemas.openxmlformats.org/drawingml/2006/main">
            <a:r>
              <a:t>- https://github.com/dmf-mxl/mxl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evidence:</a:t>
            </a:r>
          </a:p>
          <a:p xmlns:a="http://schemas.openxmlformats.org/drawingml/2006/main">
            <a:r>
              <a:t>- The Supermicro host uses two Intel Xeon E5-2630L v3 processors: 16 physical cores and 32 threads in total, with a 1.80 GHz base frequency.</a:t>
            </a:r>
          </a:p>
          <a:p xmlns:a="http://schemas.openxmlformats.org/drawingml/2006/main">
            <a:r>
              <a:t>- A 30-minute four-input ZoomISO MXL 1920×1080p30 confirmation passed. The Core, Program, Preview, and input probes stayed healthy with zero output drops.</a:t>
            </a:r>
          </a:p>
          <a:p xmlns:a="http://schemas.openxmlformats.org/drawingml/2006/main">
            <a:r>
              <a:t>- ZoomISO used 268.58–839.35% CPU during the confirmation. The workload did not depend on the installed GPU.</a:t>
            </a:r>
          </a:p>
          <a:p xmlns:a="http://schemas.openxmlformats.org/drawingml/2006/main">
            <a:r>
              <a:t/>
            </a:r>
          </a:p>
          <a:p xmlns:a="http://schemas.openxmlformats.org/drawingml/2006/main">
            <a:r>
              <a:t>Azure evidence:</a:t>
            </a:r>
          </a:p>
          <a:p xmlns:a="http://schemas.openxmlformats.org/drawingml/2006/main">
            <a:r>
              <a:t>- One ZoomISO instance published eight 1920×1080p29.97 participant outputs on a Standard_D32s_v5 VM.</a:t>
            </a:r>
          </a:p>
          <a:p xmlns:a="http://schemas.openxmlformats.org/drawingml/2006/main">
            <a:r>
              <a:t>- The direct 10-minute gate and the 10-minute Core gate passed. ZoomISO averaged approximately 438% CPU and the Core approximately 15% of one CPU.</a:t>
            </a:r>
          </a:p>
          <a:p xmlns:a="http://schemas.openxmlformats.org/drawingml/2006/main">
            <a:r>
              <a:t>- This is strong capacity evidence, but the VM was intentionally oversized. It does not yet establish the minimum cloud size or cost advantage.</a:t>
            </a:r>
          </a:p>
          <a:p xmlns:a="http://schemas.openxmlformats.org/drawingml/2006/main">
            <a:r>
              <a:t/>
            </a:r>
          </a:p>
          <a:p xmlns:a="http://schemas.openxmlformats.org/drawingml/2006/main">
            <a:r>
              <a:t>The 30-minute Core switching attempt exposed a source-reactivation alarm after the clean 10-minute result. Keep that software-recovery issue separate from the host-capacity conclusion.</a:t>
            </a:r>
          </a:p>
          <a:p xmlns:a="http://schemas.openxmlformats.org/drawingml/2006/main">
            <a:r>
              <a:t/>
            </a:r>
          </a:p>
          <a:p xmlns:a="http://schemas.openxmlformats.org/drawingml/2006/main">
            <a:r>
              <a:t>Sources:</a:t>
            </a:r>
          </a:p>
          <a:p xmlns:a="http://schemas.openxmlformats.org/drawingml/2006/main">
            <a:r>
              <a:t>- https://github.com/guycochran/mxl-switcher-core/blob/main/docs/ZOOMISO_MXL_ACCEPTANCE_2026-10-12.md</a:t>
            </a:r>
          </a:p>
          <a:p xmlns:a="http://schemas.openxmlformats.org/drawingml/2006/main">
            <a:r>
              <a:t>- https://learn.microsoft.com/en-us/azure/virtual-machines/linux/compute-benchmark-scores</a:t>
            </a:r>
          </a:p>
          <a:p xmlns:a="http://schemas.openxmlformats.org/drawingml/2006/main">
            <a:r>
              <a:t>- Internal Azure validation evidence, 2026-10-13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diagnostics confirm a dual-socket E5-2600 v3 platform, but they do not contain the exact Supermicro motherboard model. Many dual-socket Supermicro X10 platforms support E5-2600 v4 processors after an appropriate BIOS update, but that must be verified against the exact board revision and BIOS release before purchasing CPUs.</a:t>
            </a:r>
          </a:p>
          <a:p xmlns:a="http://schemas.openxmlformats.org/drawingml/2006/main">
            <a:r>
              <a:t/>
            </a:r>
          </a:p>
          <a:p xmlns:a="http://schemas.openxmlformats.org/drawingml/2006/main">
            <a:r>
              <a:t>Two E5-2698 v4 processors would provide 40 physical cores and 80 threads. Compared with the current pair, the upgrade also raises base and turbo frequency, but it increases CPU TDP from 55 W to 135 W per socket. Cooling, power delivery, and fan profiles therefore matter.</a:t>
            </a:r>
          </a:p>
          <a:p xmlns:a="http://schemas.openxmlformats.org/drawingml/2006/main">
            <a:r>
              <a:t/>
            </a:r>
          </a:p>
          <a:p xmlns:a="http://schemas.openxmlformats.org/drawingml/2006/main">
            <a:r>
              <a:t>This upgrade should be treated as an inexpensive capacity experiment, not proof that old 40-core hardware equals a modern cloud CPU. The benchmark must record both total throughput and single-thread saturation.</a:t>
            </a:r>
          </a:p>
          <a:p xmlns:a="http://schemas.openxmlformats.org/drawingml/2006/main">
            <a:r>
              <a:t/>
            </a:r>
          </a:p>
          <a:p xmlns:a="http://schemas.openxmlformats.org/drawingml/2006/main">
            <a:r>
              <a:t>Sources:</a:t>
            </a:r>
          </a:p>
          <a:p xmlns:a="http://schemas.openxmlformats.org/drawingml/2006/main">
            <a:r>
              <a:t>- Intel E5-2630L v3 specifications: https://www.intel.com/content/www/us/en/products/sku/83357/intel-xeon-processor-e52630l-v3-20m-cache-1-80-ghz/specifications.html</a:t>
            </a:r>
          </a:p>
          <a:p xmlns:a="http://schemas.openxmlformats.org/drawingml/2006/main">
            <a:r>
              <a:t>- Intel E5-2698 v4 specifications: https://www.intel.com/content/www/us/en/products/sku/91753/intel-xeon-processor-e52698-v4-50m-cache-2-20-ghz/specifications.html</a:t>
            </a:r>
          </a:p>
          <a:p xmlns:a="http://schemas.openxmlformats.org/drawingml/2006/main">
            <a:r>
              <a:t>- Local read-only Supermicro diagnostics, 2026-10-10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WebRTC confidence is visible in the live system. The remaining destinations are the adapter roadmap, not claims of completed integrations.</a:t>
            </a:r>
          </a:p>
          <a:p xmlns:a="http://schemas.openxmlformats.org/drawingml/2006/main">
            <a:r>
              <a:t/>
            </a:r>
          </a:p>
          <a:p xmlns:a="http://schemas.openxmlformats.org/drawingml/2006/main">
            <a:r>
              <a:t>The contract is one stable MXL Program Master with paired video and exact-48-kHz audio. Meeting return, NDI, SRT, SDI, recording, and RTMP are independent consumers. This preserves fault containment and lets each edge use the protocol and codec it actually needs.</a:t>
            </a:r>
          </a:p>
          <a:p xmlns:a="http://schemas.openxmlformats.org/drawingml/2006/main">
            <a:r>
              <a:t/>
            </a:r>
          </a:p>
          <a:p xmlns:a="http://schemas.openxmlformats.org/drawingml/2006/main">
            <a:r>
              <a:t>The isolated audio candidate has already demonstrated clock measurement, bounded correction, exact-48-kHz output pacing, zero output PTS discontinuities, and zero hard sample corrections during a clean live trace. It remains outside tonight's default meeting-return mapping until the end-to-end A/V gate passes.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read-only preflight immediately before the session. Do not attach deep MXL probes during the show; a non-dropping diagnostic reader can backpressure a small audio ring.</a:t>
            </a:r>
          </a:p>
          <a:p xmlns:a="http://schemas.openxmlformats.org/drawingml/2006/main">
            <a:r>
              <a:t/>
            </a:r>
          </a:p>
          <a:p xmlns:a="http://schemas.openxmlformats.org/drawingml/2006/main">
            <a:r>
              <a:t>Suggested pacing:</a:t>
            </a:r>
          </a:p>
          <a:p xmlns:a="http://schemas.openxmlformats.org/drawingml/2006/main">
            <a:r>
              <a:t>- 45 seconds: frame the native-media point.</a:t>
            </a:r>
          </a:p>
          <a:p xmlns:a="http://schemas.openxmlformats.org/drawingml/2006/main">
            <a:r>
              <a:t>- 60 seconds: prove all eight sources.</a:t>
            </a:r>
          </a:p>
          <a:p xmlns:a="http://schemas.openxmlformats.org/drawingml/2006/main">
            <a:r>
              <a:t>- 90 seconds: direct cuts and tally.</a:t>
            </a:r>
          </a:p>
          <a:p xmlns:a="http://schemas.openxmlformats.org/drawingml/2006/main">
            <a:r>
              <a:t>- Three minutes: 2-up, 4-up, and 8-up through the inactive ME bank.</a:t>
            </a:r>
          </a:p>
          <a:p xmlns:a="http://schemas.openxmlformats.org/drawingml/2006/main">
            <a:r>
              <a:t>- 60 seconds: browser versus Companion control.</a:t>
            </a:r>
          </a:p>
          <a:p xmlns:a="http://schemas.openxmlformats.org/drawingml/2006/main">
            <a:r>
              <a:t>- 60 seconds: Program Master output architecture.</a:t>
            </a:r>
          </a:p>
          <a:p xmlns:a="http://schemas.openxmlformats.org/drawingml/2006/main">
            <a:r>
              <a:t>- 30 seconds: close on one media plane, many useful functions.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production-oriented looks, not only engineering multiview grids. Each participant tile has a dedicated graphics strip for a name, role, score, topic, or sponsor treatment.</a:t>
            </a:r>
          </a:p>
          <a:p xmlns:a="http://schemas.openxmlformats.org/drawingml/2006/main">
            <a:r>
              <a:t/>
            </a:r>
          </a:p>
          <a:p xmlns:a="http://schemas.openxmlformats.org/drawingml/2006/main">
            <a:r>
              <a:t>The 7-up layout uses four tiles on the first row and three centered on the second. The 8-up layout uses a 4×2 grid. Both should be tested with changing content in every tile, live graphics updates, source swaps, Program/Preview routing, and a clean 1080p29.97 or 1080p30 output.</a:t>
            </a:r>
          </a:p>
          <a:p xmlns:a="http://schemas.openxmlformats.org/drawingml/2006/main">
            <a:r>
              <a:t/>
            </a:r>
          </a:p>
          <a:p xmlns:a="http://schemas.openxmlformats.org/drawingml/2006/main">
            <a:r>
              <a:t>After the native MXL output passes, repeat the chosen look with NDI, SRT, recording, or streaming egress.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concrete participation. The Core, Skin, Companion module, multiview, and compositor are tangible integration surfaces. The next high-value contribution is a destination adapter or a matched capacity benchmark.</a:t>
            </a:r>
          </a:p>
          <a:p xmlns:a="http://schemas.openxmlformats.org/drawingml/2006/main">
            <a:r>
              <a:t/>
            </a:r>
          </a:p>
          <a:p xmlns:a="http://schemas.openxmlformats.org/drawingml/2006/main">
            <a:r>
              <a:t>Public code:</a:t>
            </a:r>
          </a:p>
          <a:p xmlns:a="http://schemas.openxmlformats.org/drawingml/2006/main">
            <a:r>
              <a:t>- https://github.com/guycochran/mxl-switcher-core</a:t>
            </a:r>
          </a:p>
          <a:p xmlns:a="http://schemas.openxmlformats.org/drawingml/2006/main">
            <a:r>
              <a:t>- https://github.com/guycochran/MXL-Lab/tree/codex/ndi-core-ingress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b2817ce83448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bdfd0ce0df941da" /><Relationship Type="http://schemas.openxmlformats.org/officeDocument/2006/relationships/slideLayout" Target="/ppt/slideLayouts/slideLayout1.xml" Id="R333d5653ac324e5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3d5653ac324e5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3e85bad42cd4b4d" /><Relationship Type="http://schemas.openxmlformats.org/officeDocument/2006/relationships/image" Target="/ppt/media/image.png" Id="R4c8f1573c920478b" /><Relationship Type="http://schemas.openxmlformats.org/officeDocument/2006/relationships/notesSlide" Target="/ppt/notesSlides/notesSlide1.xml" Id="R314e49d8faa64a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382321113d54bf2" /><Relationship Type="http://schemas.openxmlformats.org/officeDocument/2006/relationships/notesSlide" Target="/ppt/notesSlides/notesSlide2.xml" Id="Rd8a995b9037a4a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33ce2ab1964478a" /><Relationship Type="http://schemas.openxmlformats.org/officeDocument/2006/relationships/notesSlide" Target="/ppt/notesSlides/notesSlide3.xml" Id="R0dbcce335bd543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44fca8207374eba" /><Relationship Type="http://schemas.openxmlformats.org/officeDocument/2006/relationships/notesSlide" Target="/ppt/notesSlides/notesSlide4.xml" Id="R2c27673ed65946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3b9b1decb3b468a" /><Relationship Type="http://schemas.openxmlformats.org/officeDocument/2006/relationships/notesSlide" Target="/ppt/notesSlides/notesSlide5.xml" Id="Rd9640b98ee0d44b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6ea65210816428f" /><Relationship Type="http://schemas.openxmlformats.org/officeDocument/2006/relationships/image" Target="/ppt/media/image2.png" Id="Rc3994e13fbc1444f" /><Relationship Type="http://schemas.openxmlformats.org/officeDocument/2006/relationships/image" Target="/ppt/media/image3.png" Id="R4ce0bc07b5a24029" /><Relationship Type="http://schemas.openxmlformats.org/officeDocument/2006/relationships/notesSlide" Target="/ppt/notesSlides/notesSlide6.xml" Id="R3f5d1dbdc55a40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ec112fc0d1345cc" /><Relationship Type="http://schemas.openxmlformats.org/officeDocument/2006/relationships/notesSlide" Target="/ppt/notesSlides/notesSlide7.xml" Id="R96f490112cb346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fc9905322b34b60" /><Relationship Type="http://schemas.openxmlformats.org/officeDocument/2006/relationships/notesSlide" Target="/ppt/notesSlides/notesSlide8.xml" Id="R8f4ef2bd88554a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45d9f2a64aa40a1" /><Relationship Type="http://schemas.openxmlformats.org/officeDocument/2006/relationships/notesSlide" Target="/ppt/notesSlides/notesSlide9.xml" Id="Rbb05d83c9e29434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66bf111a9664cca" /><Relationship Type="http://schemas.openxmlformats.org/officeDocument/2006/relationships/notesSlide" Target="/ppt/notesSlides/notesSlide10.xml" Id="Rb87c79f2c204490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68d28a50c8444e6" /><Relationship Type="http://schemas.openxmlformats.org/officeDocument/2006/relationships/notesSlide" Target="/ppt/notesSlides/notesSlide11.xml" Id="R74b5f3f0cccb406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3fabb74298b4e56" /><Relationship Type="http://schemas.openxmlformats.org/officeDocument/2006/relationships/notesSlide" Target="/ppt/notesSlides/notesSlide12.xml" Id="R2640b9c6a0a949d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f2aabd238374931" /><Relationship Type="http://schemas.openxmlformats.org/officeDocument/2006/relationships/notesSlide" Target="/ppt/notesSlides/notesSlide13.xml" Id="R749848a3944e4b5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c16b5b6db7e4d18" /><Relationship Type="http://schemas.openxmlformats.org/officeDocument/2006/relationships/notesSlide" Target="/ppt/notesSlides/notesSlide14.xml" Id="R8932943d479644d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1e2663552d04faa" /><Relationship Type="http://schemas.openxmlformats.org/officeDocument/2006/relationships/notesSlide" Target="/ppt/notesSlides/notesSlide15.xml" Id="R2b356703bdb94c0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36fdb1166a84aff" /><Relationship Type="http://schemas.openxmlformats.org/officeDocument/2006/relationships/notesSlide" Target="/ppt/notesSlides/notesSlide16.xml" Id="R0044dfb5e61b4f1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da9d6c6726e4606" /><Relationship Type="http://schemas.openxmlformats.org/officeDocument/2006/relationships/notesSlide" Target="/ppt/notesSlides/notesSlide17.xml" Id="R07e9e3df12e14c2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132cf9e8c47414d" /><Relationship Type="http://schemas.openxmlformats.org/officeDocument/2006/relationships/notesSlide" Target="/ppt/notesSlides/notesSlide18.xml" Id="R3417b8f445ad470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58ff2d5b34d422b" /><Relationship Type="http://schemas.openxmlformats.org/officeDocument/2006/relationships/notesSlide" Target="/ppt/notesSlides/notesSlide19.xml" Id="R8833441a78444c8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19e5e99d86f413f" /><Relationship Type="http://schemas.openxmlformats.org/officeDocument/2006/relationships/notesSlide" Target="/ppt/notesSlides/notesSlide20.xml" Id="Re871db6a4bdb419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37b8aa2dab14f07" /><Relationship Type="http://schemas.openxmlformats.org/officeDocument/2006/relationships/notesSlide" Target="/ppt/notesSlides/notesSlide21.xml" Id="R7d0f2640cdfd439b" /></Relationships>
</file>

<file path=ppt/slides/slide1.xml><?xml version="1.0" encoding="utf-8"?>
<p:sld xmlns:p="http://schemas.openxmlformats.org/presentationml/2006/main">
  <p:cSld>
    <p:bg>
      <p:bgPr>
        <a:solidFill xmlns:a="http://schemas.openxmlformats.org/drawingml/2006/main">
          <a:srgbClr val="07101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489075F-CCEE-4E92-A157-8C128E7EA2A8}"/>
              </a:ext>
            </a:extLst>
          </p:cNvPr>
          <p:cNvPicPr>
            <a:picLocks xmlns:a="http://schemas.openxmlformats.org/drawingml/2006/main" noChangeAspect="1"/>
          </p:cNvPicPr>
          <p:nvPr/>
        </p:nvPicPr>
        <p:blipFill>
          <a:blip xmlns:r="http://schemas.openxmlformats.org/officeDocument/2006/relationships" xmlns:a="http://schemas.openxmlformats.org/drawingml/2006/main" r:embed="R4c8f1573c920478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E911870-41C9-44C2-82EC-87AA9D8DF4B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9D14C04-7331-4B55-AA20-0D4284238755}"/>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445F61F-96CB-40DB-8C6A-55722CC5D329}"/>
              </a:ext>
            </a:extLst>
          </p:cNvPr>
          <p:cNvSpPr>
            <a:spLocks xmlns:a="http://schemas.openxmlformats.org/drawingml/2006/main" noGrp="1"/>
          </p:cNvSpPr>
          <p:nvPr/>
        </p:nvSpPr>
        <p:spPr>
          <a:xfrm xmlns:a="http://schemas.openxmlformats.org/drawingml/2006/main">
            <a:off x="666750" y="68580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125" b="1">
                <a:solidFill>
                  <a:srgbClr val="36D4C5"/>
                </a:solidFill>
                <a:latin typeface="Avenir Next"/>
                <a:ea typeface="Avenir Next"/>
                <a:cs typeface="Avenir Next"/>
              </a:defRPr>
            </a:pPr>
            <a:r>
              <a:rPr sz="1125" b="1">
                <a:solidFill>
                  <a:srgbClr val="36D4C5"/>
                </a:solidFill>
                <a:latin typeface="Avenir Next"/>
                <a:ea typeface="Avenir Next"/>
                <a:cs typeface="Avenir Next"/>
              </a:rPr>
              <a:t>OFFICE HOURS DISCUSSION</a:t>
            </a:r>
          </a:p>
        </p:txBody>
      </p:sp>
      <p:sp>
        <p:nvSpPr>
          <p:cNvPr id="5" name="">
            <a:extLst xmlns:a="http://schemas.openxmlformats.org/drawingml/2006/main">
              <a:ext uri="{FF2B5EF4-FFF2-40B4-BE49-F238E27FC236}">
                <a16:creationId xmlns:a16="http://schemas.microsoft.com/office/drawing/2014/main" id="{369962ED-FFA5-424A-8B92-70ECA11D3DFB}"/>
              </a:ext>
            </a:extLst>
          </p:cNvPr>
          <p:cNvSpPr>
            <a:spLocks xmlns:a="http://schemas.openxmlformats.org/drawingml/2006/main" noGrp="1"/>
          </p:cNvSpPr>
          <p:nvPr/>
        </p:nvSpPr>
        <p:spPr>
          <a:xfrm xmlns:a="http://schemas.openxmlformats.org/drawingml/2006/main">
            <a:off x="647700" y="1333500"/>
            <a:ext cx="5143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4500" b="1">
                <a:solidFill>
                  <a:srgbClr val="F4F8FB"/>
                </a:solidFill>
                <a:latin typeface="Avenir Next"/>
                <a:ea typeface="Avenir Next"/>
                <a:cs typeface="Avenir Next"/>
              </a:defRPr>
            </a:pPr>
            <a:r>
              <a:rPr sz="4500" b="1">
                <a:solidFill>
                  <a:srgbClr val="F4F8FB"/>
                </a:solidFill>
                <a:latin typeface="Avenir Next"/>
                <a:ea typeface="Avenir Next"/>
                <a:cs typeface="Avenir Next"/>
              </a:rPr>
              <a:t>MXL Switcher</a:t>
            </a:r>
          </a:p>
        </p:txBody>
      </p:sp>
      <p:sp>
        <p:nvSpPr>
          <p:cNvPr id="6" name="">
            <a:extLst xmlns:a="http://schemas.openxmlformats.org/drawingml/2006/main">
              <a:ext uri="{FF2B5EF4-FFF2-40B4-BE49-F238E27FC236}">
                <a16:creationId xmlns:a16="http://schemas.microsoft.com/office/drawing/2014/main" id="{4049C162-6664-4D83-97FA-828B8AB348A9}"/>
              </a:ext>
            </a:extLst>
          </p:cNvPr>
          <p:cNvSpPr>
            <a:spLocks xmlns:a="http://schemas.openxmlformats.org/drawingml/2006/main" noGrp="1"/>
          </p:cNvSpPr>
          <p:nvPr/>
        </p:nvSpPr>
        <p:spPr>
          <a:xfrm xmlns:a="http://schemas.openxmlformats.org/drawingml/2006/main">
            <a:off x="666750" y="2133600"/>
            <a:ext cx="5143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2550" b="1">
                <a:solidFill>
                  <a:srgbClr val="48C7FF"/>
                </a:solidFill>
                <a:latin typeface="Avenir Next"/>
                <a:ea typeface="Avenir Next"/>
                <a:cs typeface="Avenir Next"/>
              </a:defRPr>
            </a:pPr>
            <a:r>
              <a:rPr sz="2550" b="1">
                <a:solidFill>
                  <a:srgbClr val="48C7FF"/>
                </a:solidFill>
                <a:latin typeface="Avenir Next"/>
                <a:ea typeface="Avenir Next"/>
                <a:cs typeface="Avenir Next"/>
              </a:rPr>
              <a:t>Open Core, live production proof</a:t>
            </a:r>
          </a:p>
        </p:txBody>
      </p:sp>
      <p:sp>
        <p:nvSpPr>
          <p:cNvPr id="7" name="">
            <a:extLst xmlns:a="http://schemas.openxmlformats.org/drawingml/2006/main">
              <a:ext uri="{FF2B5EF4-FFF2-40B4-BE49-F238E27FC236}">
                <a16:creationId xmlns:a16="http://schemas.microsoft.com/office/drawing/2014/main" id="{BDF605AB-DBB0-4CA2-8A4C-0F3976A6EA20}"/>
              </a:ext>
            </a:extLst>
          </p:cNvPr>
          <p:cNvSpPr>
            <a:spLocks xmlns:a="http://schemas.openxmlformats.org/drawingml/2006/main" noGrp="1"/>
          </p:cNvSpPr>
          <p:nvPr/>
        </p:nvSpPr>
        <p:spPr>
          <a:xfrm xmlns:a="http://schemas.openxmlformats.org/drawingml/2006/main">
            <a:off x="685800" y="3181350"/>
            <a:ext cx="4524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650" b="0">
                <a:solidFill>
                  <a:srgbClr val="A9BAC8"/>
                </a:solidFill>
                <a:latin typeface="Avenir Next"/>
                <a:ea typeface="Avenir Next"/>
                <a:cs typeface="Avenir Next"/>
              </a:defRPr>
            </a:pPr>
            <a:r>
              <a:rPr sz="1650" b="0">
                <a:solidFill>
                  <a:srgbClr val="A9BAC8"/>
                </a:solidFill>
                <a:latin typeface="Avenir Next"/>
                <a:ea typeface="Avenir Next"/>
                <a:cs typeface="Avenir Next"/>
              </a:rPr>
              <a:t>Eight live Zoom feeds, 2-up through 8-up Looks, and Companion control</a:t>
            </a:r>
          </a:p>
        </p:txBody>
      </p:sp>
      <p:sp>
        <p:nvSpPr>
          <p:cNvPr id="8" name="">
            <a:extLst xmlns:a="http://schemas.openxmlformats.org/drawingml/2006/main">
              <a:ext uri="{FF2B5EF4-FFF2-40B4-BE49-F238E27FC236}">
                <a16:creationId xmlns:a16="http://schemas.microsoft.com/office/drawing/2014/main" id="{FD09D569-FF7C-415F-ADB8-EDAECF4358B8}"/>
              </a:ext>
            </a:extLst>
          </p:cNvPr>
          <p:cNvSpPr>
            <a:spLocks xmlns:a="http://schemas.openxmlformats.org/drawingml/2006/main" noGrp="1"/>
          </p:cNvSpPr>
          <p:nvPr/>
        </p:nvSpPr>
        <p:spPr>
          <a:xfrm xmlns:a="http://schemas.openxmlformats.org/drawingml/2006/main">
            <a:off x="685800" y="59055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200" b="0">
                <a:solidFill>
                  <a:srgbClr val="718694"/>
                </a:solidFill>
                <a:latin typeface="Avenir Next"/>
                <a:ea typeface="Avenir Next"/>
                <a:cs typeface="Avenir Next"/>
              </a:defRPr>
            </a:pPr>
            <a:r>
              <a:rPr sz="1200" b="0">
                <a:solidFill>
                  <a:srgbClr val="718694"/>
                </a:solidFill>
                <a:latin typeface="Avenir Next"/>
                <a:ea typeface="Avenir Next"/>
                <a:cs typeface="Avenir Next"/>
              </a:rPr>
              <a:t>Community roadmap · October 2026</a:t>
            </a:r>
          </a:p>
        </p:txBody>
      </p:sp>
    </p:spTree>
    <p:extLst>
      <p:ext uri="{BB962C8B-B14F-4D97-AF65-F5344CB8AC3E}">
        <p14:creationId xmlns:p14="http://schemas.microsoft.com/office/powerpoint/2010/main" val="1748882575"/>
      </p:ext>
    </p:extLst>
  </p:cSld>
</p:sld>
</file>

<file path=ppt/slides/slide2.xml><?xml version="1.0" encoding="utf-8"?>
<p:sld xmlns:p="http://schemas.openxmlformats.org/presentationml/2006/main">
  <p:cSld>
    <p:bg>
      <p:bgPr>
        <a:solidFill xmlns:a="http://schemas.openxmlformats.org/drawingml/2006/main">
          <a:srgbClr val="07101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9946BAA-1CD7-4E90-89E8-C302421D9F9C}"/>
              </a:ext>
            </a:extLst>
          </p:cNvPr>
          <p:cNvSpPr>
            <a:spLocks xmlns:a="http://schemas.openxmlformats.org/drawingml/2006/main" noGrp="1"/>
          </p:cNvSpPr>
          <p:nvPr/>
        </p:nvSpPr>
        <p:spPr>
          <a:xfrm xmlns:a="http://schemas.openxmlformats.org/drawingml/2006/main">
            <a:off x="609600" y="361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3150" b="1">
                <a:solidFill>
                  <a:srgbClr val="F4F8FB"/>
                </a:solidFill>
                <a:latin typeface="Avenir Next"/>
                <a:ea typeface="Avenir Next"/>
                <a:cs typeface="Avenir Next"/>
              </a:defRPr>
            </a:pPr>
            <a:r>
              <a:rPr sz="3150" b="1">
                <a:solidFill>
                  <a:srgbClr val="F4F8FB"/>
                </a:solidFill>
                <a:latin typeface="Avenir Next"/>
                <a:ea typeface="Avenir Next"/>
                <a:cs typeface="Avenir Next"/>
              </a:rPr>
              <a:t>The experiment found a viable boundary</a:t>
            </a:r>
          </a:p>
        </p:txBody>
      </p:sp>
      <p:sp>
        <p:nvSpPr>
          <p:cNvPr id="2" name="">
            <a:extLst xmlns:a="http://schemas.openxmlformats.org/drawingml/2006/main">
              <a:ext uri="{FF2B5EF4-FFF2-40B4-BE49-F238E27FC236}">
                <a16:creationId xmlns:a16="http://schemas.microsoft.com/office/drawing/2014/main" id="{2FFA8AA1-50C5-4621-9739-0EE8CA3DBEA6}"/>
              </a:ext>
            </a:extLst>
          </p:cNvPr>
          <p:cNvSpPr>
            <a:spLocks xmlns:a="http://schemas.openxmlformats.org/drawingml/2006/main" noGrp="1"/>
          </p:cNvSpPr>
          <p:nvPr/>
        </p:nvSpPr>
        <p:spPr>
          <a:xfrm xmlns:a="http://schemas.openxmlformats.org/drawingml/2006/main">
            <a:off x="628650" y="9525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00" b="0">
                <a:solidFill>
                  <a:srgbClr val="A9BAC8"/>
                </a:solidFill>
                <a:latin typeface="Avenir Next"/>
                <a:ea typeface="Avenir Next"/>
                <a:cs typeface="Avenir Next"/>
              </a:defRPr>
            </a:pPr>
            <a:r>
              <a:rPr sz="1500" b="0">
                <a:solidFill>
                  <a:srgbClr val="A9BAC8"/>
                </a:solidFill>
                <a:latin typeface="Avenir Next"/>
                <a:ea typeface="Avenir Next"/>
                <a:cs typeface="Avenir Next"/>
              </a:rPr>
              <a:t>Deterministic switching stays small while production capabilities remain replaceable</a:t>
            </a:r>
          </a:p>
        </p:txBody>
      </p:sp>
      <p:sp>
        <p:nvSpPr>
          <p:cNvPr id="3" name="">
            <a:extLst xmlns:a="http://schemas.openxmlformats.org/drawingml/2006/main">
              <a:ext uri="{FF2B5EF4-FFF2-40B4-BE49-F238E27FC236}">
                <a16:creationId xmlns:a16="http://schemas.microsoft.com/office/drawing/2014/main" id="{AAC705E9-26E2-4E30-95E4-DD73FCEC354B}"/>
              </a:ext>
            </a:extLst>
          </p:cNvPr>
          <p:cNvSpPr>
            <a:spLocks xmlns:a="http://schemas.openxmlformats.org/drawingml/2006/main" noGrp="1"/>
          </p:cNvSpPr>
          <p:nvPr/>
        </p:nvSpPr>
        <p:spPr>
          <a:xfrm xmlns:a="http://schemas.openxmlformats.org/drawingml/2006/main">
            <a:off x="609600" y="1362075"/>
            <a:ext cx="819150" cy="38100"/>
          </a:xfrm>
          <a:prstGeom xmlns:a="http://schemas.openxmlformats.org/drawingml/2006/main" prst="rect">
            <a:avLst/>
          </a:prstGeom>
          <a:solidFill xmlns:a="http://schemas.openxmlformats.org/drawingml/2006/main">
            <a:srgbClr val="36D4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F4C80F0-5781-4CD0-944A-85303742D87E}"/>
              </a:ext>
            </a:extLst>
          </p:cNvPr>
          <p:cNvSpPr>
            <a:spLocks xmlns:a="http://schemas.openxmlformats.org/drawingml/2006/main" noGrp="1"/>
          </p:cNvSpPr>
          <p:nvPr/>
        </p:nvSpPr>
        <p:spPr>
          <a:xfrm xmlns:a="http://schemas.openxmlformats.org/drawingml/2006/main">
            <a:off x="619125" y="1628775"/>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125" b="1">
                <a:solidFill>
                  <a:srgbClr val="FFB85C"/>
                </a:solidFill>
                <a:latin typeface="Avenir Next"/>
                <a:ea typeface="Avenir Next"/>
                <a:cs typeface="Avenir Next"/>
              </a:defRPr>
            </a:pPr>
            <a:r>
              <a:rPr sz="1125" b="1">
                <a:solidFill>
                  <a:srgbClr val="FFB85C"/>
                </a:solidFill>
                <a:latin typeface="Avenir Next"/>
                <a:ea typeface="Avenir Next"/>
                <a:cs typeface="Avenir Next"/>
              </a:rPr>
              <a:t>MEASURED ON THE ISOLATED SUPERMICRO PILOT</a:t>
            </a:r>
          </a:p>
        </p:txBody>
      </p:sp>
      <p:sp>
        <p:nvSpPr>
          <p:cNvPr id="5" name="">
            <a:extLst xmlns:a="http://schemas.openxmlformats.org/drawingml/2006/main">
              <a:ext uri="{FF2B5EF4-FFF2-40B4-BE49-F238E27FC236}">
                <a16:creationId xmlns:a16="http://schemas.microsoft.com/office/drawing/2014/main" id="{2695A51E-8173-41E5-9123-0C29B714C629}"/>
              </a:ext>
            </a:extLst>
          </p:cNvPr>
          <p:cNvSpPr>
            <a:spLocks xmlns:a="http://schemas.openxmlformats.org/drawingml/2006/main" noGrp="1"/>
          </p:cNvSpPr>
          <p:nvPr/>
        </p:nvSpPr>
        <p:spPr>
          <a:xfrm xmlns:a="http://schemas.openxmlformats.org/drawingml/2006/main">
            <a:off x="628650" y="1943100"/>
            <a:ext cx="2190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5850" b="1">
                <a:solidFill>
                  <a:srgbClr val="FFB85C"/>
                </a:solidFill>
                <a:latin typeface="Avenir Next"/>
                <a:ea typeface="Avenir Next"/>
                <a:cs typeface="Avenir Next"/>
              </a:defRPr>
            </a:pPr>
            <a:r>
              <a:rPr sz="5850" b="1">
                <a:solidFill>
                  <a:srgbClr val="FFB85C"/>
                </a:solidFill>
                <a:latin typeface="Avenir Next"/>
                <a:ea typeface="Avenir Next"/>
                <a:cs typeface="Avenir Next"/>
              </a:rPr>
              <a:t>8h</a:t>
            </a:r>
          </a:p>
        </p:txBody>
      </p:sp>
      <p:sp>
        <p:nvSpPr>
          <p:cNvPr id="6" name="">
            <a:extLst xmlns:a="http://schemas.openxmlformats.org/drawingml/2006/main">
              <a:ext uri="{FF2B5EF4-FFF2-40B4-BE49-F238E27FC236}">
                <a16:creationId xmlns:a16="http://schemas.microsoft.com/office/drawing/2014/main" id="{064BCE48-227E-41FA-ABE5-9B8A3136030F}"/>
              </a:ext>
            </a:extLst>
          </p:cNvPr>
          <p:cNvSpPr>
            <a:spLocks xmlns:a="http://schemas.openxmlformats.org/drawingml/2006/main" noGrp="1"/>
          </p:cNvSpPr>
          <p:nvPr/>
        </p:nvSpPr>
        <p:spPr>
          <a:xfrm xmlns:a="http://schemas.openxmlformats.org/drawingml/2006/main">
            <a:off x="666750" y="2867025"/>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loaded acceptance passed</a:t>
            </a:r>
          </a:p>
        </p:txBody>
      </p:sp>
      <p:sp>
        <p:nvSpPr>
          <p:cNvPr id="7" name="">
            <a:extLst xmlns:a="http://schemas.openxmlformats.org/drawingml/2006/main">
              <a:ext uri="{FF2B5EF4-FFF2-40B4-BE49-F238E27FC236}">
                <a16:creationId xmlns:a16="http://schemas.microsoft.com/office/drawing/2014/main" id="{8B3C4851-82BE-4B1B-8DA0-0F4CB528CDB0}"/>
              </a:ext>
            </a:extLst>
          </p:cNvPr>
          <p:cNvSpPr>
            <a:spLocks xmlns:a="http://schemas.openxmlformats.org/drawingml/2006/main" noGrp="1"/>
          </p:cNvSpPr>
          <p:nvPr/>
        </p:nvSpPr>
        <p:spPr>
          <a:xfrm xmlns:a="http://schemas.openxmlformats.org/drawingml/2006/main">
            <a:off x="3829050" y="1943100"/>
            <a:ext cx="2095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5850" b="1">
                <a:solidFill>
                  <a:srgbClr val="48C7FF"/>
                </a:solidFill>
                <a:latin typeface="Avenir Next"/>
                <a:ea typeface="Avenir Next"/>
                <a:cs typeface="Avenir Next"/>
              </a:defRPr>
            </a:pPr>
            <a:r>
              <a:rPr sz="5850" b="1">
                <a:solidFill>
                  <a:srgbClr val="48C7FF"/>
                </a:solidFill>
                <a:latin typeface="Avenir Next"/>
                <a:ea typeface="Avenir Next"/>
                <a:cs typeface="Avenir Next"/>
              </a:rPr>
              <a:t>2</a:t>
            </a:r>
          </a:p>
        </p:txBody>
      </p:sp>
      <p:sp>
        <p:nvSpPr>
          <p:cNvPr id="8" name="">
            <a:extLst xmlns:a="http://schemas.openxmlformats.org/drawingml/2006/main">
              <a:ext uri="{FF2B5EF4-FFF2-40B4-BE49-F238E27FC236}">
                <a16:creationId xmlns:a16="http://schemas.microsoft.com/office/drawing/2014/main" id="{24ED7A12-60BE-4F07-AE04-C37B2C4D5788}"/>
              </a:ext>
            </a:extLst>
          </p:cNvPr>
          <p:cNvSpPr>
            <a:spLocks xmlns:a="http://schemas.openxmlformats.org/drawingml/2006/main" noGrp="1"/>
          </p:cNvSpPr>
          <p:nvPr/>
        </p:nvSpPr>
        <p:spPr>
          <a:xfrm xmlns:a="http://schemas.openxmlformats.org/drawingml/2006/main">
            <a:off x="3867150" y="2867025"/>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independent NDI sources</a:t>
            </a:r>
          </a:p>
        </p:txBody>
      </p:sp>
      <p:sp>
        <p:nvSpPr>
          <p:cNvPr id="9" name="">
            <a:extLst xmlns:a="http://schemas.openxmlformats.org/drawingml/2006/main">
              <a:ext uri="{FF2B5EF4-FFF2-40B4-BE49-F238E27FC236}">
                <a16:creationId xmlns:a16="http://schemas.microsoft.com/office/drawing/2014/main" id="{DF547C65-DA3D-485D-8449-5BF1FA7D85F2}"/>
              </a:ext>
            </a:extLst>
          </p:cNvPr>
          <p:cNvSpPr>
            <a:spLocks xmlns:a="http://schemas.openxmlformats.org/drawingml/2006/main" noGrp="1"/>
          </p:cNvSpPr>
          <p:nvPr/>
        </p:nvSpPr>
        <p:spPr>
          <a:xfrm xmlns:a="http://schemas.openxmlformats.org/drawingml/2006/main">
            <a:off x="7162800" y="1943100"/>
            <a:ext cx="2381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5850" b="1">
                <a:solidFill>
                  <a:srgbClr val="FF6B6B"/>
                </a:solidFill>
                <a:latin typeface="Avenir Next"/>
                <a:ea typeface="Avenir Next"/>
                <a:cs typeface="Avenir Next"/>
              </a:defRPr>
            </a:pPr>
            <a:r>
              <a:rPr sz="5850" b="1">
                <a:solidFill>
                  <a:srgbClr val="FF6B6B"/>
                </a:solidFill>
                <a:latin typeface="Avenir Next"/>
                <a:ea typeface="Avenir Next"/>
                <a:cs typeface="Avenir Next"/>
              </a:rPr>
              <a:t>0</a:t>
            </a:r>
          </a:p>
        </p:txBody>
      </p:sp>
      <p:sp>
        <p:nvSpPr>
          <p:cNvPr id="10" name="">
            <a:extLst xmlns:a="http://schemas.openxmlformats.org/drawingml/2006/main">
              <a:ext uri="{FF2B5EF4-FFF2-40B4-BE49-F238E27FC236}">
                <a16:creationId xmlns:a16="http://schemas.microsoft.com/office/drawing/2014/main" id="{40D0A9E6-CDA4-462D-A2CE-FB56F0D8365F}"/>
              </a:ext>
            </a:extLst>
          </p:cNvPr>
          <p:cNvSpPr>
            <a:spLocks xmlns:a="http://schemas.openxmlformats.org/drawingml/2006/main" noGrp="1"/>
          </p:cNvSpPr>
          <p:nvPr/>
        </p:nvSpPr>
        <p:spPr>
          <a:xfrm xmlns:a="http://schemas.openxmlformats.org/drawingml/2006/main">
            <a:off x="7200900" y="2867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media or timing faults</a:t>
            </a:r>
          </a:p>
        </p:txBody>
      </p:sp>
      <p:sp>
        <p:nvSpPr>
          <p:cNvPr id="11" name="">
            <a:extLst xmlns:a="http://schemas.openxmlformats.org/drawingml/2006/main">
              <a:ext uri="{FF2B5EF4-FFF2-40B4-BE49-F238E27FC236}">
                <a16:creationId xmlns:a16="http://schemas.microsoft.com/office/drawing/2014/main" id="{C5FD9A52-1E96-40C5-8ECD-5E029F183113}"/>
              </a:ext>
            </a:extLst>
          </p:cNvPr>
          <p:cNvSpPr>
            <a:spLocks xmlns:a="http://schemas.openxmlformats.org/drawingml/2006/main" noGrp="1"/>
          </p:cNvSpPr>
          <p:nvPr/>
        </p:nvSpPr>
        <p:spPr>
          <a:xfrm xmlns:a="http://schemas.openxmlformats.org/drawingml/2006/main">
            <a:off x="628650" y="3686175"/>
            <a:ext cx="10810875" cy="14288"/>
          </a:xfrm>
          <a:prstGeom xmlns:a="http://schemas.openxmlformats.org/drawingml/2006/main" prst="rect">
            <a:avLst/>
          </a:prstGeom>
          <a:solidFill xmlns:a="http://schemas.openxmlformats.org/drawingml/2006/main">
            <a:srgbClr val="29415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95727F2-3F1F-4370-AF71-063D5470693E}"/>
              </a:ext>
            </a:extLst>
          </p:cNvPr>
          <p:cNvSpPr>
            <a:spLocks xmlns:a="http://schemas.openxmlformats.org/drawingml/2006/main" noGrp="1"/>
          </p:cNvSpPr>
          <p:nvPr/>
        </p:nvSpPr>
        <p:spPr>
          <a:xfrm xmlns:a="http://schemas.openxmlformats.org/drawingml/2006/main">
            <a:off x="704850" y="4067175"/>
            <a:ext cx="2476500" cy="895350"/>
          </a:xfrm>
          <a:prstGeom xmlns:a="http://schemas.openxmlformats.org/drawingml/2006/main" prst="roundRect">
            <a:avLst>
              <a:gd name="adj" fmla="val 8511"/>
            </a:avLst>
          </a:prstGeom>
          <a:solidFill xmlns:a="http://schemas.openxmlformats.org/drawingml/2006/main">
            <a:srgbClr val="152A38"/>
          </a:solidFill>
          <a:ln xmlns:a="http://schemas.openxmlformats.org/drawingml/2006/main" w="14288">
            <a:solidFill>
              <a:srgbClr val="294151"/>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650" b="1">
                <a:solidFill>
                  <a:srgbClr val="F4F8FB"/>
                </a:solidFill>
                <a:latin typeface="Avenir Next"/>
                <a:ea typeface="Avenir Next"/>
                <a:cs typeface="Avenir Next"/>
              </a:defRPr>
            </a:pPr>
            <a:r>
              <a:rPr sz="1650" b="1">
                <a:solidFill>
                  <a:srgbClr val="F4F8FB"/>
                </a:solidFill>
                <a:latin typeface="Avenir Next"/>
                <a:ea typeface="Avenir Next"/>
                <a:cs typeface="Avenir Next"/>
              </a:rPr>
              <a:t>Switcher Core</a:t>
            </a:r>
          </a:p>
        </p:txBody>
      </p:sp>
      <p:sp>
        <p:nvSpPr>
          <p:cNvPr id="13" name="">
            <a:extLst xmlns:a="http://schemas.openxmlformats.org/drawingml/2006/main">
              <a:ext uri="{FF2B5EF4-FFF2-40B4-BE49-F238E27FC236}">
                <a16:creationId xmlns:a16="http://schemas.microsoft.com/office/drawing/2014/main" id="{0A267917-4F6F-4A85-B37F-C0D75D6EDF08}"/>
              </a:ext>
            </a:extLst>
          </p:cNvPr>
          <p:cNvSpPr>
            <a:spLocks xmlns:a="http://schemas.openxmlformats.org/drawingml/2006/main" noGrp="1"/>
          </p:cNvSpPr>
          <p:nvPr/>
        </p:nvSpPr>
        <p:spPr>
          <a:xfrm xmlns:a="http://schemas.openxmlformats.org/drawingml/2006/main">
            <a:off x="4733925" y="4067175"/>
            <a:ext cx="2762250" cy="895350"/>
          </a:xfrm>
          <a:prstGeom xmlns:a="http://schemas.openxmlformats.org/drawingml/2006/main" prst="roundRect">
            <a:avLst>
              <a:gd name="adj" fmla="val 8511"/>
            </a:avLst>
          </a:prstGeom>
          <a:solidFill xmlns:a="http://schemas.openxmlformats.org/drawingml/2006/main">
            <a:srgbClr val="152A38"/>
          </a:solidFill>
          <a:ln xmlns:a="http://schemas.openxmlformats.org/drawingml/2006/main" w="14288">
            <a:solidFill>
              <a:srgbClr val="294151"/>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500" b="1">
                <a:solidFill>
                  <a:srgbClr val="F4F8FB"/>
                </a:solidFill>
                <a:latin typeface="Avenir Next"/>
                <a:ea typeface="Avenir Next"/>
                <a:cs typeface="Avenir Next"/>
              </a:defRPr>
            </a:pPr>
            <a:r>
              <a:rPr sz="1500" b="1">
                <a:solidFill>
                  <a:srgbClr val="F4F8FB"/>
                </a:solidFill>
                <a:latin typeface="Avenir Next"/>
                <a:ea typeface="Avenir Next"/>
                <a:cs typeface="Avenir Next"/>
              </a:rPr>
              <a:t>Skins and control surfaces</a:t>
            </a:r>
          </a:p>
        </p:txBody>
      </p:sp>
      <p:sp>
        <p:nvSpPr>
          <p:cNvPr id="14" name="">
            <a:extLst xmlns:a="http://schemas.openxmlformats.org/drawingml/2006/main">
              <a:ext uri="{FF2B5EF4-FFF2-40B4-BE49-F238E27FC236}">
                <a16:creationId xmlns:a16="http://schemas.microsoft.com/office/drawing/2014/main" id="{DA7AB318-54AB-49B0-A120-B3E3F579AC6C}"/>
              </a:ext>
            </a:extLst>
          </p:cNvPr>
          <p:cNvSpPr>
            <a:spLocks xmlns:a="http://schemas.openxmlformats.org/drawingml/2006/main" noGrp="1"/>
          </p:cNvSpPr>
          <p:nvPr/>
        </p:nvSpPr>
        <p:spPr>
          <a:xfrm xmlns:a="http://schemas.openxmlformats.org/drawingml/2006/main">
            <a:off x="9067800" y="4067175"/>
            <a:ext cx="2381250" cy="895350"/>
          </a:xfrm>
          <a:prstGeom xmlns:a="http://schemas.openxmlformats.org/drawingml/2006/main" prst="roundRect">
            <a:avLst>
              <a:gd name="adj" fmla="val 8511"/>
            </a:avLst>
          </a:prstGeom>
          <a:solidFill xmlns:a="http://schemas.openxmlformats.org/drawingml/2006/main">
            <a:srgbClr val="2B1D23"/>
          </a:solidFill>
          <a:ln xmlns:a="http://schemas.openxmlformats.org/drawingml/2006/main" w="14288">
            <a:solidFill>
              <a:srgbClr val="70404A"/>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650" b="1">
                <a:solidFill>
                  <a:srgbClr val="F4F8FB"/>
                </a:solidFill>
                <a:latin typeface="Avenir Next"/>
                <a:ea typeface="Avenir Next"/>
                <a:cs typeface="Avenir Next"/>
              </a:defRPr>
            </a:pPr>
            <a:r>
              <a:rPr sz="1650" b="1">
                <a:solidFill>
                  <a:srgbClr val="F4F8FB"/>
                </a:solidFill>
                <a:latin typeface="Avenir Next"/>
                <a:ea typeface="Avenir Next"/>
                <a:cs typeface="Avenir Next"/>
              </a:rPr>
              <a:t>Media functions and I/O</a:t>
            </a:r>
          </a:p>
        </p:txBody>
      </p:sp>
      <p:cxnSp>
        <p:nvCxnSpPr>
          <p:cNvPr id="82" name="">
            <a:extLst xmlns:a="http://schemas.openxmlformats.org/drawingml/2006/main">
              <a:ext uri="{FF2B5EF4-FFF2-40B4-BE49-F238E27FC236}">
                <a16:creationId xmlns:a16="http://schemas.microsoft.com/office/drawing/2014/main" id="{65A49097-FB9E-401C-AA2C-B9F6482D3DBE}"/>
              </a:ext>
            </a:extLst>
          </p:cNvPr>
          <p:cNvCxnSpPr>
            <a:stCxn xmlns:a="http://schemas.openxmlformats.org/drawingml/2006/main" id="12" idx="3"/>
            <a:endCxn xmlns:a="http://schemas.openxmlformats.org/drawingml/2006/main" id="13" idx="1"/>
          </p:cNvCxnSpPr>
          <p:nvPr/>
        </p:nvCxnSpPr>
        <p:spPr>
          <a:xfrm xmlns:a="http://schemas.openxmlformats.org/drawingml/2006/main">
            <a:off x="3181350" y="4514850"/>
            <a:ext cx="1552575" cy="0"/>
          </a:xfrm>
          <a:prstGeom xmlns:a="http://schemas.openxmlformats.org/drawingml/2006/main" prst="straightConnector1">
            <a:avLst/>
          </a:prstGeom>
          <a:ln xmlns:a="http://schemas.openxmlformats.org/drawingml/2006/main" w="20955">
            <a:solidFill>
              <a:srgbClr val="48C7FF"/>
            </a:solidFill>
            <a:prstDash val="solid"/>
            <a:headEnd type="none" w="med" len="med"/>
            <a:tailEnd type="triangle" w="sm" len="sm"/>
          </a:ln>
        </p:spPr>
      </p:cxnSp>
      <p:cxnSp>
        <p:nvCxnSpPr>
          <p:cNvPr id="83" name="">
            <a:extLst xmlns:a="http://schemas.openxmlformats.org/drawingml/2006/main">
              <a:ext uri="{FF2B5EF4-FFF2-40B4-BE49-F238E27FC236}">
                <a16:creationId xmlns:a16="http://schemas.microsoft.com/office/drawing/2014/main" id="{EE819A52-D8F3-4068-B143-F585D97907B0}"/>
              </a:ext>
            </a:extLst>
          </p:cNvPr>
          <p:cNvCxnSpPr>
            <a:stCxn xmlns:a="http://schemas.openxmlformats.org/drawingml/2006/main" id="13" idx="3"/>
            <a:endCxn xmlns:a="http://schemas.openxmlformats.org/drawingml/2006/main" id="14" idx="1"/>
          </p:cNvCxnSpPr>
          <p:nvPr/>
        </p:nvCxnSpPr>
        <p:spPr>
          <a:xfrm xmlns:a="http://schemas.openxmlformats.org/drawingml/2006/main">
            <a:off x="7496175" y="4514850"/>
            <a:ext cx="1571625" cy="0"/>
          </a:xfrm>
          <a:prstGeom xmlns:a="http://schemas.openxmlformats.org/drawingml/2006/main" prst="straightConnector1">
            <a:avLst/>
          </a:prstGeom>
          <a:ln xmlns:a="http://schemas.openxmlformats.org/drawingml/2006/main" w="20955">
            <a:solidFill>
              <a:srgbClr val="FFB85C"/>
            </a:solidFill>
            <a:prstDash val="solid"/>
            <a:headEnd type="none" w="med" len="med"/>
            <a:tailEnd type="triangle" w="sm" len="sm"/>
          </a:ln>
        </p:spPr>
      </p:cxnSp>
      <p:sp>
        <p:nvSpPr>
          <p:cNvPr id="17" name="">
            <a:extLst xmlns:a="http://schemas.openxmlformats.org/drawingml/2006/main">
              <a:ext uri="{FF2B5EF4-FFF2-40B4-BE49-F238E27FC236}">
                <a16:creationId xmlns:a16="http://schemas.microsoft.com/office/drawing/2014/main" id="{7667F601-6754-4B9F-9B4F-BF602EFF0F54}"/>
              </a:ext>
            </a:extLst>
          </p:cNvPr>
          <p:cNvSpPr>
            <a:spLocks xmlns:a="http://schemas.openxmlformats.org/drawingml/2006/main" noGrp="1"/>
          </p:cNvSpPr>
          <p:nvPr/>
        </p:nvSpPr>
        <p:spPr>
          <a:xfrm xmlns:a="http://schemas.openxmlformats.org/drawingml/2006/main">
            <a:off x="1066800" y="5448300"/>
            <a:ext cx="1005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2025" b="1">
                <a:solidFill>
                  <a:srgbClr val="F4F8FB"/>
                </a:solidFill>
                <a:latin typeface="Avenir Next"/>
                <a:ea typeface="Avenir Next"/>
                <a:cs typeface="Avenir Next"/>
              </a:defRPr>
            </a:pPr>
            <a:r>
              <a:rPr sz="2025" b="1">
                <a:solidFill>
                  <a:srgbClr val="F4F8FB"/>
                </a:solidFill>
                <a:latin typeface="Avenir Next"/>
                <a:ea typeface="Avenir Next"/>
                <a:cs typeface="Avenir Next"/>
              </a:rPr>
              <a:t>That boundary has survived real media, sustained load, and input-flow replacement.</a:t>
            </a:r>
          </a:p>
        </p:txBody>
      </p:sp>
      <p:sp>
        <p:nvSpPr>
          <p:cNvPr id="18" name="">
            <a:extLst xmlns:a="http://schemas.openxmlformats.org/drawingml/2006/main">
              <a:ext uri="{FF2B5EF4-FFF2-40B4-BE49-F238E27FC236}">
                <a16:creationId xmlns:a16="http://schemas.microsoft.com/office/drawing/2014/main" id="{4E6876DB-B5E0-4E92-BFDE-49D18661BB14}"/>
              </a:ext>
            </a:extLst>
          </p:cNvPr>
          <p:cNvSpPr>
            <a:spLocks xmlns:a="http://schemas.openxmlformats.org/drawingml/2006/main" noGrp="1"/>
          </p:cNvSpPr>
          <p:nvPr/>
        </p:nvSpPr>
        <p:spPr>
          <a:xfrm xmlns:a="http://schemas.openxmlformats.org/drawingml/2006/main">
            <a:off x="609600" y="64674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Measured acceptance · Supermicro VM 101 · October 2026</a:t>
            </a:r>
          </a:p>
        </p:txBody>
      </p:sp>
      <p:sp>
        <p:nvSpPr>
          <p:cNvPr id="19" name="">
            <a:extLst xmlns:a="http://schemas.openxmlformats.org/drawingml/2006/main">
              <a:ext uri="{FF2B5EF4-FFF2-40B4-BE49-F238E27FC236}">
                <a16:creationId xmlns:a16="http://schemas.microsoft.com/office/drawing/2014/main" id="{7EF78FED-B705-4BA9-96CF-CCB970050279}"/>
              </a:ext>
            </a:extLst>
          </p:cNvPr>
          <p:cNvSpPr>
            <a:spLocks xmlns:a="http://schemas.openxmlformats.org/drawingml/2006/main" noGrp="1"/>
          </p:cNvSpPr>
          <p:nvPr/>
        </p:nvSpPr>
        <p:spPr>
          <a:xfrm xmlns:a="http://schemas.openxmlformats.org/drawingml/2006/main">
            <a:off x="11239500" y="6467475"/>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r">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02</a:t>
            </a:r>
          </a:p>
        </p:txBody>
      </p:sp>
    </p:spTree>
    <p:extLst>
      <p:ext uri="{BB962C8B-B14F-4D97-AF65-F5344CB8AC3E}">
        <p14:creationId xmlns:p14="http://schemas.microsoft.com/office/powerpoint/2010/main" val="768762175"/>
      </p:ext>
    </p:extLst>
  </p:cSld>
</p:sld>
</file>

<file path=ppt/slides/slide3.xml><?xml version="1.0" encoding="utf-8"?>
<p:sld xmlns:p="http://schemas.openxmlformats.org/presentationml/2006/main">
  <p:cSld>
    <p:bg>
      <p:bgPr>
        <a:solidFill xmlns:a="http://schemas.openxmlformats.org/drawingml/2006/main">
          <a:srgbClr val="0C17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FDFDD4A-0392-4EED-8C67-E395D033CEEE}"/>
              </a:ext>
            </a:extLst>
          </p:cNvPr>
          <p:cNvSpPr>
            <a:spLocks xmlns:a="http://schemas.openxmlformats.org/drawingml/2006/main" noGrp="1"/>
          </p:cNvSpPr>
          <p:nvPr/>
        </p:nvSpPr>
        <p:spPr>
          <a:xfrm xmlns:a="http://schemas.openxmlformats.org/drawingml/2006/main">
            <a:off x="609600" y="361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3150" b="1">
                <a:solidFill>
                  <a:srgbClr val="F4F8FB"/>
                </a:solidFill>
                <a:latin typeface="Avenir Next"/>
                <a:ea typeface="Avenir Next"/>
                <a:cs typeface="Avenir Next"/>
              </a:defRPr>
            </a:pPr>
            <a:r>
              <a:rPr sz="3150" b="1">
                <a:solidFill>
                  <a:srgbClr val="F4F8FB"/>
                </a:solidFill>
                <a:latin typeface="Avenir Next"/>
                <a:ea typeface="Avenir Next"/>
                <a:cs typeface="Avenir Next"/>
              </a:rPr>
              <a:t>The product boundary</a:t>
            </a:r>
          </a:p>
        </p:txBody>
      </p:sp>
      <p:sp>
        <p:nvSpPr>
          <p:cNvPr id="2" name="">
            <a:extLst xmlns:a="http://schemas.openxmlformats.org/drawingml/2006/main">
              <a:ext uri="{FF2B5EF4-FFF2-40B4-BE49-F238E27FC236}">
                <a16:creationId xmlns:a16="http://schemas.microsoft.com/office/drawing/2014/main" id="{F280BD1F-222C-4AFE-B7E2-9AEF2284603E}"/>
              </a:ext>
            </a:extLst>
          </p:cNvPr>
          <p:cNvSpPr>
            <a:spLocks xmlns:a="http://schemas.openxmlformats.org/drawingml/2006/main" noGrp="1"/>
          </p:cNvSpPr>
          <p:nvPr/>
        </p:nvSpPr>
        <p:spPr>
          <a:xfrm xmlns:a="http://schemas.openxmlformats.org/drawingml/2006/main">
            <a:off x="628650" y="9525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00" b="0">
                <a:solidFill>
                  <a:srgbClr val="A9BAC8"/>
                </a:solidFill>
                <a:latin typeface="Avenir Next"/>
                <a:ea typeface="Avenir Next"/>
                <a:cs typeface="Avenir Next"/>
              </a:defRPr>
            </a:pPr>
            <a:r>
              <a:rPr sz="1500" b="0">
                <a:solidFill>
                  <a:srgbClr val="A9BAC8"/>
                </a:solidFill>
                <a:latin typeface="Avenir Next"/>
                <a:ea typeface="Avenir Next"/>
                <a:cs typeface="Avenir Next"/>
              </a:rPr>
              <a:t>A narrow Core gives the wider MXL ecosystem a dependable switching contract</a:t>
            </a:r>
          </a:p>
        </p:txBody>
      </p:sp>
      <p:sp>
        <p:nvSpPr>
          <p:cNvPr id="3" name="">
            <a:extLst xmlns:a="http://schemas.openxmlformats.org/drawingml/2006/main">
              <a:ext uri="{FF2B5EF4-FFF2-40B4-BE49-F238E27FC236}">
                <a16:creationId xmlns:a16="http://schemas.microsoft.com/office/drawing/2014/main" id="{7174A79E-D4B3-4579-BE35-3D0D90FE1510}"/>
              </a:ext>
            </a:extLst>
          </p:cNvPr>
          <p:cNvSpPr>
            <a:spLocks xmlns:a="http://schemas.openxmlformats.org/drawingml/2006/main" noGrp="1"/>
          </p:cNvSpPr>
          <p:nvPr/>
        </p:nvSpPr>
        <p:spPr>
          <a:xfrm xmlns:a="http://schemas.openxmlformats.org/drawingml/2006/main">
            <a:off x="609600" y="1362075"/>
            <a:ext cx="819150" cy="38100"/>
          </a:xfrm>
          <a:prstGeom xmlns:a="http://schemas.openxmlformats.org/drawingml/2006/main" prst="rect">
            <a:avLst/>
          </a:prstGeom>
          <a:solidFill xmlns:a="http://schemas.openxmlformats.org/drawingml/2006/main">
            <a:srgbClr val="36D4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D7DAB7D-2E9A-4A76-A5C3-43B388469BD6}"/>
              </a:ext>
            </a:extLst>
          </p:cNvPr>
          <p:cNvSpPr>
            <a:spLocks xmlns:a="http://schemas.openxmlformats.org/drawingml/2006/main" noGrp="1"/>
          </p:cNvSpPr>
          <p:nvPr/>
        </p:nvSpPr>
        <p:spPr>
          <a:xfrm xmlns:a="http://schemas.openxmlformats.org/drawingml/2006/main">
            <a:off x="647700" y="1771650"/>
            <a:ext cx="5810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3600" b="1">
                <a:solidFill>
                  <a:srgbClr val="36D4C5"/>
                </a:solidFill>
                <a:latin typeface="Avenir Next"/>
                <a:ea typeface="Avenir Next"/>
                <a:cs typeface="Avenir Next"/>
              </a:defRPr>
            </a:pPr>
            <a:r>
              <a:rPr sz="3600" b="1">
                <a:solidFill>
                  <a:srgbClr val="36D4C5"/>
                </a:solidFill>
                <a:latin typeface="Avenir Next"/>
                <a:ea typeface="Avenir Next"/>
                <a:cs typeface="Avenir Next"/>
              </a:rPr>
              <a:t>MXL Switcher Core</a:t>
            </a:r>
          </a:p>
        </p:txBody>
      </p:sp>
      <p:sp>
        <p:nvSpPr>
          <p:cNvPr id="5" name="">
            <a:extLst xmlns:a="http://schemas.openxmlformats.org/drawingml/2006/main">
              <a:ext uri="{FF2B5EF4-FFF2-40B4-BE49-F238E27FC236}">
                <a16:creationId xmlns:a16="http://schemas.microsoft.com/office/drawing/2014/main" id="{E35A9624-F0E0-4337-BDA8-1933DE97983C}"/>
              </a:ext>
            </a:extLst>
          </p:cNvPr>
          <p:cNvSpPr>
            <a:spLocks xmlns:a="http://schemas.openxmlformats.org/drawingml/2006/main" noGrp="1"/>
          </p:cNvSpPr>
          <p:nvPr/>
        </p:nvSpPr>
        <p:spPr>
          <a:xfrm xmlns:a="http://schemas.openxmlformats.org/drawingml/2006/main">
            <a:off x="666750" y="2571750"/>
            <a:ext cx="6191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2175" b="0">
                <a:solidFill>
                  <a:srgbClr val="F4F8FB"/>
                </a:solidFill>
                <a:latin typeface="Avenir Next"/>
                <a:ea typeface="Avenir Next"/>
                <a:cs typeface="Avenir Next"/>
              </a:defRPr>
            </a:pPr>
            <a:r>
              <a:rPr sz="2175" b="0">
                <a:solidFill>
                  <a:srgbClr val="F4F8FB"/>
                </a:solidFill>
                <a:latin typeface="Avenir Next"/>
                <a:ea typeface="Avenir Next"/>
                <a:cs typeface="Avenir Next"/>
              </a:rPr>
              <a:t>A headless service that keeps Program and Preview deterministic inside MXL while control surfaces and media functions evolve independently.</a:t>
            </a:r>
          </a:p>
        </p:txBody>
      </p:sp>
      <p:sp>
        <p:nvSpPr>
          <p:cNvPr id="6" name="">
            <a:extLst xmlns:a="http://schemas.openxmlformats.org/drawingml/2006/main">
              <a:ext uri="{FF2B5EF4-FFF2-40B4-BE49-F238E27FC236}">
                <a16:creationId xmlns:a16="http://schemas.microsoft.com/office/drawing/2014/main" id="{1197C956-B8A5-4D31-8BBB-1296B5B078C9}"/>
              </a:ext>
            </a:extLst>
          </p:cNvPr>
          <p:cNvSpPr>
            <a:spLocks xmlns:a="http://schemas.openxmlformats.org/drawingml/2006/main" noGrp="1"/>
          </p:cNvSpPr>
          <p:nvPr/>
        </p:nvSpPr>
        <p:spPr>
          <a:xfrm xmlns:a="http://schemas.openxmlformats.org/drawingml/2006/main">
            <a:off x="7486650" y="1743075"/>
            <a:ext cx="28575" cy="3429000"/>
          </a:xfrm>
          <a:prstGeom xmlns:a="http://schemas.openxmlformats.org/drawingml/2006/main" prst="rect">
            <a:avLst/>
          </a:prstGeom>
          <a:solidFill xmlns:a="http://schemas.openxmlformats.org/drawingml/2006/main">
            <a:srgbClr val="29415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3ACF1CA-8BA1-41CA-931B-69645218D66F}"/>
              </a:ext>
            </a:extLst>
          </p:cNvPr>
          <p:cNvSpPr>
            <a:spLocks xmlns:a="http://schemas.openxmlformats.org/drawingml/2006/main" noGrp="1"/>
          </p:cNvSpPr>
          <p:nvPr/>
        </p:nvSpPr>
        <p:spPr>
          <a:xfrm xmlns:a="http://schemas.openxmlformats.org/drawingml/2006/main">
            <a:off x="8001000" y="17716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125" b="1">
                <a:solidFill>
                  <a:srgbClr val="83E28E"/>
                </a:solidFill>
                <a:latin typeface="Avenir Next"/>
                <a:ea typeface="Avenir Next"/>
                <a:cs typeface="Avenir Next"/>
              </a:defRPr>
            </a:pPr>
            <a:r>
              <a:rPr sz="1125" b="1">
                <a:solidFill>
                  <a:srgbClr val="83E28E"/>
                </a:solidFill>
                <a:latin typeface="Avenir Next"/>
                <a:ea typeface="Avenir Next"/>
                <a:cs typeface="Avenir Next"/>
              </a:rPr>
              <a:t>BUILD HERE</a:t>
            </a:r>
          </a:p>
        </p:txBody>
      </p:sp>
      <p:sp>
        <p:nvSpPr>
          <p:cNvPr id="8" name="">
            <a:extLst xmlns:a="http://schemas.openxmlformats.org/drawingml/2006/main">
              <a:ext uri="{FF2B5EF4-FFF2-40B4-BE49-F238E27FC236}">
                <a16:creationId xmlns:a16="http://schemas.microsoft.com/office/drawing/2014/main" id="{AB401CDA-3406-43DB-94C4-6D5227984A2C}"/>
              </a:ext>
            </a:extLst>
          </p:cNvPr>
          <p:cNvSpPr>
            <a:spLocks xmlns:a="http://schemas.openxmlformats.org/drawingml/2006/main" noGrp="1"/>
          </p:cNvSpPr>
          <p:nvPr/>
        </p:nvSpPr>
        <p:spPr>
          <a:xfrm xmlns:a="http://schemas.openxmlformats.org/drawingml/2006/main">
            <a:off x="8001000" y="2114550"/>
            <a:ext cx="3429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725" b="0">
                <a:solidFill>
                  <a:srgbClr val="F4F8FB"/>
                </a:solidFill>
                <a:latin typeface="Avenir Next"/>
                <a:ea typeface="Avenir Next"/>
                <a:cs typeface="Avenir Next"/>
              </a:defRPr>
            </a:pPr>
            <a:r>
              <a:rPr sz="1725" b="0">
                <a:solidFill>
                  <a:srgbClr val="F4F8FB"/>
                </a:solidFill>
                <a:latin typeface="Avenir Next"/>
                <a:ea typeface="Avenir Next"/>
                <a:cs typeface="Avenir Next"/>
              </a:rPr>
              <a:t>Frame-boundary TAKE</a:t>
            </a:r>
          </a:p>
          <a:p xmlns:a="http://schemas.openxmlformats.org/drawingml/2006/main">
            <a:pPr algn="l">
              <a:buNone/>
              <a:defRPr sz="1725" b="0">
                <a:solidFill>
                  <a:srgbClr val="F4F8FB"/>
                </a:solidFill>
                <a:latin typeface="Avenir Next"/>
                <a:ea typeface="Avenir Next"/>
                <a:cs typeface="Avenir Next"/>
              </a:defRPr>
            </a:pPr>
            <a:r>
              <a:rPr sz="1725" b="0">
                <a:solidFill>
                  <a:srgbClr val="F4F8FB"/>
                </a:solidFill>
                <a:latin typeface="Avenir Next"/>
                <a:ea typeface="Avenir Next"/>
                <a:cs typeface="Avenir Next"/>
              </a:rPr>
              <a:t>Stable PGM and PVW flows</a:t>
            </a:r>
          </a:p>
          <a:p xmlns:a="http://schemas.openxmlformats.org/drawingml/2006/main">
            <a:pPr algn="l">
              <a:buNone/>
              <a:defRPr sz="1725" b="0">
                <a:solidFill>
                  <a:srgbClr val="F4F8FB"/>
                </a:solidFill>
                <a:latin typeface="Avenir Next"/>
                <a:ea typeface="Avenir Next"/>
                <a:cs typeface="Avenir Next"/>
              </a:defRPr>
            </a:pPr>
            <a:r>
              <a:rPr sz="1725" b="0">
                <a:solidFill>
                  <a:srgbClr val="F4F8FB"/>
                </a:solidFill>
                <a:latin typeface="Avenir Next"/>
                <a:ea typeface="Avenir Next"/>
                <a:cs typeface="Avenir Next"/>
              </a:rPr>
              <a:t>Adaptive frame synchronization</a:t>
            </a:r>
          </a:p>
          <a:p xmlns:a="http://schemas.openxmlformats.org/drawingml/2006/main">
            <a:pPr algn="l">
              <a:buNone/>
              <a:defRPr sz="1725" b="0">
                <a:solidFill>
                  <a:srgbClr val="F4F8FB"/>
                </a:solidFill>
                <a:latin typeface="Avenir Next"/>
                <a:ea typeface="Avenir Next"/>
                <a:cs typeface="Avenir Next"/>
              </a:defRPr>
            </a:pPr>
            <a:r>
              <a:rPr sz="1725" b="0">
                <a:solidFill>
                  <a:srgbClr val="F4F8FB"/>
                </a:solidFill>
                <a:latin typeface="Avenir Next"/>
                <a:ea typeface="Avenir Next"/>
                <a:cs typeface="Avenir Next"/>
              </a:rPr>
              <a:t>HTTP control and SSE tally</a:t>
            </a:r>
          </a:p>
          <a:p xmlns:a="http://schemas.openxmlformats.org/drawingml/2006/main">
            <a:pPr algn="l">
              <a:buNone/>
              <a:defRPr sz="1725" b="0">
                <a:solidFill>
                  <a:srgbClr val="F4F8FB"/>
                </a:solidFill>
                <a:latin typeface="Avenir Next"/>
                <a:ea typeface="Avenir Next"/>
                <a:cs typeface="Avenir Next"/>
              </a:defRPr>
            </a:pPr>
            <a:r>
              <a:rPr sz="1725" b="0">
                <a:solidFill>
                  <a:srgbClr val="F4F8FB"/>
                </a:solidFill>
                <a:latin typeface="Avenir Next"/>
                <a:ea typeface="Avenir Next"/>
                <a:cs typeface="Avenir Next"/>
              </a:rPr>
              <a:t>Per-source health attribution</a:t>
            </a:r>
          </a:p>
        </p:txBody>
      </p:sp>
      <p:sp>
        <p:nvSpPr>
          <p:cNvPr id="9" name="">
            <a:extLst xmlns:a="http://schemas.openxmlformats.org/drawingml/2006/main">
              <a:ext uri="{FF2B5EF4-FFF2-40B4-BE49-F238E27FC236}">
                <a16:creationId xmlns:a16="http://schemas.microsoft.com/office/drawing/2014/main" id="{FA5C102C-1EBA-4DC8-8C69-66A7AB37E816}"/>
              </a:ext>
            </a:extLst>
          </p:cNvPr>
          <p:cNvSpPr>
            <a:spLocks xmlns:a="http://schemas.openxmlformats.org/drawingml/2006/main" noGrp="1"/>
          </p:cNvSpPr>
          <p:nvPr/>
        </p:nvSpPr>
        <p:spPr>
          <a:xfrm xmlns:a="http://schemas.openxmlformats.org/drawingml/2006/main">
            <a:off x="8001000" y="45815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125" b="1">
                <a:solidFill>
                  <a:srgbClr val="48C7FF"/>
                </a:solidFill>
                <a:latin typeface="Avenir Next"/>
                <a:ea typeface="Avenir Next"/>
                <a:cs typeface="Avenir Next"/>
              </a:defRPr>
            </a:pPr>
            <a:r>
              <a:rPr sz="1125" b="1">
                <a:solidFill>
                  <a:srgbClr val="48C7FF"/>
                </a:solidFill>
                <a:latin typeface="Avenir Next"/>
                <a:ea typeface="Avenir Next"/>
                <a:cs typeface="Avenir Next"/>
              </a:rPr>
              <a:t>REUSE ELSEWHERE</a:t>
            </a:r>
          </a:p>
        </p:txBody>
      </p:sp>
      <p:sp>
        <p:nvSpPr>
          <p:cNvPr id="10" name="">
            <a:extLst xmlns:a="http://schemas.openxmlformats.org/drawingml/2006/main">
              <a:ext uri="{FF2B5EF4-FFF2-40B4-BE49-F238E27FC236}">
                <a16:creationId xmlns:a16="http://schemas.microsoft.com/office/drawing/2014/main" id="{7108F6CE-AC88-4A82-A629-C0154BAA77FE}"/>
              </a:ext>
            </a:extLst>
          </p:cNvPr>
          <p:cNvSpPr>
            <a:spLocks xmlns:a="http://schemas.openxmlformats.org/drawingml/2006/main" noGrp="1"/>
          </p:cNvSpPr>
          <p:nvPr/>
        </p:nvSpPr>
        <p:spPr>
          <a:xfrm xmlns:a="http://schemas.openxmlformats.org/drawingml/2006/main">
            <a:off x="8001000" y="493395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OBS scenes and graphics</a:t>
            </a:r>
          </a:p>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Transport adapters and encoders</a:t>
            </a:r>
          </a:p>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Replay, captions, and multiview</a:t>
            </a:r>
          </a:p>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Operator control surfaces</a:t>
            </a:r>
          </a:p>
        </p:txBody>
      </p:sp>
      <p:sp>
        <p:nvSpPr>
          <p:cNvPr id="11" name="">
            <a:extLst xmlns:a="http://schemas.openxmlformats.org/drawingml/2006/main">
              <a:ext uri="{FF2B5EF4-FFF2-40B4-BE49-F238E27FC236}">
                <a16:creationId xmlns:a16="http://schemas.microsoft.com/office/drawing/2014/main" id="{47CA46FC-2B71-4D12-A8F1-4EF885E6B65F}"/>
              </a:ext>
            </a:extLst>
          </p:cNvPr>
          <p:cNvSpPr>
            <a:spLocks xmlns:a="http://schemas.openxmlformats.org/drawingml/2006/main" noGrp="1"/>
          </p:cNvSpPr>
          <p:nvPr/>
        </p:nvSpPr>
        <p:spPr>
          <a:xfrm xmlns:a="http://schemas.openxmlformats.org/drawingml/2006/main">
            <a:off x="609600" y="64674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Public prototype and tested contract</a:t>
            </a:r>
          </a:p>
        </p:txBody>
      </p:sp>
      <p:sp>
        <p:nvSpPr>
          <p:cNvPr id="12" name="">
            <a:extLst xmlns:a="http://schemas.openxmlformats.org/drawingml/2006/main">
              <a:ext uri="{FF2B5EF4-FFF2-40B4-BE49-F238E27FC236}">
                <a16:creationId xmlns:a16="http://schemas.microsoft.com/office/drawing/2014/main" id="{42894949-1991-4BC0-AC3E-B96706CAE703}"/>
              </a:ext>
            </a:extLst>
          </p:cNvPr>
          <p:cNvSpPr>
            <a:spLocks xmlns:a="http://schemas.openxmlformats.org/drawingml/2006/main" noGrp="1"/>
          </p:cNvSpPr>
          <p:nvPr/>
        </p:nvSpPr>
        <p:spPr>
          <a:xfrm xmlns:a="http://schemas.openxmlformats.org/drawingml/2006/main">
            <a:off x="11239500" y="6467475"/>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r">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03</a:t>
            </a:r>
          </a:p>
        </p:txBody>
      </p:sp>
    </p:spTree>
    <p:extLst>
      <p:ext uri="{BB962C8B-B14F-4D97-AF65-F5344CB8AC3E}">
        <p14:creationId xmlns:p14="http://schemas.microsoft.com/office/powerpoint/2010/main" val="869112811"/>
      </p:ext>
    </p:extLst>
  </p:cSld>
</p:sld>
</file>

<file path=ppt/slides/slide4.xml><?xml version="1.0" encoding="utf-8"?>
<p:sld xmlns:p="http://schemas.openxmlformats.org/presentationml/2006/main">
  <p:cSld>
    <p:bg>
      <p:bgPr>
        <a:solidFill xmlns:a="http://schemas.openxmlformats.org/drawingml/2006/main">
          <a:srgbClr val="07101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496E463-F36E-456E-AB18-EE8FA60CADF4}"/>
              </a:ext>
            </a:extLst>
          </p:cNvPr>
          <p:cNvSpPr>
            <a:spLocks xmlns:a="http://schemas.openxmlformats.org/drawingml/2006/main" noGrp="1"/>
          </p:cNvSpPr>
          <p:nvPr/>
        </p:nvSpPr>
        <p:spPr>
          <a:xfrm xmlns:a="http://schemas.openxmlformats.org/drawingml/2006/main">
            <a:off x="609600" y="361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3150" b="1">
                <a:solidFill>
                  <a:srgbClr val="F4F8FB"/>
                </a:solidFill>
                <a:latin typeface="Avenir Next"/>
                <a:ea typeface="Avenir Next"/>
                <a:cs typeface="Avenir Next"/>
              </a:defRPr>
            </a:pPr>
            <a:r>
              <a:rPr sz="3150" b="1">
                <a:solidFill>
                  <a:srgbClr val="F4F8FB"/>
                </a:solidFill>
                <a:latin typeface="Avenir Next"/>
                <a:ea typeface="Avenir Next"/>
                <a:cs typeface="Avenir Next"/>
              </a:rPr>
              <a:t>Core, skin, and media function</a:t>
            </a:r>
          </a:p>
        </p:txBody>
      </p:sp>
      <p:sp>
        <p:nvSpPr>
          <p:cNvPr id="2" name="">
            <a:extLst xmlns:a="http://schemas.openxmlformats.org/drawingml/2006/main">
              <a:ext uri="{FF2B5EF4-FFF2-40B4-BE49-F238E27FC236}">
                <a16:creationId xmlns:a16="http://schemas.microsoft.com/office/drawing/2014/main" id="{B65AF622-AD8D-4EBA-99B5-99D3328314D7}"/>
              </a:ext>
            </a:extLst>
          </p:cNvPr>
          <p:cNvSpPr>
            <a:spLocks xmlns:a="http://schemas.openxmlformats.org/drawingml/2006/main" noGrp="1"/>
          </p:cNvSpPr>
          <p:nvPr/>
        </p:nvSpPr>
        <p:spPr>
          <a:xfrm xmlns:a="http://schemas.openxmlformats.org/drawingml/2006/main">
            <a:off x="628650" y="9525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00" b="0">
                <a:solidFill>
                  <a:srgbClr val="A9BAC8"/>
                </a:solidFill>
                <a:latin typeface="Avenir Next"/>
                <a:ea typeface="Avenir Next"/>
                <a:cs typeface="Avenir Next"/>
              </a:defRPr>
            </a:pPr>
            <a:r>
              <a:rPr sz="1500" b="0">
                <a:solidFill>
                  <a:srgbClr val="A9BAC8"/>
                </a:solidFill>
                <a:latin typeface="Avenir Next"/>
                <a:ea typeface="Avenir Next"/>
                <a:cs typeface="Avenir Next"/>
              </a:rPr>
              <a:t>These names separate operator experience, deterministic switching, and video processing</a:t>
            </a:r>
          </a:p>
        </p:txBody>
      </p:sp>
      <p:sp>
        <p:nvSpPr>
          <p:cNvPr id="3" name="">
            <a:extLst xmlns:a="http://schemas.openxmlformats.org/drawingml/2006/main">
              <a:ext uri="{FF2B5EF4-FFF2-40B4-BE49-F238E27FC236}">
                <a16:creationId xmlns:a16="http://schemas.microsoft.com/office/drawing/2014/main" id="{62A14CF3-BFEF-4235-90BE-96A593A953E9}"/>
              </a:ext>
            </a:extLst>
          </p:cNvPr>
          <p:cNvSpPr>
            <a:spLocks xmlns:a="http://schemas.openxmlformats.org/drawingml/2006/main" noGrp="1"/>
          </p:cNvSpPr>
          <p:nvPr/>
        </p:nvSpPr>
        <p:spPr>
          <a:xfrm xmlns:a="http://schemas.openxmlformats.org/drawingml/2006/main">
            <a:off x="609600" y="1362075"/>
            <a:ext cx="819150" cy="38100"/>
          </a:xfrm>
          <a:prstGeom xmlns:a="http://schemas.openxmlformats.org/drawingml/2006/main" prst="rect">
            <a:avLst/>
          </a:prstGeom>
          <a:solidFill xmlns:a="http://schemas.openxmlformats.org/drawingml/2006/main">
            <a:srgbClr val="36D4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F7CE9AA-3EBC-4EA2-9825-32710B08FF8A}"/>
              </a:ext>
            </a:extLst>
          </p:cNvPr>
          <p:cNvSpPr>
            <a:spLocks xmlns:a="http://schemas.openxmlformats.org/drawingml/2006/main" noGrp="1"/>
          </p:cNvSpPr>
          <p:nvPr/>
        </p:nvSpPr>
        <p:spPr>
          <a:xfrm xmlns:a="http://schemas.openxmlformats.org/drawingml/2006/main">
            <a:off x="857250" y="2171700"/>
            <a:ext cx="2571750" cy="1381125"/>
          </a:xfrm>
          <a:prstGeom xmlns:a="http://schemas.openxmlformats.org/drawingml/2006/main" prst="roundRect">
            <a:avLst>
              <a:gd name="adj" fmla="val 5517"/>
            </a:avLst>
          </a:prstGeom>
          <a:solidFill xmlns:a="http://schemas.openxmlformats.org/drawingml/2006/main">
            <a:srgbClr val="13283A"/>
          </a:solidFill>
          <a:ln xmlns:a="http://schemas.openxmlformats.org/drawingml/2006/main" w="14288">
            <a:solidFill>
              <a:srgbClr val="48C7FF"/>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2100" b="1">
                <a:solidFill>
                  <a:srgbClr val="F4F8FB"/>
                </a:solidFill>
                <a:latin typeface="Avenir Next"/>
                <a:ea typeface="Avenir Next"/>
                <a:cs typeface="Avenir Next"/>
              </a:defRPr>
            </a:pPr>
            <a:r>
              <a:rPr sz="2100" b="1">
                <a:solidFill>
                  <a:srgbClr val="F4F8FB"/>
                </a:solidFill>
                <a:latin typeface="Avenir Next"/>
                <a:ea typeface="Avenir Next"/>
                <a:cs typeface="Avenir Next"/>
              </a:rPr>
              <a:t>SKIN</a:t>
            </a:r>
          </a:p>
        </p:txBody>
      </p:sp>
      <p:sp>
        <p:nvSpPr>
          <p:cNvPr id="5" name="">
            <a:extLst xmlns:a="http://schemas.openxmlformats.org/drawingml/2006/main">
              <a:ext uri="{FF2B5EF4-FFF2-40B4-BE49-F238E27FC236}">
                <a16:creationId xmlns:a16="http://schemas.microsoft.com/office/drawing/2014/main" id="{DFECE747-A4A2-4E95-90E1-09A22E0A6A2C}"/>
              </a:ext>
            </a:extLst>
          </p:cNvPr>
          <p:cNvSpPr>
            <a:spLocks xmlns:a="http://schemas.openxmlformats.org/drawingml/2006/main" noGrp="1"/>
          </p:cNvSpPr>
          <p:nvPr/>
        </p:nvSpPr>
        <p:spPr>
          <a:xfrm xmlns:a="http://schemas.openxmlformats.org/drawingml/2006/main">
            <a:off x="1000125" y="3667125"/>
            <a:ext cx="228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350" b="0">
                <a:solidFill>
                  <a:srgbClr val="A9BAC8"/>
                </a:solidFill>
                <a:latin typeface="Avenir Next"/>
                <a:ea typeface="Avenir Next"/>
                <a:cs typeface="Avenir Next"/>
              </a:defRPr>
            </a:pPr>
            <a:r>
              <a:rPr sz="1350" b="0">
                <a:solidFill>
                  <a:srgbClr val="A9BAC8"/>
                </a:solidFill>
                <a:latin typeface="Avenir Next"/>
                <a:ea typeface="Avenir Next"/>
                <a:cs typeface="Avenir Next"/>
              </a:rPr>
              <a:t>Buttons, layouts, macros, tally, operator workflow</a:t>
            </a:r>
          </a:p>
        </p:txBody>
      </p:sp>
      <p:sp>
        <p:nvSpPr>
          <p:cNvPr id="6" name="">
            <a:extLst xmlns:a="http://schemas.openxmlformats.org/drawingml/2006/main">
              <a:ext uri="{FF2B5EF4-FFF2-40B4-BE49-F238E27FC236}">
                <a16:creationId xmlns:a16="http://schemas.microsoft.com/office/drawing/2014/main" id="{99924985-2673-440D-84C3-2DBDF0317968}"/>
              </a:ext>
            </a:extLst>
          </p:cNvPr>
          <p:cNvSpPr>
            <a:spLocks xmlns:a="http://schemas.openxmlformats.org/drawingml/2006/main" noGrp="1"/>
          </p:cNvSpPr>
          <p:nvPr/>
        </p:nvSpPr>
        <p:spPr>
          <a:xfrm xmlns:a="http://schemas.openxmlformats.org/drawingml/2006/main">
            <a:off x="4810125" y="1962150"/>
            <a:ext cx="2571750" cy="1809750"/>
          </a:xfrm>
          <a:prstGeom xmlns:a="http://schemas.openxmlformats.org/drawingml/2006/main" prst="roundRect">
            <a:avLst>
              <a:gd name="adj" fmla="val 4211"/>
            </a:avLst>
          </a:prstGeom>
          <a:solidFill xmlns:a="http://schemas.openxmlformats.org/drawingml/2006/main">
            <a:srgbClr val="11332F"/>
          </a:solidFill>
          <a:ln xmlns:a="http://schemas.openxmlformats.org/drawingml/2006/main" w="23813">
            <a:solidFill>
              <a:srgbClr val="36D4C5"/>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2325" b="1">
                <a:solidFill>
                  <a:srgbClr val="F4F8FB"/>
                </a:solidFill>
                <a:latin typeface="Avenir Next"/>
                <a:ea typeface="Avenir Next"/>
                <a:cs typeface="Avenir Next"/>
              </a:defRPr>
            </a:pPr>
            <a:r>
              <a:rPr sz="2325" b="1">
                <a:solidFill>
                  <a:srgbClr val="F4F8FB"/>
                </a:solidFill>
                <a:latin typeface="Avenir Next"/>
                <a:ea typeface="Avenir Next"/>
                <a:cs typeface="Avenir Next"/>
              </a:rPr>
              <a:t>MXL CORE</a:t>
            </a:r>
          </a:p>
        </p:txBody>
      </p:sp>
      <p:sp>
        <p:nvSpPr>
          <p:cNvPr id="7" name="">
            <a:extLst xmlns:a="http://schemas.openxmlformats.org/drawingml/2006/main">
              <a:ext uri="{FF2B5EF4-FFF2-40B4-BE49-F238E27FC236}">
                <a16:creationId xmlns:a16="http://schemas.microsoft.com/office/drawing/2014/main" id="{96A19CC8-081E-4B50-B086-8F595BCD4259}"/>
              </a:ext>
            </a:extLst>
          </p:cNvPr>
          <p:cNvSpPr>
            <a:spLocks xmlns:a="http://schemas.openxmlformats.org/drawingml/2006/main" noGrp="1"/>
          </p:cNvSpPr>
          <p:nvPr/>
        </p:nvSpPr>
        <p:spPr>
          <a:xfrm xmlns:a="http://schemas.openxmlformats.org/drawingml/2006/main">
            <a:off x="4943475" y="3943350"/>
            <a:ext cx="2305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350" b="0">
                <a:solidFill>
                  <a:srgbClr val="A9BAC8"/>
                </a:solidFill>
                <a:latin typeface="Avenir Next"/>
                <a:ea typeface="Avenir Next"/>
                <a:cs typeface="Avenir Next"/>
              </a:defRPr>
            </a:pPr>
            <a:r>
              <a:rPr sz="1350" b="0">
                <a:solidFill>
                  <a:srgbClr val="A9BAC8"/>
                </a:solidFill>
                <a:latin typeface="Avenir Next"/>
                <a:ea typeface="Avenir Next"/>
                <a:cs typeface="Avenir Next"/>
              </a:rPr>
              <a:t>Timing, source selection, stable flows, state, health</a:t>
            </a:r>
          </a:p>
        </p:txBody>
      </p:sp>
      <p:sp>
        <p:nvSpPr>
          <p:cNvPr id="8" name="">
            <a:extLst xmlns:a="http://schemas.openxmlformats.org/drawingml/2006/main">
              <a:ext uri="{FF2B5EF4-FFF2-40B4-BE49-F238E27FC236}">
                <a16:creationId xmlns:a16="http://schemas.microsoft.com/office/drawing/2014/main" id="{10863DED-F436-4399-AC84-6CCA630E7833}"/>
              </a:ext>
            </a:extLst>
          </p:cNvPr>
          <p:cNvSpPr>
            <a:spLocks xmlns:a="http://schemas.openxmlformats.org/drawingml/2006/main" noGrp="1"/>
          </p:cNvSpPr>
          <p:nvPr/>
        </p:nvSpPr>
        <p:spPr>
          <a:xfrm xmlns:a="http://schemas.openxmlformats.org/drawingml/2006/main">
            <a:off x="8763000" y="2171700"/>
            <a:ext cx="2571750" cy="1381125"/>
          </a:xfrm>
          <a:prstGeom xmlns:a="http://schemas.openxmlformats.org/drawingml/2006/main" prst="roundRect">
            <a:avLst>
              <a:gd name="adj" fmla="val 5517"/>
            </a:avLst>
          </a:prstGeom>
          <a:solidFill xmlns:a="http://schemas.openxmlformats.org/drawingml/2006/main">
            <a:srgbClr val="332A1C"/>
          </a:solidFill>
          <a:ln xmlns:a="http://schemas.openxmlformats.org/drawingml/2006/main" w="14288">
            <a:solidFill>
              <a:srgbClr val="FFB85C"/>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950" b="1">
                <a:solidFill>
                  <a:srgbClr val="F4F8FB"/>
                </a:solidFill>
                <a:latin typeface="Avenir Next"/>
                <a:ea typeface="Avenir Next"/>
                <a:cs typeface="Avenir Next"/>
              </a:defRPr>
            </a:pPr>
            <a:r>
              <a:rPr sz="1950" b="1">
                <a:solidFill>
                  <a:srgbClr val="F4F8FB"/>
                </a:solidFill>
                <a:latin typeface="Avenir Next"/>
                <a:ea typeface="Avenir Next"/>
                <a:cs typeface="Avenir Next"/>
              </a:rPr>
              <a:t>MEDIA FUNCTION</a:t>
            </a:r>
          </a:p>
        </p:txBody>
      </p:sp>
      <p:sp>
        <p:nvSpPr>
          <p:cNvPr id="9" name="">
            <a:extLst xmlns:a="http://schemas.openxmlformats.org/drawingml/2006/main">
              <a:ext uri="{FF2B5EF4-FFF2-40B4-BE49-F238E27FC236}">
                <a16:creationId xmlns:a16="http://schemas.microsoft.com/office/drawing/2014/main" id="{5CF786B0-4917-40A1-B8AE-89A9B90D64FF}"/>
              </a:ext>
            </a:extLst>
          </p:cNvPr>
          <p:cNvSpPr>
            <a:spLocks xmlns:a="http://schemas.openxmlformats.org/drawingml/2006/main" noGrp="1"/>
          </p:cNvSpPr>
          <p:nvPr/>
        </p:nvSpPr>
        <p:spPr>
          <a:xfrm xmlns:a="http://schemas.openxmlformats.org/drawingml/2006/main">
            <a:off x="8858250" y="3667125"/>
            <a:ext cx="238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350" b="0">
                <a:solidFill>
                  <a:srgbClr val="A9BAC8"/>
                </a:solidFill>
                <a:latin typeface="Avenir Next"/>
                <a:ea typeface="Avenir Next"/>
                <a:cs typeface="Avenir Next"/>
              </a:defRPr>
            </a:pPr>
            <a:r>
              <a:rPr sz="1350" b="0">
                <a:solidFill>
                  <a:srgbClr val="A9BAC8"/>
                </a:solidFill>
                <a:latin typeface="Avenir Next"/>
                <a:ea typeface="Avenir Next"/>
                <a:cs typeface="Avenir Next"/>
              </a:rPr>
              <a:t>Graphics, replay, ingest, multiview, encode, transport</a:t>
            </a:r>
          </a:p>
        </p:txBody>
      </p:sp>
      <p:cxnSp>
        <p:nvCxnSpPr>
          <p:cNvPr id="60" name="">
            <a:extLst xmlns:a="http://schemas.openxmlformats.org/drawingml/2006/main">
              <a:ext uri="{FF2B5EF4-FFF2-40B4-BE49-F238E27FC236}">
                <a16:creationId xmlns:a16="http://schemas.microsoft.com/office/drawing/2014/main" id="{67948545-E74F-4FB3-9B9B-6E360EEB2932}"/>
              </a:ext>
            </a:extLst>
          </p:cNvPr>
          <p:cNvCxnSpPr>
            <a:stCxn xmlns:a="http://schemas.openxmlformats.org/drawingml/2006/main" id="4" idx="3"/>
            <a:endCxn xmlns:a="http://schemas.openxmlformats.org/drawingml/2006/main" id="6" idx="1"/>
          </p:cNvCxnSpPr>
          <p:nvPr/>
        </p:nvCxnSpPr>
        <p:spPr>
          <a:xfrm xmlns:a="http://schemas.openxmlformats.org/drawingml/2006/main">
            <a:off x="3429000" y="2862263"/>
            <a:ext cx="1381125" cy="4763"/>
          </a:xfrm>
          <a:prstGeom xmlns:a="http://schemas.openxmlformats.org/drawingml/2006/main" prst="straightConnector1">
            <a:avLst/>
          </a:prstGeom>
          <a:ln xmlns:a="http://schemas.openxmlformats.org/drawingml/2006/main" w="20955">
            <a:solidFill>
              <a:srgbClr val="48C7FF"/>
            </a:solidFill>
            <a:prstDash val="solid"/>
            <a:headEnd type="none" w="med" len="med"/>
            <a:tailEnd type="triangle" w="sm" len="sm"/>
          </a:ln>
        </p:spPr>
      </p:cxnSp>
      <p:cxnSp>
        <p:nvCxnSpPr>
          <p:cNvPr id="61" name="">
            <a:extLst xmlns:a="http://schemas.openxmlformats.org/drawingml/2006/main">
              <a:ext uri="{FF2B5EF4-FFF2-40B4-BE49-F238E27FC236}">
                <a16:creationId xmlns:a16="http://schemas.microsoft.com/office/drawing/2014/main" id="{C321E11F-D49D-4C44-A98E-CFD47F4A7A41}"/>
              </a:ext>
            </a:extLst>
          </p:cNvPr>
          <p:cNvCxnSpPr>
            <a:stCxn xmlns:a="http://schemas.openxmlformats.org/drawingml/2006/main" id="6" idx="3"/>
            <a:endCxn xmlns:a="http://schemas.openxmlformats.org/drawingml/2006/main" id="8" idx="1"/>
          </p:cNvCxnSpPr>
          <p:nvPr/>
        </p:nvCxnSpPr>
        <p:spPr>
          <a:xfrm xmlns:a="http://schemas.openxmlformats.org/drawingml/2006/main" flipV="1">
            <a:off x="7381875" y="2862263"/>
            <a:ext cx="1381125" cy="4763"/>
          </a:xfrm>
          <a:prstGeom xmlns:a="http://schemas.openxmlformats.org/drawingml/2006/main" prst="straightConnector1">
            <a:avLst/>
          </a:prstGeom>
          <a:ln xmlns:a="http://schemas.openxmlformats.org/drawingml/2006/main" w="20955">
            <a:solidFill>
              <a:srgbClr val="FFB85C"/>
            </a:solidFill>
            <a:prstDash val="solid"/>
            <a:headEnd type="none" w="med" len="med"/>
            <a:tailEnd type="triangle" w="sm" len="sm"/>
          </a:ln>
        </p:spPr>
      </p:cxnSp>
      <p:sp>
        <p:nvSpPr>
          <p:cNvPr id="12" name="">
            <a:extLst xmlns:a="http://schemas.openxmlformats.org/drawingml/2006/main">
              <a:ext uri="{FF2B5EF4-FFF2-40B4-BE49-F238E27FC236}">
                <a16:creationId xmlns:a16="http://schemas.microsoft.com/office/drawing/2014/main" id="{412F2335-8577-4C96-B02A-9C244726BF1B}"/>
              </a:ext>
            </a:extLst>
          </p:cNvPr>
          <p:cNvSpPr>
            <a:spLocks xmlns:a="http://schemas.openxmlformats.org/drawingml/2006/main" noGrp="1"/>
          </p:cNvSpPr>
          <p:nvPr/>
        </p:nvSpPr>
        <p:spPr>
          <a:xfrm xmlns:a="http://schemas.openxmlformats.org/drawingml/2006/main">
            <a:off x="3581400" y="2514600"/>
            <a:ext cx="1066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125" b="1">
                <a:solidFill>
                  <a:srgbClr val="48C7FF"/>
                </a:solidFill>
                <a:latin typeface="Avenir Next"/>
                <a:ea typeface="Avenir Next"/>
                <a:cs typeface="Avenir Next"/>
              </a:defRPr>
            </a:pPr>
            <a:r>
              <a:rPr sz="1125" b="1">
                <a:solidFill>
                  <a:srgbClr val="48C7FF"/>
                </a:solidFill>
                <a:latin typeface="Avenir Next"/>
                <a:ea typeface="Avenir Next"/>
                <a:cs typeface="Avenir Next"/>
              </a:rPr>
              <a:t>Control API</a:t>
            </a:r>
          </a:p>
        </p:txBody>
      </p:sp>
      <p:sp>
        <p:nvSpPr>
          <p:cNvPr id="13" name="">
            <a:extLst xmlns:a="http://schemas.openxmlformats.org/drawingml/2006/main">
              <a:ext uri="{FF2B5EF4-FFF2-40B4-BE49-F238E27FC236}">
                <a16:creationId xmlns:a16="http://schemas.microsoft.com/office/drawing/2014/main" id="{D17C590C-510D-47DC-867E-4F0C4FDCD447}"/>
              </a:ext>
            </a:extLst>
          </p:cNvPr>
          <p:cNvSpPr>
            <a:spLocks xmlns:a="http://schemas.openxmlformats.org/drawingml/2006/main" noGrp="1"/>
          </p:cNvSpPr>
          <p:nvPr/>
        </p:nvSpPr>
        <p:spPr>
          <a:xfrm xmlns:a="http://schemas.openxmlformats.org/drawingml/2006/main">
            <a:off x="7524750" y="2514600"/>
            <a:ext cx="1066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125" b="1">
                <a:solidFill>
                  <a:srgbClr val="FFB85C"/>
                </a:solidFill>
                <a:latin typeface="Avenir Next"/>
                <a:ea typeface="Avenir Next"/>
                <a:cs typeface="Avenir Next"/>
              </a:defRPr>
            </a:pPr>
            <a:r>
              <a:rPr sz="1125" b="1">
                <a:solidFill>
                  <a:srgbClr val="FFB85C"/>
                </a:solidFill>
                <a:latin typeface="Avenir Next"/>
                <a:ea typeface="Avenir Next"/>
                <a:cs typeface="Avenir Next"/>
              </a:rPr>
              <a:t>MXL flows</a:t>
            </a:r>
          </a:p>
        </p:txBody>
      </p:sp>
      <p:sp>
        <p:nvSpPr>
          <p:cNvPr id="14" name="">
            <a:extLst xmlns:a="http://schemas.openxmlformats.org/drawingml/2006/main">
              <a:ext uri="{FF2B5EF4-FFF2-40B4-BE49-F238E27FC236}">
                <a16:creationId xmlns:a16="http://schemas.microsoft.com/office/drawing/2014/main" id="{53CF280E-171A-43B8-9EE0-F10D17361054}"/>
              </a:ext>
            </a:extLst>
          </p:cNvPr>
          <p:cNvSpPr>
            <a:spLocks xmlns:a="http://schemas.openxmlformats.org/drawingml/2006/main" noGrp="1"/>
          </p:cNvSpPr>
          <p:nvPr/>
        </p:nvSpPr>
        <p:spPr>
          <a:xfrm xmlns:a="http://schemas.openxmlformats.org/drawingml/2006/main">
            <a:off x="1447800" y="5257800"/>
            <a:ext cx="9296400" cy="14288"/>
          </a:xfrm>
          <a:prstGeom xmlns:a="http://schemas.openxmlformats.org/drawingml/2006/main" prst="rect">
            <a:avLst/>
          </a:prstGeom>
          <a:solidFill xmlns:a="http://schemas.openxmlformats.org/drawingml/2006/main">
            <a:srgbClr val="29415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A1A7566-F202-411F-9E7B-719FFC328107}"/>
              </a:ext>
            </a:extLst>
          </p:cNvPr>
          <p:cNvSpPr>
            <a:spLocks xmlns:a="http://schemas.openxmlformats.org/drawingml/2006/main" noGrp="1"/>
          </p:cNvSpPr>
          <p:nvPr/>
        </p:nvSpPr>
        <p:spPr>
          <a:xfrm xmlns:a="http://schemas.openxmlformats.org/drawingml/2006/main">
            <a:off x="1333500" y="5467350"/>
            <a:ext cx="952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875" b="1">
                <a:solidFill>
                  <a:srgbClr val="F4F8FB"/>
                </a:solidFill>
                <a:latin typeface="Avenir Next"/>
                <a:ea typeface="Avenir Next"/>
                <a:cs typeface="Avenir Next"/>
              </a:defRPr>
            </a:pPr>
            <a:r>
              <a:rPr sz="1875" b="1">
                <a:solidFill>
                  <a:srgbClr val="F4F8FB"/>
                </a:solidFill>
                <a:latin typeface="Avenir Next"/>
                <a:ea typeface="Avenir Next"/>
                <a:cs typeface="Avenir Next"/>
              </a:rPr>
              <a:t>A Skin can disappear without interrupting media. A function can change without redesigning the switcher.</a:t>
            </a:r>
          </a:p>
        </p:txBody>
      </p:sp>
      <p:sp>
        <p:nvSpPr>
          <p:cNvPr id="16" name="">
            <a:extLst xmlns:a="http://schemas.openxmlformats.org/drawingml/2006/main">
              <a:ext uri="{FF2B5EF4-FFF2-40B4-BE49-F238E27FC236}">
                <a16:creationId xmlns:a16="http://schemas.microsoft.com/office/drawing/2014/main" id="{21F18E2C-B6BD-4464-97BB-A03F8D949E41}"/>
              </a:ext>
            </a:extLst>
          </p:cNvPr>
          <p:cNvSpPr>
            <a:spLocks xmlns:a="http://schemas.openxmlformats.org/drawingml/2006/main" noGrp="1"/>
          </p:cNvSpPr>
          <p:nvPr/>
        </p:nvSpPr>
        <p:spPr>
          <a:xfrm xmlns:a="http://schemas.openxmlformats.org/drawingml/2006/main">
            <a:off x="609600" y="64674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Proposed extension model</a:t>
            </a:r>
          </a:p>
        </p:txBody>
      </p:sp>
      <p:sp>
        <p:nvSpPr>
          <p:cNvPr id="17" name="">
            <a:extLst xmlns:a="http://schemas.openxmlformats.org/drawingml/2006/main">
              <a:ext uri="{FF2B5EF4-FFF2-40B4-BE49-F238E27FC236}">
                <a16:creationId xmlns:a16="http://schemas.microsoft.com/office/drawing/2014/main" id="{AC5ED529-A481-43AC-B8C8-627428E4E9C6}"/>
              </a:ext>
            </a:extLst>
          </p:cNvPr>
          <p:cNvSpPr>
            <a:spLocks xmlns:a="http://schemas.openxmlformats.org/drawingml/2006/main" noGrp="1"/>
          </p:cNvSpPr>
          <p:nvPr/>
        </p:nvSpPr>
        <p:spPr>
          <a:xfrm xmlns:a="http://schemas.openxmlformats.org/drawingml/2006/main">
            <a:off x="11239500" y="6467475"/>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r">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04</a:t>
            </a:r>
          </a:p>
        </p:txBody>
      </p:sp>
    </p:spTree>
    <p:extLst>
      <p:ext uri="{BB962C8B-B14F-4D97-AF65-F5344CB8AC3E}">
        <p14:creationId xmlns:p14="http://schemas.microsoft.com/office/powerpoint/2010/main" val="1730719729"/>
      </p:ext>
    </p:extLst>
  </p:cSld>
</p:sld>
</file>

<file path=ppt/slides/slide5.xml><?xml version="1.0" encoding="utf-8"?>
<p:sld xmlns:p="http://schemas.openxmlformats.org/presentationml/2006/main">
  <p:cSld>
    <p:bg>
      <p:bgPr>
        <a:solidFill xmlns:a="http://schemas.openxmlformats.org/drawingml/2006/main">
          <a:srgbClr val="0C172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DC96968-9D5A-4A99-B70A-3176EFA17414}"/>
              </a:ext>
            </a:extLst>
          </p:cNvPr>
          <p:cNvSpPr>
            <a:spLocks xmlns:a="http://schemas.openxmlformats.org/drawingml/2006/main" noGrp="1"/>
          </p:cNvSpPr>
          <p:nvPr/>
        </p:nvSpPr>
        <p:spPr>
          <a:xfrm xmlns:a="http://schemas.openxmlformats.org/drawingml/2006/main">
            <a:off x="609600" y="361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3150" b="1">
                <a:solidFill>
                  <a:srgbClr val="F4F8FB"/>
                </a:solidFill>
                <a:latin typeface="Avenir Next"/>
                <a:ea typeface="Avenir Next"/>
                <a:cs typeface="Avenir Next"/>
              </a:defRPr>
            </a:pPr>
            <a:r>
              <a:rPr sz="3150" b="1">
                <a:solidFill>
                  <a:srgbClr val="F4F8FB"/>
                </a:solidFill>
                <a:latin typeface="Avenir Next"/>
                <a:ea typeface="Avenir Next"/>
                <a:cs typeface="Avenir Next"/>
              </a:rPr>
              <a:t>The MXL-native media path</a:t>
            </a:r>
          </a:p>
        </p:txBody>
      </p:sp>
      <p:sp>
        <p:nvSpPr>
          <p:cNvPr id="2" name="">
            <a:extLst xmlns:a="http://schemas.openxmlformats.org/drawingml/2006/main">
              <a:ext uri="{FF2B5EF4-FFF2-40B4-BE49-F238E27FC236}">
                <a16:creationId xmlns:a16="http://schemas.microsoft.com/office/drawing/2014/main" id="{54B5D7B5-E6F2-4B6D-B2C2-40E565E9B214}"/>
              </a:ext>
            </a:extLst>
          </p:cNvPr>
          <p:cNvSpPr>
            <a:spLocks xmlns:a="http://schemas.openxmlformats.org/drawingml/2006/main" noGrp="1"/>
          </p:cNvSpPr>
          <p:nvPr/>
        </p:nvSpPr>
        <p:spPr>
          <a:xfrm xmlns:a="http://schemas.openxmlformats.org/drawingml/2006/main">
            <a:off x="628650" y="9525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00" b="0">
                <a:solidFill>
                  <a:srgbClr val="A9BAC8"/>
                </a:solidFill>
                <a:latin typeface="Avenir Next"/>
                <a:ea typeface="Avenir Next"/>
                <a:cs typeface="Avenir Next"/>
              </a:defRPr>
            </a:pPr>
            <a:r>
              <a:rPr sz="1500" b="0">
                <a:solidFill>
                  <a:srgbClr val="A9BAC8"/>
                </a:solidFill>
                <a:latin typeface="Avenir Next"/>
                <a:ea typeface="Avenir Next"/>
                <a:cs typeface="Avenir Next"/>
              </a:rPr>
              <a:t>v210 remains the canonical video format inside each production node</a:t>
            </a:r>
          </a:p>
        </p:txBody>
      </p:sp>
      <p:sp>
        <p:nvSpPr>
          <p:cNvPr id="3" name="">
            <a:extLst xmlns:a="http://schemas.openxmlformats.org/drawingml/2006/main">
              <a:ext uri="{FF2B5EF4-FFF2-40B4-BE49-F238E27FC236}">
                <a16:creationId xmlns:a16="http://schemas.microsoft.com/office/drawing/2014/main" id="{047BA7E2-00D7-4EFC-98CD-0BF70C9E67E1}"/>
              </a:ext>
            </a:extLst>
          </p:cNvPr>
          <p:cNvSpPr>
            <a:spLocks xmlns:a="http://schemas.openxmlformats.org/drawingml/2006/main" noGrp="1"/>
          </p:cNvSpPr>
          <p:nvPr/>
        </p:nvSpPr>
        <p:spPr>
          <a:xfrm xmlns:a="http://schemas.openxmlformats.org/drawingml/2006/main">
            <a:off x="609600" y="1362075"/>
            <a:ext cx="819150" cy="38100"/>
          </a:xfrm>
          <a:prstGeom xmlns:a="http://schemas.openxmlformats.org/drawingml/2006/main" prst="rect">
            <a:avLst/>
          </a:prstGeom>
          <a:solidFill xmlns:a="http://schemas.openxmlformats.org/drawingml/2006/main">
            <a:srgbClr val="36D4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E32028F-2C8C-4DB9-992F-2CF73A94D56A}"/>
              </a:ext>
            </a:extLst>
          </p:cNvPr>
          <p:cNvSpPr>
            <a:spLocks xmlns:a="http://schemas.openxmlformats.org/drawingml/2006/main" noGrp="1"/>
          </p:cNvSpPr>
          <p:nvPr/>
        </p:nvSpPr>
        <p:spPr>
          <a:xfrm xmlns:a="http://schemas.openxmlformats.org/drawingml/2006/main">
            <a:off x="590550" y="2514600"/>
            <a:ext cx="2095500" cy="1123950"/>
          </a:xfrm>
          <a:prstGeom xmlns:a="http://schemas.openxmlformats.org/drawingml/2006/main" prst="roundRect">
            <a:avLst>
              <a:gd name="adj" fmla="val 6780"/>
            </a:avLst>
          </a:prstGeom>
          <a:solidFill xmlns:a="http://schemas.openxmlformats.org/drawingml/2006/main">
            <a:srgbClr val="101F2C"/>
          </a:solidFill>
          <a:ln xmlns:a="http://schemas.openxmlformats.org/drawingml/2006/main" w="14288">
            <a:solidFill>
              <a:srgbClr val="294151"/>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TRANSPORT I/O</a:t>
            </a:r>
          </a:p>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NDI · SRT · SDI</a:t>
            </a:r>
          </a:p>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WebRTC</a:t>
            </a:r>
          </a:p>
        </p:txBody>
      </p:sp>
      <p:sp>
        <p:nvSpPr>
          <p:cNvPr id="5" name="">
            <a:extLst xmlns:a="http://schemas.openxmlformats.org/drawingml/2006/main">
              <a:ext uri="{FF2B5EF4-FFF2-40B4-BE49-F238E27FC236}">
                <a16:creationId xmlns:a16="http://schemas.microsoft.com/office/drawing/2014/main" id="{B355622B-0170-4A5A-A177-0C028403E9BF}"/>
              </a:ext>
            </a:extLst>
          </p:cNvPr>
          <p:cNvSpPr>
            <a:spLocks xmlns:a="http://schemas.openxmlformats.org/drawingml/2006/main" noGrp="1"/>
          </p:cNvSpPr>
          <p:nvPr/>
        </p:nvSpPr>
        <p:spPr>
          <a:xfrm xmlns:a="http://schemas.openxmlformats.org/drawingml/2006/main">
            <a:off x="3352800" y="2324100"/>
            <a:ext cx="2381250" cy="1504950"/>
          </a:xfrm>
          <a:prstGeom xmlns:a="http://schemas.openxmlformats.org/drawingml/2006/main" prst="roundRect">
            <a:avLst>
              <a:gd name="adj" fmla="val 5063"/>
            </a:avLst>
          </a:prstGeom>
          <a:solidFill xmlns:a="http://schemas.openxmlformats.org/drawingml/2006/main">
            <a:srgbClr val="103238"/>
          </a:solidFill>
          <a:ln xmlns:a="http://schemas.openxmlformats.org/drawingml/2006/main" w="23813">
            <a:solidFill>
              <a:srgbClr val="36D4C5"/>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650" b="1">
                <a:solidFill>
                  <a:srgbClr val="F4F8FB"/>
                </a:solidFill>
                <a:latin typeface="Avenir Next"/>
                <a:ea typeface="Avenir Next"/>
                <a:cs typeface="Avenir Next"/>
              </a:defRPr>
            </a:pPr>
            <a:r>
              <a:rPr sz="1650" b="1">
                <a:solidFill>
                  <a:srgbClr val="F4F8FB"/>
                </a:solidFill>
                <a:latin typeface="Avenir Next"/>
                <a:ea typeface="Avenir Next"/>
                <a:cs typeface="Avenir Next"/>
              </a:rPr>
              <a:t>MXL FLOW</a:t>
            </a:r>
          </a:p>
          <a:p xmlns:a="http://schemas.openxmlformats.org/drawingml/2006/main">
            <a:pPr algn="ctr">
              <a:buNone/>
              <a:defRPr sz="1650" b="1">
                <a:solidFill>
                  <a:srgbClr val="F4F8FB"/>
                </a:solidFill>
                <a:latin typeface="Avenir Next"/>
                <a:ea typeface="Avenir Next"/>
                <a:cs typeface="Avenir Next"/>
              </a:defRPr>
            </a:pPr>
            <a:r>
              <a:rPr sz="1650" b="1">
                <a:solidFill>
                  <a:srgbClr val="F4F8FB"/>
                </a:solidFill>
                <a:latin typeface="Avenir Next"/>
                <a:ea typeface="Avenir Next"/>
                <a:cs typeface="Avenir Next"/>
              </a:rPr>
              <a:t>v210 · Float32 · ANC</a:t>
            </a:r>
          </a:p>
        </p:txBody>
      </p:sp>
      <p:sp>
        <p:nvSpPr>
          <p:cNvPr id="6" name="">
            <a:extLst xmlns:a="http://schemas.openxmlformats.org/drawingml/2006/main">
              <a:ext uri="{FF2B5EF4-FFF2-40B4-BE49-F238E27FC236}">
                <a16:creationId xmlns:a16="http://schemas.microsoft.com/office/drawing/2014/main" id="{72FC6E91-3216-49A8-921E-7F77F852595B}"/>
              </a:ext>
            </a:extLst>
          </p:cNvPr>
          <p:cNvSpPr>
            <a:spLocks xmlns:a="http://schemas.openxmlformats.org/drawingml/2006/main" noGrp="1"/>
          </p:cNvSpPr>
          <p:nvPr/>
        </p:nvSpPr>
        <p:spPr>
          <a:xfrm xmlns:a="http://schemas.openxmlformats.org/drawingml/2006/main">
            <a:off x="6438900" y="2324100"/>
            <a:ext cx="2266950" cy="1504950"/>
          </a:xfrm>
          <a:prstGeom xmlns:a="http://schemas.openxmlformats.org/drawingml/2006/main" prst="roundRect">
            <a:avLst>
              <a:gd name="adj" fmla="val 5063"/>
            </a:avLst>
          </a:prstGeom>
          <a:solidFill xmlns:a="http://schemas.openxmlformats.org/drawingml/2006/main">
            <a:srgbClr val="173226"/>
          </a:solidFill>
          <a:ln xmlns:a="http://schemas.openxmlformats.org/drawingml/2006/main" w="23813">
            <a:solidFill>
              <a:srgbClr val="83E28E"/>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725" b="1">
                <a:solidFill>
                  <a:srgbClr val="F4F8FB"/>
                </a:solidFill>
                <a:latin typeface="Avenir Next"/>
                <a:ea typeface="Avenir Next"/>
                <a:cs typeface="Avenir Next"/>
              </a:defRPr>
            </a:pPr>
            <a:r>
              <a:rPr sz="1725" b="1">
                <a:solidFill>
                  <a:srgbClr val="F4F8FB"/>
                </a:solidFill>
                <a:latin typeface="Avenir Next"/>
                <a:ea typeface="Avenir Next"/>
                <a:cs typeface="Avenir Next"/>
              </a:rPr>
              <a:t>SWITCHER CORE</a:t>
            </a:r>
          </a:p>
          <a:p xmlns:a="http://schemas.openxmlformats.org/drawingml/2006/main">
            <a:pPr algn="ctr">
              <a:buNone/>
              <a:defRPr sz="1725" b="1">
                <a:solidFill>
                  <a:srgbClr val="F4F8FB"/>
                </a:solidFill>
                <a:latin typeface="Avenir Next"/>
                <a:ea typeface="Avenir Next"/>
                <a:cs typeface="Avenir Next"/>
              </a:defRPr>
            </a:pPr>
            <a:r>
              <a:rPr sz="1725" b="1">
                <a:solidFill>
                  <a:srgbClr val="F4F8FB"/>
                </a:solidFill>
                <a:latin typeface="Avenir Next"/>
                <a:ea typeface="Avenir Next"/>
                <a:cs typeface="Avenir Next"/>
              </a:rPr>
              <a:t>PGM · PVW</a:t>
            </a:r>
          </a:p>
          <a:p xmlns:a="http://schemas.openxmlformats.org/drawingml/2006/main">
            <a:pPr algn="ctr">
              <a:buNone/>
              <a:defRPr sz="1725" b="1">
                <a:solidFill>
                  <a:srgbClr val="F4F8FB"/>
                </a:solidFill>
                <a:latin typeface="Avenir Next"/>
                <a:ea typeface="Avenir Next"/>
                <a:cs typeface="Avenir Next"/>
              </a:defRPr>
            </a:pPr>
            <a:r>
              <a:rPr sz="1725" b="1">
                <a:solidFill>
                  <a:srgbClr val="F4F8FB"/>
                </a:solidFill>
                <a:latin typeface="Avenir Next"/>
                <a:ea typeface="Avenir Next"/>
                <a:cs typeface="Avenir Next"/>
              </a:rPr>
              <a:t>frame sync</a:t>
            </a:r>
          </a:p>
        </p:txBody>
      </p:sp>
      <p:sp>
        <p:nvSpPr>
          <p:cNvPr id="7" name="">
            <a:extLst xmlns:a="http://schemas.openxmlformats.org/drawingml/2006/main">
              <a:ext uri="{FF2B5EF4-FFF2-40B4-BE49-F238E27FC236}">
                <a16:creationId xmlns:a16="http://schemas.microsoft.com/office/drawing/2014/main" id="{9D27D365-2D4D-4DD1-ADF4-E85A02BC490B}"/>
              </a:ext>
            </a:extLst>
          </p:cNvPr>
          <p:cNvSpPr>
            <a:spLocks xmlns:a="http://schemas.openxmlformats.org/drawingml/2006/main" noGrp="1"/>
          </p:cNvSpPr>
          <p:nvPr/>
        </p:nvSpPr>
        <p:spPr>
          <a:xfrm xmlns:a="http://schemas.openxmlformats.org/drawingml/2006/main">
            <a:off x="9448800" y="2514600"/>
            <a:ext cx="2152650" cy="1123950"/>
          </a:xfrm>
          <a:prstGeom xmlns:a="http://schemas.openxmlformats.org/drawingml/2006/main" prst="roundRect">
            <a:avLst>
              <a:gd name="adj" fmla="val 6780"/>
            </a:avLst>
          </a:prstGeom>
          <a:solidFill xmlns:a="http://schemas.openxmlformats.org/drawingml/2006/main">
            <a:srgbClr val="101F2C"/>
          </a:solidFill>
          <a:ln xmlns:a="http://schemas.openxmlformats.org/drawingml/2006/main" w="14288">
            <a:solidFill>
              <a:srgbClr val="294151"/>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OUTPUT FUNCTIONS</a:t>
            </a:r>
          </a:p>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Encode · SDI</a:t>
            </a:r>
          </a:p>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Stream · record</a:t>
            </a:r>
          </a:p>
        </p:txBody>
      </p:sp>
      <p:cxnSp>
        <p:nvCxnSpPr>
          <p:cNvPr id="56" name="">
            <a:extLst xmlns:a="http://schemas.openxmlformats.org/drawingml/2006/main">
              <a:ext uri="{FF2B5EF4-FFF2-40B4-BE49-F238E27FC236}">
                <a16:creationId xmlns:a16="http://schemas.microsoft.com/office/drawing/2014/main" id="{F4ED995C-73DA-42A0-9690-8B2A276D0AEE}"/>
              </a:ext>
            </a:extLst>
          </p:cNvPr>
          <p:cNvCxnSpPr>
            <a:stCxn xmlns:a="http://schemas.openxmlformats.org/drawingml/2006/main" id="4" idx="3"/>
            <a:endCxn xmlns:a="http://schemas.openxmlformats.org/drawingml/2006/main" id="5" idx="1"/>
          </p:cNvCxnSpPr>
          <p:nvPr/>
        </p:nvCxnSpPr>
        <p:spPr>
          <a:xfrm xmlns:a="http://schemas.openxmlformats.org/drawingml/2006/main">
            <a:off x="2686050" y="3076575"/>
            <a:ext cx="666750" cy="0"/>
          </a:xfrm>
          <a:prstGeom xmlns:a="http://schemas.openxmlformats.org/drawingml/2006/main" prst="straightConnector1">
            <a:avLst/>
          </a:prstGeom>
          <a:ln xmlns:a="http://schemas.openxmlformats.org/drawingml/2006/main" w="20955">
            <a:solidFill>
              <a:srgbClr val="48C7FF"/>
            </a:solidFill>
            <a:prstDash val="solid"/>
            <a:headEnd type="none" w="med" len="med"/>
            <a:tailEnd type="triangle" w="sm" len="sm"/>
          </a:ln>
        </p:spPr>
      </p:cxnSp>
      <p:cxnSp>
        <p:nvCxnSpPr>
          <p:cNvPr id="57" name="">
            <a:extLst xmlns:a="http://schemas.openxmlformats.org/drawingml/2006/main">
              <a:ext uri="{FF2B5EF4-FFF2-40B4-BE49-F238E27FC236}">
                <a16:creationId xmlns:a16="http://schemas.microsoft.com/office/drawing/2014/main" id="{CDAD422E-E082-4AC0-92F8-B6919EE6D80C}"/>
              </a:ext>
            </a:extLst>
          </p:cNvPr>
          <p:cNvCxnSpPr>
            <a:stCxn xmlns:a="http://schemas.openxmlformats.org/drawingml/2006/main" id="5" idx="3"/>
            <a:endCxn xmlns:a="http://schemas.openxmlformats.org/drawingml/2006/main" id="6" idx="1"/>
          </p:cNvCxnSpPr>
          <p:nvPr/>
        </p:nvCxnSpPr>
        <p:spPr>
          <a:xfrm xmlns:a="http://schemas.openxmlformats.org/drawingml/2006/main">
            <a:off x="5734050" y="3076575"/>
            <a:ext cx="704850" cy="0"/>
          </a:xfrm>
          <a:prstGeom xmlns:a="http://schemas.openxmlformats.org/drawingml/2006/main" prst="straightConnector1">
            <a:avLst/>
          </a:prstGeom>
          <a:ln xmlns:a="http://schemas.openxmlformats.org/drawingml/2006/main" w="20955">
            <a:solidFill>
              <a:srgbClr val="36D4C5"/>
            </a:solidFill>
            <a:prstDash val="solid"/>
            <a:headEnd type="none" w="med" len="med"/>
            <a:tailEnd type="triangle" w="sm" len="sm"/>
          </a:ln>
        </p:spPr>
      </p:cxnSp>
      <p:cxnSp>
        <p:nvCxnSpPr>
          <p:cNvPr id="58" name="">
            <a:extLst xmlns:a="http://schemas.openxmlformats.org/drawingml/2006/main">
              <a:ext uri="{FF2B5EF4-FFF2-40B4-BE49-F238E27FC236}">
                <a16:creationId xmlns:a16="http://schemas.microsoft.com/office/drawing/2014/main" id="{89D2F1C1-7A8B-4509-A56A-BFF8F15756CD}"/>
              </a:ext>
            </a:extLst>
          </p:cNvPr>
          <p:cNvCxnSpPr>
            <a:stCxn xmlns:a="http://schemas.openxmlformats.org/drawingml/2006/main" id="6" idx="3"/>
            <a:endCxn xmlns:a="http://schemas.openxmlformats.org/drawingml/2006/main" id="7" idx="1"/>
          </p:cNvCxnSpPr>
          <p:nvPr/>
        </p:nvCxnSpPr>
        <p:spPr>
          <a:xfrm xmlns:a="http://schemas.openxmlformats.org/drawingml/2006/main">
            <a:off x="8705850" y="3076575"/>
            <a:ext cx="742950" cy="0"/>
          </a:xfrm>
          <a:prstGeom xmlns:a="http://schemas.openxmlformats.org/drawingml/2006/main" prst="straightConnector1">
            <a:avLst/>
          </a:prstGeom>
          <a:ln xmlns:a="http://schemas.openxmlformats.org/drawingml/2006/main" w="20955">
            <a:solidFill>
              <a:srgbClr val="FFB85C"/>
            </a:solidFill>
            <a:prstDash val="solid"/>
            <a:headEnd type="none" w="med" len="med"/>
            <a:tailEnd type="triangle" w="sm" len="sm"/>
          </a:ln>
        </p:spPr>
      </p:cxnSp>
      <p:sp>
        <p:nvSpPr>
          <p:cNvPr id="11" name="">
            <a:extLst xmlns:a="http://schemas.openxmlformats.org/drawingml/2006/main">
              <a:ext uri="{FF2B5EF4-FFF2-40B4-BE49-F238E27FC236}">
                <a16:creationId xmlns:a16="http://schemas.microsoft.com/office/drawing/2014/main" id="{794BAC6D-85D7-4A4E-B87F-2C0C28F3E733}"/>
              </a:ext>
            </a:extLst>
          </p:cNvPr>
          <p:cNvSpPr>
            <a:spLocks xmlns:a="http://schemas.openxmlformats.org/drawingml/2006/main" noGrp="1"/>
          </p:cNvSpPr>
          <p:nvPr/>
        </p:nvSpPr>
        <p:spPr>
          <a:xfrm xmlns:a="http://schemas.openxmlformats.org/drawingml/2006/main">
            <a:off x="1143000" y="3914775"/>
            <a:ext cx="1143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125" b="0">
                <a:solidFill>
                  <a:srgbClr val="A9BAC8"/>
                </a:solidFill>
                <a:latin typeface="Avenir Next"/>
                <a:ea typeface="Avenir Next"/>
                <a:cs typeface="Avenir Next"/>
              </a:defRPr>
            </a:pPr>
            <a:r>
              <a:rPr sz="1125" b="0">
                <a:solidFill>
                  <a:srgbClr val="A9BAC8"/>
                </a:solidFill>
                <a:latin typeface="Avenir Next"/>
                <a:ea typeface="Avenir Next"/>
                <a:cs typeface="Avenir Next"/>
              </a:rPr>
              <a:t>Decode once</a:t>
            </a:r>
          </a:p>
        </p:txBody>
      </p:sp>
      <p:sp>
        <p:nvSpPr>
          <p:cNvPr id="12" name="">
            <a:extLst xmlns:a="http://schemas.openxmlformats.org/drawingml/2006/main">
              <a:ext uri="{FF2B5EF4-FFF2-40B4-BE49-F238E27FC236}">
                <a16:creationId xmlns:a16="http://schemas.microsoft.com/office/drawing/2014/main" id="{CD180EFF-C306-41EF-9F9F-36DDEF616115}"/>
              </a:ext>
            </a:extLst>
          </p:cNvPr>
          <p:cNvSpPr>
            <a:spLocks xmlns:a="http://schemas.openxmlformats.org/drawingml/2006/main" noGrp="1"/>
          </p:cNvSpPr>
          <p:nvPr/>
        </p:nvSpPr>
        <p:spPr>
          <a:xfrm xmlns:a="http://schemas.openxmlformats.org/drawingml/2006/main">
            <a:off x="3905250" y="4067175"/>
            <a:ext cx="1295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125" b="0">
                <a:solidFill>
                  <a:srgbClr val="A9BAC8"/>
                </a:solidFill>
                <a:latin typeface="Avenir Next"/>
                <a:ea typeface="Avenir Next"/>
                <a:cs typeface="Avenir Next"/>
              </a:defRPr>
            </a:pPr>
            <a:r>
              <a:rPr sz="1125" b="0">
                <a:solidFill>
                  <a:srgbClr val="A9BAC8"/>
                </a:solidFill>
                <a:latin typeface="Avenir Next"/>
                <a:ea typeface="Avenir Next"/>
                <a:cs typeface="Avenir Next"/>
              </a:rPr>
              <a:t>Shared memory</a:t>
            </a:r>
          </a:p>
        </p:txBody>
      </p:sp>
      <p:sp>
        <p:nvSpPr>
          <p:cNvPr id="13" name="">
            <a:extLst xmlns:a="http://schemas.openxmlformats.org/drawingml/2006/main">
              <a:ext uri="{FF2B5EF4-FFF2-40B4-BE49-F238E27FC236}">
                <a16:creationId xmlns:a16="http://schemas.microsoft.com/office/drawing/2014/main" id="{ACB1E479-8CF0-4A4E-AC35-CE8FD4B6B803}"/>
              </a:ext>
            </a:extLst>
          </p:cNvPr>
          <p:cNvSpPr>
            <a:spLocks xmlns:a="http://schemas.openxmlformats.org/drawingml/2006/main" noGrp="1"/>
          </p:cNvSpPr>
          <p:nvPr/>
        </p:nvSpPr>
        <p:spPr>
          <a:xfrm xmlns:a="http://schemas.openxmlformats.org/drawingml/2006/main">
            <a:off x="6657975" y="4067175"/>
            <a:ext cx="1828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125" b="0">
                <a:solidFill>
                  <a:srgbClr val="A9BAC8"/>
                </a:solidFill>
                <a:latin typeface="Avenir Next"/>
                <a:ea typeface="Avenir Next"/>
                <a:cs typeface="Avenir Next"/>
              </a:defRPr>
            </a:pPr>
            <a:r>
              <a:rPr sz="1125" b="0">
                <a:solidFill>
                  <a:srgbClr val="A9BAC8"/>
                </a:solidFill>
                <a:latin typeface="Avenir Next"/>
                <a:ea typeface="Avenir Next"/>
                <a:cs typeface="Avenir Next"/>
              </a:rPr>
              <a:t>Select and route</a:t>
            </a:r>
          </a:p>
        </p:txBody>
      </p:sp>
      <p:sp>
        <p:nvSpPr>
          <p:cNvPr id="14" name="">
            <a:extLst xmlns:a="http://schemas.openxmlformats.org/drawingml/2006/main">
              <a:ext uri="{FF2B5EF4-FFF2-40B4-BE49-F238E27FC236}">
                <a16:creationId xmlns:a16="http://schemas.microsoft.com/office/drawing/2014/main" id="{D20389A0-9C31-4716-86D2-5A01FE8D954E}"/>
              </a:ext>
            </a:extLst>
          </p:cNvPr>
          <p:cNvSpPr>
            <a:spLocks xmlns:a="http://schemas.openxmlformats.org/drawingml/2006/main" noGrp="1"/>
          </p:cNvSpPr>
          <p:nvPr/>
        </p:nvSpPr>
        <p:spPr>
          <a:xfrm xmlns:a="http://schemas.openxmlformats.org/drawingml/2006/main">
            <a:off x="9982200" y="3914775"/>
            <a:ext cx="1143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125" b="0">
                <a:solidFill>
                  <a:srgbClr val="A9BAC8"/>
                </a:solidFill>
                <a:latin typeface="Avenir Next"/>
                <a:ea typeface="Avenir Next"/>
                <a:cs typeface="Avenir Next"/>
              </a:defRPr>
            </a:pPr>
            <a:r>
              <a:rPr sz="1125" b="0">
                <a:solidFill>
                  <a:srgbClr val="A9BAC8"/>
                </a:solidFill>
                <a:latin typeface="Avenir Next"/>
                <a:ea typeface="Avenir Next"/>
                <a:cs typeface="Avenir Next"/>
              </a:rPr>
              <a:t>Encode once</a:t>
            </a:r>
          </a:p>
        </p:txBody>
      </p:sp>
      <p:sp>
        <p:nvSpPr>
          <p:cNvPr id="15" name="">
            <a:extLst xmlns:a="http://schemas.openxmlformats.org/drawingml/2006/main">
              <a:ext uri="{FF2B5EF4-FFF2-40B4-BE49-F238E27FC236}">
                <a16:creationId xmlns:a16="http://schemas.microsoft.com/office/drawing/2014/main" id="{DB704390-74F9-42C0-B93A-B742E12B955D}"/>
              </a:ext>
            </a:extLst>
          </p:cNvPr>
          <p:cNvSpPr>
            <a:spLocks xmlns:a="http://schemas.openxmlformats.org/drawingml/2006/main" noGrp="1"/>
          </p:cNvSpPr>
          <p:nvPr/>
        </p:nvSpPr>
        <p:spPr>
          <a:xfrm xmlns:a="http://schemas.openxmlformats.org/drawingml/2006/main">
            <a:off x="742950" y="49720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125" b="1">
                <a:solidFill>
                  <a:srgbClr val="36D4C5"/>
                </a:solidFill>
                <a:latin typeface="Avenir Next"/>
                <a:ea typeface="Avenir Next"/>
                <a:cs typeface="Avenir Next"/>
              </a:defRPr>
            </a:pPr>
            <a:r>
              <a:rPr sz="1125" b="1">
                <a:solidFill>
                  <a:srgbClr val="36D4C5"/>
                </a:solidFill>
                <a:latin typeface="Avenir Next"/>
                <a:ea typeface="Avenir Next"/>
                <a:cs typeface="Avenir Next"/>
              </a:rPr>
              <a:t>OPERATING RULE</a:t>
            </a:r>
          </a:p>
        </p:txBody>
      </p:sp>
      <p:sp>
        <p:nvSpPr>
          <p:cNvPr id="16" name="">
            <a:extLst xmlns:a="http://schemas.openxmlformats.org/drawingml/2006/main">
              <a:ext uri="{FF2B5EF4-FFF2-40B4-BE49-F238E27FC236}">
                <a16:creationId xmlns:a16="http://schemas.microsoft.com/office/drawing/2014/main" id="{DB2AD32E-9169-4BE8-9953-0769B6A0C2DF}"/>
              </a:ext>
            </a:extLst>
          </p:cNvPr>
          <p:cNvSpPr>
            <a:spLocks xmlns:a="http://schemas.openxmlformats.org/drawingml/2006/main" noGrp="1"/>
          </p:cNvSpPr>
          <p:nvPr/>
        </p:nvSpPr>
        <p:spPr>
          <a:xfrm xmlns:a="http://schemas.openxmlformats.org/drawingml/2006/main">
            <a:off x="742950" y="52578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950" b="1">
                <a:solidFill>
                  <a:srgbClr val="F4F8FB"/>
                </a:solidFill>
                <a:latin typeface="Avenir Next"/>
                <a:ea typeface="Avenir Next"/>
                <a:cs typeface="Avenir Next"/>
              </a:defRPr>
            </a:pPr>
            <a:r>
              <a:rPr sz="1950" b="1">
                <a:solidFill>
                  <a:srgbClr val="F4F8FB"/>
                </a:solidFill>
                <a:latin typeface="Avenir Next"/>
                <a:ea typeface="Avenir Next"/>
                <a:cs typeface="Avenir Next"/>
              </a:rPr>
              <a:t>Transport and compression conversions happen at the edges. Local functions exchange native MXL grains.</a:t>
            </a:r>
          </a:p>
        </p:txBody>
      </p:sp>
      <p:sp>
        <p:nvSpPr>
          <p:cNvPr id="17" name="">
            <a:extLst xmlns:a="http://schemas.openxmlformats.org/drawingml/2006/main">
              <a:ext uri="{FF2B5EF4-FFF2-40B4-BE49-F238E27FC236}">
                <a16:creationId xmlns:a16="http://schemas.microsoft.com/office/drawing/2014/main" id="{350F3E39-7D0A-4B77-8948-58632559740D}"/>
              </a:ext>
            </a:extLst>
          </p:cNvPr>
          <p:cNvSpPr>
            <a:spLocks xmlns:a="http://schemas.openxmlformats.org/drawingml/2006/main" noGrp="1"/>
          </p:cNvSpPr>
          <p:nvPr/>
        </p:nvSpPr>
        <p:spPr>
          <a:xfrm xmlns:a="http://schemas.openxmlformats.org/drawingml/2006/main">
            <a:off x="609600" y="64674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MXL v1 operating point: progressive v210/v210a video, Float32 audio, ANC</a:t>
            </a:r>
          </a:p>
        </p:txBody>
      </p:sp>
      <p:sp>
        <p:nvSpPr>
          <p:cNvPr id="18" name="">
            <a:extLst xmlns:a="http://schemas.openxmlformats.org/drawingml/2006/main">
              <a:ext uri="{FF2B5EF4-FFF2-40B4-BE49-F238E27FC236}">
                <a16:creationId xmlns:a16="http://schemas.microsoft.com/office/drawing/2014/main" id="{256D8C33-637A-4B29-8340-14D12C4E4E9D}"/>
              </a:ext>
            </a:extLst>
          </p:cNvPr>
          <p:cNvSpPr>
            <a:spLocks xmlns:a="http://schemas.openxmlformats.org/drawingml/2006/main" noGrp="1"/>
          </p:cNvSpPr>
          <p:nvPr/>
        </p:nvSpPr>
        <p:spPr>
          <a:xfrm xmlns:a="http://schemas.openxmlformats.org/drawingml/2006/main">
            <a:off x="11239500" y="6467475"/>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r">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05</a:t>
            </a:r>
          </a:p>
        </p:txBody>
      </p:sp>
    </p:spTree>
    <p:extLst>
      <p:ext uri="{BB962C8B-B14F-4D97-AF65-F5344CB8AC3E}">
        <p14:creationId xmlns:p14="http://schemas.microsoft.com/office/powerpoint/2010/main" val="2106007633"/>
      </p:ext>
    </p:extLst>
  </p:cSld>
</p:sld>
</file>

<file path=ppt/slides/slide6.xml><?xml version="1.0" encoding="utf-8"?>
<p:sld xmlns:p="http://schemas.openxmlformats.org/presentationml/2006/main">
  <p:cSld>
    <p:bg>
      <p:bgPr>
        <a:solidFill xmlns:a="http://schemas.openxmlformats.org/drawingml/2006/main">
          <a:srgbClr val="07101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70FF4AC-DDED-428D-B9F6-94D13AB9CE04}"/>
              </a:ext>
            </a:extLst>
          </p:cNvPr>
          <p:cNvSpPr>
            <a:spLocks xmlns:a="http://schemas.openxmlformats.org/drawingml/2006/main" noGrp="1"/>
          </p:cNvSpPr>
          <p:nvPr/>
        </p:nvSpPr>
        <p:spPr>
          <a:xfrm xmlns:a="http://schemas.openxmlformats.org/drawingml/2006/main">
            <a:off x="609600" y="361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3150" b="1">
                <a:solidFill>
                  <a:srgbClr val="F4F8FB"/>
                </a:solidFill>
                <a:latin typeface="Avenir Next"/>
                <a:ea typeface="Avenir Next"/>
                <a:cs typeface="Avenir Next"/>
              </a:defRPr>
            </a:pPr>
            <a:r>
              <a:rPr sz="3150" b="1">
                <a:solidFill>
                  <a:srgbClr val="F4F8FB"/>
                </a:solidFill>
                <a:latin typeface="Avenir Next"/>
                <a:ea typeface="Avenir Next"/>
                <a:cs typeface="Avenir Next"/>
              </a:rPr>
              <a:t>The OBS-MXL bridge already exists</a:t>
            </a:r>
          </a:p>
        </p:txBody>
      </p:sp>
      <p:sp>
        <p:nvSpPr>
          <p:cNvPr id="2" name="">
            <a:extLst xmlns:a="http://schemas.openxmlformats.org/drawingml/2006/main">
              <a:ext uri="{FF2B5EF4-FFF2-40B4-BE49-F238E27FC236}">
                <a16:creationId xmlns:a16="http://schemas.microsoft.com/office/drawing/2014/main" id="{68B35511-8961-49D7-B0A7-39C365E5E2EA}"/>
              </a:ext>
            </a:extLst>
          </p:cNvPr>
          <p:cNvSpPr>
            <a:spLocks xmlns:a="http://schemas.openxmlformats.org/drawingml/2006/main" noGrp="1"/>
          </p:cNvSpPr>
          <p:nvPr/>
        </p:nvSpPr>
        <p:spPr>
          <a:xfrm xmlns:a="http://schemas.openxmlformats.org/drawingml/2006/main">
            <a:off x="628650" y="9525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00" b="0">
                <a:solidFill>
                  <a:srgbClr val="A9BAC8"/>
                </a:solidFill>
                <a:latin typeface="Avenir Next"/>
                <a:ea typeface="Avenir Next"/>
                <a:cs typeface="Avenir Next"/>
              </a:defRPr>
            </a:pPr>
            <a:r>
              <a:rPr sz="1500" b="0">
                <a:solidFill>
                  <a:srgbClr val="A9BAC8"/>
                </a:solidFill>
                <a:latin typeface="Avenir Next"/>
                <a:ea typeface="Avenir Next"/>
                <a:cs typeface="Avenir Next"/>
              </a:rPr>
              <a:t>Mathieu Rochon's public fork proves that OBS can consume and publish MXL flows</a:t>
            </a:r>
          </a:p>
        </p:txBody>
      </p:sp>
      <p:sp>
        <p:nvSpPr>
          <p:cNvPr id="3" name="">
            <a:extLst xmlns:a="http://schemas.openxmlformats.org/drawingml/2006/main">
              <a:ext uri="{FF2B5EF4-FFF2-40B4-BE49-F238E27FC236}">
                <a16:creationId xmlns:a16="http://schemas.microsoft.com/office/drawing/2014/main" id="{9EC5F718-68AB-474D-92EE-450CEDF9D01C}"/>
              </a:ext>
            </a:extLst>
          </p:cNvPr>
          <p:cNvSpPr>
            <a:spLocks xmlns:a="http://schemas.openxmlformats.org/drawingml/2006/main" noGrp="1"/>
          </p:cNvSpPr>
          <p:nvPr/>
        </p:nvSpPr>
        <p:spPr>
          <a:xfrm xmlns:a="http://schemas.openxmlformats.org/drawingml/2006/main">
            <a:off x="609600" y="1362075"/>
            <a:ext cx="819150" cy="38100"/>
          </a:xfrm>
          <a:prstGeom xmlns:a="http://schemas.openxmlformats.org/drawingml/2006/main" prst="rect">
            <a:avLst/>
          </a:prstGeom>
          <a:solidFill xmlns:a="http://schemas.openxmlformats.org/drawingml/2006/main">
            <a:srgbClr val="36D4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445514D-B854-41D1-876A-81ECAA9B0DB8}"/>
              </a:ext>
            </a:extLst>
          </p:cNvPr>
          <p:cNvSpPr>
            <a:spLocks xmlns:a="http://schemas.openxmlformats.org/drawingml/2006/main" noGrp="1"/>
          </p:cNvSpPr>
          <p:nvPr/>
        </p:nvSpPr>
        <p:spPr>
          <a:xfrm xmlns:a="http://schemas.openxmlformats.org/drawingml/2006/main">
            <a:off x="590550" y="1562100"/>
            <a:ext cx="5810250" cy="4095750"/>
          </a:xfrm>
          <a:prstGeom xmlns:a="http://schemas.openxmlformats.org/drawingml/2006/main" prst="roundRect">
            <a:avLst>
              <a:gd name="adj" fmla="val 1860"/>
            </a:avLst>
          </a:prstGeom>
          <a:solidFill xmlns:a="http://schemas.openxmlformats.org/drawingml/2006/main">
            <a:srgbClr val="101F2C"/>
          </a:solidFill>
          <a:ln xmlns:a="http://schemas.openxmlformats.org/drawingml/2006/main" w="9525">
            <a:solidFill>
              <a:srgbClr val="294151"/>
            </a:solidFill>
          </a:ln>
        </p:spPr>
      </p:sp>
      <p:sp>
        <p:nvSpPr>
          <p:cNvPr id="5" name="">
            <a:extLst xmlns:a="http://schemas.openxmlformats.org/drawingml/2006/main">
              <a:ext uri="{FF2B5EF4-FFF2-40B4-BE49-F238E27FC236}">
                <a16:creationId xmlns:a16="http://schemas.microsoft.com/office/drawing/2014/main" id="{82295E2B-305E-4B85-BC0B-A94AE02D2291}"/>
              </a:ext>
            </a:extLst>
          </p:cNvPr>
          <p:cNvSpPr>
            <a:spLocks xmlns:a="http://schemas.openxmlformats.org/drawingml/2006/main" noGrp="1"/>
          </p:cNvSpPr>
          <p:nvPr/>
        </p:nvSpPr>
        <p:spPr>
          <a:xfrm xmlns:a="http://schemas.openxmlformats.org/drawingml/2006/main">
            <a:off x="6705600" y="1562100"/>
            <a:ext cx="4895850" cy="4095750"/>
          </a:xfrm>
          <a:prstGeom xmlns:a="http://schemas.openxmlformats.org/drawingml/2006/main" prst="roundRect">
            <a:avLst>
              <a:gd name="adj" fmla="val 1860"/>
            </a:avLst>
          </a:prstGeom>
          <a:solidFill xmlns:a="http://schemas.openxmlformats.org/drawingml/2006/main">
            <a:srgbClr val="101F2C"/>
          </a:solidFill>
          <a:ln xmlns:a="http://schemas.openxmlformats.org/drawingml/2006/main" w="9525">
            <a:solidFill>
              <a:srgbClr val="294151"/>
            </a:solidFill>
          </a:ln>
        </p:spPr>
      </p:sp>
      <p:pic>
        <p:nvPicPr>
          <p:cNvPr id="21" name="">
            <a:extLst xmlns:a="http://schemas.openxmlformats.org/drawingml/2006/main">
              <a:ext uri="{FF2B5EF4-FFF2-40B4-BE49-F238E27FC236}">
                <a16:creationId xmlns:a16="http://schemas.microsoft.com/office/drawing/2014/main" id="{96F31812-AD36-4011-B62E-A936D4485F7D}"/>
              </a:ext>
            </a:extLst>
          </p:cNvPr>
          <p:cNvPicPr>
            <a:picLocks xmlns:a="http://schemas.openxmlformats.org/drawingml/2006/main" noChangeAspect="1"/>
          </p:cNvPicPr>
          <p:nvPr/>
        </p:nvPicPr>
        <p:blipFill>
          <a:blip xmlns:r="http://schemas.openxmlformats.org/officeDocument/2006/relationships" xmlns:a="http://schemas.openxmlformats.org/drawingml/2006/main" r:embed="Rc3994e13fbc1444f"/>
          <a:stretch xmlns:a="http://schemas.openxmlformats.org/drawingml/2006/main"/>
        </p:blipFill>
        <p:spPr>
          <a:xfrm xmlns:a="http://schemas.openxmlformats.org/drawingml/2006/main">
            <a:off x="1395935" y="1781175"/>
            <a:ext cx="4199480" cy="3581400"/>
          </a:xfrm>
          <a:prstGeom xmlns:a="http://schemas.openxmlformats.org/drawingml/2006/main" prst="roundRect">
            <a:avLst>
              <a:gd name="adj" fmla="val 2128"/>
            </a:avLst>
          </a:prstGeom>
        </p:spPr>
      </p:pic>
      <p:pic>
        <p:nvPicPr>
          <p:cNvPr id="22" name="">
            <a:extLst xmlns:a="http://schemas.openxmlformats.org/drawingml/2006/main">
              <a:ext uri="{FF2B5EF4-FFF2-40B4-BE49-F238E27FC236}">
                <a16:creationId xmlns:a16="http://schemas.microsoft.com/office/drawing/2014/main" id="{A011E4DE-49AD-45A9-829E-B98612D12DE3}"/>
              </a:ext>
            </a:extLst>
          </p:cNvPr>
          <p:cNvPicPr>
            <a:picLocks xmlns:a="http://schemas.openxmlformats.org/drawingml/2006/main" noChangeAspect="1"/>
          </p:cNvPicPr>
          <p:nvPr/>
        </p:nvPicPr>
        <p:blipFill>
          <a:blip xmlns:r="http://schemas.openxmlformats.org/officeDocument/2006/relationships" xmlns:a="http://schemas.openxmlformats.org/drawingml/2006/main" r:embed="R4ce0bc07b5a24029"/>
          <a:stretch xmlns:a="http://schemas.openxmlformats.org/drawingml/2006/main"/>
        </p:blipFill>
        <p:spPr>
          <a:xfrm xmlns:a="http://schemas.openxmlformats.org/drawingml/2006/main">
            <a:off x="7148222" y="1781175"/>
            <a:ext cx="4010605" cy="3581400"/>
          </a:xfrm>
          <a:prstGeom xmlns:a="http://schemas.openxmlformats.org/drawingml/2006/main" prst="roundRect">
            <a:avLst>
              <a:gd name="adj" fmla="val 2128"/>
            </a:avLst>
          </a:prstGeom>
        </p:spPr>
      </p:pic>
      <p:sp>
        <p:nvSpPr>
          <p:cNvPr id="8" name="">
            <a:extLst xmlns:a="http://schemas.openxmlformats.org/drawingml/2006/main">
              <a:ext uri="{FF2B5EF4-FFF2-40B4-BE49-F238E27FC236}">
                <a16:creationId xmlns:a16="http://schemas.microsoft.com/office/drawing/2014/main" id="{F8A64A99-5C38-48F3-A833-F65A5C39386A}"/>
              </a:ext>
            </a:extLst>
          </p:cNvPr>
          <p:cNvSpPr>
            <a:spLocks xmlns:a="http://schemas.openxmlformats.org/drawingml/2006/main" noGrp="1"/>
          </p:cNvSpPr>
          <p:nvPr/>
        </p:nvSpPr>
        <p:spPr>
          <a:xfrm xmlns:a="http://schemas.openxmlformats.org/drawingml/2006/main">
            <a:off x="800100" y="573405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350" b="1">
                <a:solidFill>
                  <a:srgbClr val="48C7FF"/>
                </a:solidFill>
                <a:latin typeface="Avenir Next"/>
                <a:ea typeface="Avenir Next"/>
                <a:cs typeface="Avenir Next"/>
              </a:defRPr>
            </a:pPr>
            <a:r>
              <a:rPr sz="1350" b="1">
                <a:solidFill>
                  <a:srgbClr val="48C7FF"/>
                </a:solidFill>
                <a:latin typeface="Avenir Next"/>
                <a:ea typeface="Avenir Next"/>
                <a:cs typeface="Avenir Next"/>
              </a:rPr>
              <a:t>MXL source</a:t>
            </a:r>
          </a:p>
        </p:txBody>
      </p:sp>
      <p:sp>
        <p:nvSpPr>
          <p:cNvPr id="9" name="">
            <a:extLst xmlns:a="http://schemas.openxmlformats.org/drawingml/2006/main">
              <a:ext uri="{FF2B5EF4-FFF2-40B4-BE49-F238E27FC236}">
                <a16:creationId xmlns:a16="http://schemas.microsoft.com/office/drawing/2014/main" id="{EFB706CC-A551-4137-B669-D02EE588D163}"/>
              </a:ext>
            </a:extLst>
          </p:cNvPr>
          <p:cNvSpPr>
            <a:spLocks xmlns:a="http://schemas.openxmlformats.org/drawingml/2006/main" noGrp="1"/>
          </p:cNvSpPr>
          <p:nvPr/>
        </p:nvSpPr>
        <p:spPr>
          <a:xfrm xmlns:a="http://schemas.openxmlformats.org/drawingml/2006/main">
            <a:off x="6972300" y="573405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350" b="1">
                <a:solidFill>
                  <a:srgbClr val="FFB85C"/>
                </a:solidFill>
                <a:latin typeface="Avenir Next"/>
                <a:ea typeface="Avenir Next"/>
                <a:cs typeface="Avenir Next"/>
              </a:defRPr>
            </a:pPr>
            <a:r>
              <a:rPr sz="1350" b="1">
                <a:solidFill>
                  <a:srgbClr val="FFB85C"/>
                </a:solidFill>
                <a:latin typeface="Avenir Next"/>
                <a:ea typeface="Avenir Next"/>
                <a:cs typeface="Avenir Next"/>
              </a:rPr>
              <a:t>MXL program output</a:t>
            </a:r>
          </a:p>
        </p:txBody>
      </p:sp>
      <p:sp>
        <p:nvSpPr>
          <p:cNvPr id="10" name="">
            <a:extLst xmlns:a="http://schemas.openxmlformats.org/drawingml/2006/main">
              <a:ext uri="{FF2B5EF4-FFF2-40B4-BE49-F238E27FC236}">
                <a16:creationId xmlns:a16="http://schemas.microsoft.com/office/drawing/2014/main" id="{B7F499B0-D71E-4EBD-8E19-3BE7CAA5E615}"/>
              </a:ext>
            </a:extLst>
          </p:cNvPr>
          <p:cNvSpPr>
            <a:spLocks xmlns:a="http://schemas.openxmlformats.org/drawingml/2006/main" noGrp="1"/>
          </p:cNvSpPr>
          <p:nvPr/>
        </p:nvSpPr>
        <p:spPr>
          <a:xfrm xmlns:a="http://schemas.openxmlformats.org/drawingml/2006/main">
            <a:off x="8867775" y="57721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r">
              <a:buNone/>
              <a:defRPr sz="1050" b="0">
                <a:solidFill>
                  <a:srgbClr val="718694"/>
                </a:solidFill>
                <a:latin typeface="Avenir Next"/>
                <a:ea typeface="Avenir Next"/>
                <a:cs typeface="Avenir Next"/>
              </a:defRPr>
            </a:pPr>
            <a:r>
              <a:rPr sz="1050" b="0">
                <a:solidFill>
                  <a:srgbClr val="718694"/>
                </a:solidFill>
                <a:latin typeface="Avenir Next"/>
                <a:ea typeface="Avenir Next"/>
                <a:cs typeface="Avenir Next"/>
              </a:rPr>
              <a:t>rochonma/obs-mxl-plugin-latest</a:t>
            </a:r>
          </a:p>
        </p:txBody>
      </p:sp>
      <p:sp>
        <p:nvSpPr>
          <p:cNvPr id="11" name="">
            <a:extLst xmlns:a="http://schemas.openxmlformats.org/drawingml/2006/main">
              <a:ext uri="{FF2B5EF4-FFF2-40B4-BE49-F238E27FC236}">
                <a16:creationId xmlns:a16="http://schemas.microsoft.com/office/drawing/2014/main" id="{B447D781-FA4D-4A12-92AC-98D3ADF8F9CF}"/>
              </a:ext>
            </a:extLst>
          </p:cNvPr>
          <p:cNvSpPr>
            <a:spLocks xmlns:a="http://schemas.openxmlformats.org/drawingml/2006/main" noGrp="1"/>
          </p:cNvSpPr>
          <p:nvPr/>
        </p:nvSpPr>
        <p:spPr>
          <a:xfrm xmlns:a="http://schemas.openxmlformats.org/drawingml/2006/main">
            <a:off x="609600" y="64674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Public repository screenshots</a:t>
            </a:r>
          </a:p>
        </p:txBody>
      </p:sp>
      <p:sp>
        <p:nvSpPr>
          <p:cNvPr id="12" name="">
            <a:extLst xmlns:a="http://schemas.openxmlformats.org/drawingml/2006/main">
              <a:ext uri="{FF2B5EF4-FFF2-40B4-BE49-F238E27FC236}">
                <a16:creationId xmlns:a16="http://schemas.microsoft.com/office/drawing/2014/main" id="{C18FCCB3-7D60-4375-9AF9-2B9BA4AF9A35}"/>
              </a:ext>
            </a:extLst>
          </p:cNvPr>
          <p:cNvSpPr>
            <a:spLocks xmlns:a="http://schemas.openxmlformats.org/drawingml/2006/main" noGrp="1"/>
          </p:cNvSpPr>
          <p:nvPr/>
        </p:nvSpPr>
        <p:spPr>
          <a:xfrm xmlns:a="http://schemas.openxmlformats.org/drawingml/2006/main">
            <a:off x="11239500" y="6467475"/>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r">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06</a:t>
            </a:r>
          </a:p>
        </p:txBody>
      </p:sp>
    </p:spTree>
    <p:extLst>
      <p:ext uri="{BB962C8B-B14F-4D97-AF65-F5344CB8AC3E}">
        <p14:creationId xmlns:p14="http://schemas.microsoft.com/office/powerpoint/2010/main" val="1752733924"/>
      </p:ext>
    </p:extLst>
  </p:cSld>
</p:sld>
</file>

<file path=ppt/slides/slide7.xml><?xml version="1.0" encoding="utf-8"?>
<p:sld xmlns:p="http://schemas.openxmlformats.org/presentationml/2006/main">
  <p:cSld>
    <p:bg>
      <p:bgPr>
        <a:solidFill xmlns:a="http://schemas.openxmlformats.org/drawingml/2006/main">
          <a:srgbClr val="0C172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68BDD8F-EEB4-43EB-BEBA-E0735C81E960}"/>
              </a:ext>
            </a:extLst>
          </p:cNvPr>
          <p:cNvSpPr>
            <a:spLocks xmlns:a="http://schemas.openxmlformats.org/drawingml/2006/main" noGrp="1"/>
          </p:cNvSpPr>
          <p:nvPr/>
        </p:nvSpPr>
        <p:spPr>
          <a:xfrm xmlns:a="http://schemas.openxmlformats.org/drawingml/2006/main">
            <a:off x="609600" y="361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3150" b="1">
                <a:solidFill>
                  <a:srgbClr val="F4F8FB"/>
                </a:solidFill>
                <a:latin typeface="Avenir Next"/>
                <a:ea typeface="Avenir Next"/>
                <a:cs typeface="Avenir Next"/>
              </a:defRPr>
            </a:pPr>
            <a:r>
              <a:rPr sz="3150" b="1">
                <a:solidFill>
                  <a:srgbClr val="F4F8FB"/>
                </a:solidFill>
                <a:latin typeface="Avenir Next"/>
                <a:ea typeface="Avenir Next"/>
                <a:cs typeface="Avenir Next"/>
              </a:rPr>
              <a:t>What the prototype has proved</a:t>
            </a:r>
          </a:p>
        </p:txBody>
      </p:sp>
      <p:sp>
        <p:nvSpPr>
          <p:cNvPr id="2" name="">
            <a:extLst xmlns:a="http://schemas.openxmlformats.org/drawingml/2006/main">
              <a:ext uri="{FF2B5EF4-FFF2-40B4-BE49-F238E27FC236}">
                <a16:creationId xmlns:a16="http://schemas.microsoft.com/office/drawing/2014/main" id="{E04E4653-C84C-4825-86A7-10D20C955B92}"/>
              </a:ext>
            </a:extLst>
          </p:cNvPr>
          <p:cNvSpPr>
            <a:spLocks xmlns:a="http://schemas.openxmlformats.org/drawingml/2006/main" noGrp="1"/>
          </p:cNvSpPr>
          <p:nvPr/>
        </p:nvSpPr>
        <p:spPr>
          <a:xfrm xmlns:a="http://schemas.openxmlformats.org/drawingml/2006/main">
            <a:off x="628650" y="9525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00" b="0">
                <a:solidFill>
                  <a:srgbClr val="A9BAC8"/>
                </a:solidFill>
                <a:latin typeface="Avenir Next"/>
                <a:ea typeface="Avenir Next"/>
                <a:cs typeface="Avenir Next"/>
              </a:defRPr>
            </a:pPr>
            <a:r>
              <a:rPr sz="1500" b="0">
                <a:solidFill>
                  <a:srgbClr val="A9BAC8"/>
                </a:solidFill>
                <a:latin typeface="Avenir Next"/>
                <a:ea typeface="Avenir Next"/>
                <a:cs typeface="Avenir Next"/>
              </a:rPr>
              <a:t>The current evidence supports a community alpha while keeping important limits visible</a:t>
            </a:r>
          </a:p>
        </p:txBody>
      </p:sp>
      <p:sp>
        <p:nvSpPr>
          <p:cNvPr id="3" name="">
            <a:extLst xmlns:a="http://schemas.openxmlformats.org/drawingml/2006/main">
              <a:ext uri="{FF2B5EF4-FFF2-40B4-BE49-F238E27FC236}">
                <a16:creationId xmlns:a16="http://schemas.microsoft.com/office/drawing/2014/main" id="{993C95B4-A8BB-4798-8DD7-8EB5E9B5E423}"/>
              </a:ext>
            </a:extLst>
          </p:cNvPr>
          <p:cNvSpPr>
            <a:spLocks xmlns:a="http://schemas.openxmlformats.org/drawingml/2006/main" noGrp="1"/>
          </p:cNvSpPr>
          <p:nvPr/>
        </p:nvSpPr>
        <p:spPr>
          <a:xfrm xmlns:a="http://schemas.openxmlformats.org/drawingml/2006/main">
            <a:off x="609600" y="1362075"/>
            <a:ext cx="819150" cy="38100"/>
          </a:xfrm>
          <a:prstGeom xmlns:a="http://schemas.openxmlformats.org/drawingml/2006/main" prst="rect">
            <a:avLst/>
          </a:prstGeom>
          <a:solidFill xmlns:a="http://schemas.openxmlformats.org/drawingml/2006/main">
            <a:srgbClr val="36D4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FF5DF5A-D384-4E9A-88CA-57945B8E935B}"/>
              </a:ext>
            </a:extLst>
          </p:cNvPr>
          <p:cNvSpPr>
            <a:spLocks xmlns:a="http://schemas.openxmlformats.org/drawingml/2006/main" noGrp="1"/>
          </p:cNvSpPr>
          <p:nvPr/>
        </p:nvSpPr>
        <p:spPr>
          <a:xfrm xmlns:a="http://schemas.openxmlformats.org/drawingml/2006/main">
            <a:off x="666750" y="1676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125" b="1">
                <a:solidFill>
                  <a:srgbClr val="83E28E"/>
                </a:solidFill>
                <a:latin typeface="Avenir Next"/>
                <a:ea typeface="Avenir Next"/>
                <a:cs typeface="Avenir Next"/>
              </a:defRPr>
            </a:pPr>
            <a:r>
              <a:rPr sz="1125" b="1">
                <a:solidFill>
                  <a:srgbClr val="83E28E"/>
                </a:solidFill>
                <a:latin typeface="Avenir Next"/>
                <a:ea typeface="Avenir Next"/>
                <a:cs typeface="Avenir Next"/>
              </a:rPr>
              <a:t>CORE</a:t>
            </a:r>
          </a:p>
        </p:txBody>
      </p:sp>
      <p:sp>
        <p:nvSpPr>
          <p:cNvPr id="5" name="">
            <a:extLst xmlns:a="http://schemas.openxmlformats.org/drawingml/2006/main">
              <a:ext uri="{FF2B5EF4-FFF2-40B4-BE49-F238E27FC236}">
                <a16:creationId xmlns:a16="http://schemas.microsoft.com/office/drawing/2014/main" id="{BBD9886A-474D-4BAC-8F7B-2CD3C5C34D08}"/>
              </a:ext>
            </a:extLst>
          </p:cNvPr>
          <p:cNvSpPr>
            <a:spLocks xmlns:a="http://schemas.openxmlformats.org/drawingml/2006/main" noGrp="1"/>
          </p:cNvSpPr>
          <p:nvPr/>
        </p:nvSpPr>
        <p:spPr>
          <a:xfrm xmlns:a="http://schemas.openxmlformats.org/drawingml/2006/main">
            <a:off x="666750" y="2038350"/>
            <a:ext cx="32194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650" b="0">
                <a:solidFill>
                  <a:srgbClr val="F4F8FB"/>
                </a:solidFill>
                <a:latin typeface="Avenir Next"/>
                <a:ea typeface="Avenir Next"/>
                <a:cs typeface="Avenir Next"/>
              </a:defRPr>
            </a:pPr>
            <a:r>
              <a:rPr sz="1650" b="0">
                <a:solidFill>
                  <a:srgbClr val="F4F8FB"/>
                </a:solidFill>
                <a:latin typeface="Avenir Next"/>
                <a:ea typeface="Avenir Next"/>
                <a:cs typeface="Avenir Next"/>
              </a:rPr>
              <a:t>Deterministic switching</a:t>
            </a:r>
          </a:p>
          <a:p xmlns:a="http://schemas.openxmlformats.org/drawingml/2006/main">
            <a:pPr algn="l">
              <a:buNone/>
              <a:defRPr sz="1650" b="0">
                <a:solidFill>
                  <a:srgbClr val="F4F8FB"/>
                </a:solidFill>
                <a:latin typeface="Avenir Next"/>
                <a:ea typeface="Avenir Next"/>
                <a:cs typeface="Avenir Next"/>
              </a:defRPr>
            </a:pPr>
            <a:r>
              <a:rPr sz="1650" b="0">
                <a:solidFill>
                  <a:srgbClr val="F4F8FB"/>
                </a:solidFill>
                <a:latin typeface="Avenir Next"/>
                <a:ea typeface="Avenir Next"/>
                <a:cs typeface="Avenir Next"/>
              </a:rPr>
              <a:t>Eight-hour loaded run</a:t>
            </a:r>
          </a:p>
          <a:p xmlns:a="http://schemas.openxmlformats.org/drawingml/2006/main">
            <a:pPr algn="l">
              <a:buNone/>
              <a:defRPr sz="1650" b="0">
                <a:solidFill>
                  <a:srgbClr val="F4F8FB"/>
                </a:solidFill>
                <a:latin typeface="Avenir Next"/>
                <a:ea typeface="Avenir Next"/>
                <a:cs typeface="Avenir Next"/>
              </a:defRPr>
            </a:pPr>
            <a:r>
              <a:rPr sz="1650" b="0">
                <a:solidFill>
                  <a:srgbClr val="F4F8FB"/>
                </a:solidFill>
                <a:latin typeface="Avenir Next"/>
                <a:ea typeface="Avenir Next"/>
                <a:cs typeface="Avenir Next"/>
              </a:rPr>
              <a:t>Stable PGM and PVW identities</a:t>
            </a:r>
          </a:p>
          <a:p xmlns:a="http://schemas.openxmlformats.org/drawingml/2006/main">
            <a:pPr algn="l">
              <a:buNone/>
              <a:defRPr sz="1650" b="0">
                <a:solidFill>
                  <a:srgbClr val="F4F8FB"/>
                </a:solidFill>
                <a:latin typeface="Avenir Next"/>
                <a:ea typeface="Avenir Next"/>
                <a:cs typeface="Avenir Next"/>
              </a:defRPr>
            </a:pPr>
            <a:r>
              <a:rPr sz="1650" b="0">
                <a:solidFill>
                  <a:srgbClr val="F4F8FB"/>
                </a:solidFill>
                <a:latin typeface="Avenir Next"/>
                <a:ea typeface="Avenir Next"/>
                <a:cs typeface="Avenir Next"/>
              </a:rPr>
              <a:t>Frame-boundary TAKE</a:t>
            </a:r>
          </a:p>
          <a:p xmlns:a="http://schemas.openxmlformats.org/drawingml/2006/main">
            <a:pPr algn="l">
              <a:buNone/>
              <a:defRPr sz="1650" b="0">
                <a:solidFill>
                  <a:srgbClr val="F4F8FB"/>
                </a:solidFill>
                <a:latin typeface="Avenir Next"/>
                <a:ea typeface="Avenir Next"/>
                <a:cs typeface="Avenir Next"/>
              </a:defRPr>
            </a:pPr>
            <a:r>
              <a:rPr sz="1650" b="0">
                <a:solidFill>
                  <a:srgbClr val="F4F8FB"/>
                </a:solidFill>
                <a:latin typeface="Avenir Next"/>
                <a:ea typeface="Avenir Next"/>
                <a:cs typeface="Avenir Next"/>
              </a:rPr>
              <a:t>Adaptive common-window timing</a:t>
            </a:r>
          </a:p>
        </p:txBody>
      </p:sp>
      <p:sp>
        <p:nvSpPr>
          <p:cNvPr id="6" name="">
            <a:extLst xmlns:a="http://schemas.openxmlformats.org/drawingml/2006/main">
              <a:ext uri="{FF2B5EF4-FFF2-40B4-BE49-F238E27FC236}">
                <a16:creationId xmlns:a16="http://schemas.microsoft.com/office/drawing/2014/main" id="{A07EE15E-15F9-4722-A587-952C6DE1F565}"/>
              </a:ext>
            </a:extLst>
          </p:cNvPr>
          <p:cNvSpPr>
            <a:spLocks xmlns:a="http://schemas.openxmlformats.org/drawingml/2006/main" noGrp="1"/>
          </p:cNvSpPr>
          <p:nvPr/>
        </p:nvSpPr>
        <p:spPr>
          <a:xfrm xmlns:a="http://schemas.openxmlformats.org/drawingml/2006/main">
            <a:off x="4219575" y="1676400"/>
            <a:ext cx="14288" cy="3286125"/>
          </a:xfrm>
          <a:prstGeom xmlns:a="http://schemas.openxmlformats.org/drawingml/2006/main" prst="rect">
            <a:avLst/>
          </a:prstGeom>
          <a:solidFill xmlns:a="http://schemas.openxmlformats.org/drawingml/2006/main">
            <a:srgbClr val="294151"/>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DD417FE7-6F96-4F8B-B4EC-1F9392543C5A}"/>
              </a:ext>
            </a:extLst>
          </p:cNvPr>
          <p:cNvSpPr>
            <a:spLocks xmlns:a="http://schemas.openxmlformats.org/drawingml/2006/main" noGrp="1"/>
          </p:cNvSpPr>
          <p:nvPr/>
        </p:nvSpPr>
        <p:spPr>
          <a:xfrm xmlns:a="http://schemas.openxmlformats.org/drawingml/2006/main">
            <a:off x="4619625" y="1676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125" b="1">
                <a:solidFill>
                  <a:srgbClr val="FFB85C"/>
                </a:solidFill>
                <a:latin typeface="Avenir Next"/>
                <a:ea typeface="Avenir Next"/>
                <a:cs typeface="Avenir Next"/>
              </a:defRPr>
            </a:pPr>
            <a:r>
              <a:rPr sz="1125" b="1">
                <a:solidFill>
                  <a:srgbClr val="FFB85C"/>
                </a:solidFill>
                <a:latin typeface="Avenir Next"/>
                <a:ea typeface="Avenir Next"/>
                <a:cs typeface="Avenir Next"/>
              </a:rPr>
              <a:t>TRANSPORT</a:t>
            </a:r>
          </a:p>
        </p:txBody>
      </p:sp>
      <p:sp>
        <p:nvSpPr>
          <p:cNvPr id="8" name="">
            <a:extLst xmlns:a="http://schemas.openxmlformats.org/drawingml/2006/main">
              <a:ext uri="{FF2B5EF4-FFF2-40B4-BE49-F238E27FC236}">
                <a16:creationId xmlns:a16="http://schemas.microsoft.com/office/drawing/2014/main" id="{E33E1A17-9ADD-4945-BD0D-07159178A489}"/>
              </a:ext>
            </a:extLst>
          </p:cNvPr>
          <p:cNvSpPr>
            <a:spLocks xmlns:a="http://schemas.openxmlformats.org/drawingml/2006/main" noGrp="1"/>
          </p:cNvSpPr>
          <p:nvPr/>
        </p:nvSpPr>
        <p:spPr>
          <a:xfrm xmlns:a="http://schemas.openxmlformats.org/drawingml/2006/main">
            <a:off x="4619625" y="2038350"/>
            <a:ext cx="314325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650" b="0">
                <a:solidFill>
                  <a:srgbClr val="F4F8FB"/>
                </a:solidFill>
                <a:latin typeface="Avenir Next"/>
                <a:ea typeface="Avenir Next"/>
                <a:cs typeface="Avenir Next"/>
              </a:defRPr>
            </a:pPr>
            <a:r>
              <a:rPr sz="1650" b="0">
                <a:solidFill>
                  <a:srgbClr val="F4F8FB"/>
                </a:solidFill>
                <a:latin typeface="Avenir Next"/>
                <a:ea typeface="Avenir Next"/>
                <a:cs typeface="Avenir Next"/>
              </a:rPr>
              <a:t>Real NDI input and output</a:t>
            </a:r>
          </a:p>
          <a:p xmlns:a="http://schemas.openxmlformats.org/drawingml/2006/main">
            <a:pPr algn="l">
              <a:buNone/>
              <a:defRPr sz="1650" b="0">
                <a:solidFill>
                  <a:srgbClr val="F4F8FB"/>
                </a:solidFill>
                <a:latin typeface="Avenir Next"/>
                <a:ea typeface="Avenir Next"/>
                <a:cs typeface="Avenir Next"/>
              </a:defRPr>
            </a:pPr>
            <a:r>
              <a:rPr sz="1650" b="0">
                <a:solidFill>
                  <a:srgbClr val="F4F8FB"/>
                </a:solidFill>
                <a:latin typeface="Avenir Next"/>
                <a:ea typeface="Avenir Next"/>
                <a:cs typeface="Avenir Next"/>
              </a:rPr>
              <a:t>Eight ZoomISO video flows</a:t>
            </a:r>
          </a:p>
          <a:p xmlns:a="http://schemas.openxmlformats.org/drawingml/2006/main">
            <a:pPr algn="l">
              <a:buNone/>
              <a:defRPr sz="1650" b="0">
                <a:solidFill>
                  <a:srgbClr val="F4F8FB"/>
                </a:solidFill>
                <a:latin typeface="Avenir Next"/>
                <a:ea typeface="Avenir Next"/>
                <a:cs typeface="Avenir Next"/>
              </a:defRPr>
            </a:pPr>
            <a:r>
              <a:rPr sz="1650" b="0">
                <a:solidFill>
                  <a:srgbClr val="F4F8FB"/>
                </a:solidFill>
                <a:latin typeface="Avenir Next"/>
                <a:ea typeface="Avenir Next"/>
                <a:cs typeface="Avenir Next"/>
              </a:rPr>
              <a:t>Native v210 video in MXL</a:t>
            </a:r>
          </a:p>
          <a:p xmlns:a="http://schemas.openxmlformats.org/drawingml/2006/main">
            <a:pPr algn="l">
              <a:buNone/>
              <a:defRPr sz="1650" b="0">
                <a:solidFill>
                  <a:srgbClr val="F4F8FB"/>
                </a:solidFill>
                <a:latin typeface="Avenir Next"/>
                <a:ea typeface="Avenir Next"/>
                <a:cs typeface="Avenir Next"/>
              </a:defRPr>
            </a:pPr>
            <a:r>
              <a:rPr sz="1650" b="0">
                <a:solidFill>
                  <a:srgbClr val="F4F8FB"/>
                </a:solidFill>
                <a:latin typeface="Avenir Next"/>
                <a:ea typeface="Avenir Next"/>
                <a:cs typeface="Avenir Next"/>
              </a:rPr>
              <a:t>Separate Float32 audio flows</a:t>
            </a:r>
          </a:p>
        </p:txBody>
      </p:sp>
      <p:sp>
        <p:nvSpPr>
          <p:cNvPr id="9" name="">
            <a:extLst xmlns:a="http://schemas.openxmlformats.org/drawingml/2006/main">
              <a:ext uri="{FF2B5EF4-FFF2-40B4-BE49-F238E27FC236}">
                <a16:creationId xmlns:a16="http://schemas.microsoft.com/office/drawing/2014/main" id="{1C38A187-B28B-4843-8256-18A4B00C9379}"/>
              </a:ext>
            </a:extLst>
          </p:cNvPr>
          <p:cNvSpPr>
            <a:spLocks xmlns:a="http://schemas.openxmlformats.org/drawingml/2006/main" noGrp="1"/>
          </p:cNvSpPr>
          <p:nvPr/>
        </p:nvSpPr>
        <p:spPr>
          <a:xfrm xmlns:a="http://schemas.openxmlformats.org/drawingml/2006/main">
            <a:off x="8058150" y="1676400"/>
            <a:ext cx="14288" cy="3286125"/>
          </a:xfrm>
          <a:prstGeom xmlns:a="http://schemas.openxmlformats.org/drawingml/2006/main" prst="rect">
            <a:avLst/>
          </a:prstGeom>
          <a:solidFill xmlns:a="http://schemas.openxmlformats.org/drawingml/2006/main">
            <a:srgbClr val="29415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F0C7A18-5B8A-48FB-899F-AF29D7BDACA6}"/>
              </a:ext>
            </a:extLst>
          </p:cNvPr>
          <p:cNvSpPr>
            <a:spLocks xmlns:a="http://schemas.openxmlformats.org/drawingml/2006/main" noGrp="1"/>
          </p:cNvSpPr>
          <p:nvPr/>
        </p:nvSpPr>
        <p:spPr>
          <a:xfrm xmlns:a="http://schemas.openxmlformats.org/drawingml/2006/main">
            <a:off x="8458200" y="1676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125" b="1">
                <a:solidFill>
                  <a:srgbClr val="48C7FF"/>
                </a:solidFill>
                <a:latin typeface="Avenir Next"/>
                <a:ea typeface="Avenir Next"/>
                <a:cs typeface="Avenir Next"/>
              </a:defRPr>
            </a:pPr>
            <a:r>
              <a:rPr sz="1125" b="1">
                <a:solidFill>
                  <a:srgbClr val="48C7FF"/>
                </a:solidFill>
                <a:latin typeface="Avenir Next"/>
                <a:ea typeface="Avenir Next"/>
                <a:cs typeface="Avenir Next"/>
              </a:rPr>
              <a:t>RECOVERY</a:t>
            </a:r>
          </a:p>
        </p:txBody>
      </p:sp>
      <p:sp>
        <p:nvSpPr>
          <p:cNvPr id="11" name="">
            <a:extLst xmlns:a="http://schemas.openxmlformats.org/drawingml/2006/main">
              <a:ext uri="{FF2B5EF4-FFF2-40B4-BE49-F238E27FC236}">
                <a16:creationId xmlns:a16="http://schemas.microsoft.com/office/drawing/2014/main" id="{2C642891-7549-4560-A68D-E7A28CC3BDA5}"/>
              </a:ext>
            </a:extLst>
          </p:cNvPr>
          <p:cNvSpPr>
            <a:spLocks xmlns:a="http://schemas.openxmlformats.org/drawingml/2006/main" noGrp="1"/>
          </p:cNvSpPr>
          <p:nvPr/>
        </p:nvSpPr>
        <p:spPr>
          <a:xfrm xmlns:a="http://schemas.openxmlformats.org/drawingml/2006/main">
            <a:off x="8458200" y="2038350"/>
            <a:ext cx="314325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650" b="0">
                <a:solidFill>
                  <a:srgbClr val="F4F8FB"/>
                </a:solidFill>
                <a:latin typeface="Avenir Next"/>
                <a:ea typeface="Avenir Next"/>
                <a:cs typeface="Avenir Next"/>
              </a:defRPr>
            </a:pPr>
            <a:r>
              <a:rPr sz="1650" b="0">
                <a:solidFill>
                  <a:srgbClr val="F4F8FB"/>
                </a:solidFill>
                <a:latin typeface="Avenir Next"/>
                <a:ea typeface="Avenir Next"/>
                <a:cs typeface="Avenir Next"/>
              </a:rPr>
              <a:t>Reader reopen and held output</a:t>
            </a:r>
          </a:p>
          <a:p xmlns:a="http://schemas.openxmlformats.org/drawingml/2006/main">
            <a:pPr algn="l">
              <a:buNone/>
              <a:defRPr sz="1650" b="0">
                <a:solidFill>
                  <a:srgbClr val="F4F8FB"/>
                </a:solidFill>
                <a:latin typeface="Avenir Next"/>
                <a:ea typeface="Avenir Next"/>
                <a:cs typeface="Avenir Next"/>
              </a:defRPr>
            </a:pPr>
            <a:r>
              <a:rPr sz="1650" b="0">
                <a:solidFill>
                  <a:srgbClr val="F4F8FB"/>
                </a:solidFill>
                <a:latin typeface="Avenir Next"/>
                <a:ea typeface="Avenir Next"/>
                <a:cs typeface="Avenir Next"/>
              </a:rPr>
              <a:t>Per-source fault attribution</a:t>
            </a:r>
          </a:p>
          <a:p xmlns:a="http://schemas.openxmlformats.org/drawingml/2006/main">
            <a:pPr algn="l">
              <a:buNone/>
              <a:defRPr sz="1650" b="0">
                <a:solidFill>
                  <a:srgbClr val="F4F8FB"/>
                </a:solidFill>
                <a:latin typeface="Avenir Next"/>
                <a:ea typeface="Avenir Next"/>
                <a:cs typeface="Avenir Next"/>
              </a:defRPr>
            </a:pPr>
            <a:r>
              <a:rPr sz="1650" b="0">
                <a:solidFill>
                  <a:srgbClr val="F4F8FB"/>
                </a:solidFill>
                <a:latin typeface="Avenir Next"/>
                <a:ea typeface="Avenir Next"/>
                <a:cs typeface="Avenir Next"/>
              </a:rPr>
              <a:t>Short recovery tests passed</a:t>
            </a:r>
          </a:p>
          <a:p xmlns:a="http://schemas.openxmlformats.org/drawingml/2006/main">
            <a:pPr algn="l">
              <a:buNone/>
              <a:defRPr sz="1650" b="0">
                <a:solidFill>
                  <a:srgbClr val="F4F8FB"/>
                </a:solidFill>
                <a:latin typeface="Avenir Next"/>
                <a:ea typeface="Avenir Next"/>
                <a:cs typeface="Avenir Next"/>
              </a:defRPr>
            </a:pPr>
            <a:r>
              <a:rPr sz="1650" b="0">
                <a:solidFill>
                  <a:srgbClr val="F4F8FB"/>
                </a:solidFill>
                <a:latin typeface="Avenir Next"/>
                <a:ea typeface="Avenir Next"/>
                <a:cs typeface="Avenir Next"/>
              </a:rPr>
              <a:t>Long-switch recovery remains open</a:t>
            </a:r>
          </a:p>
        </p:txBody>
      </p:sp>
      <p:sp>
        <p:nvSpPr>
          <p:cNvPr id="12" name="">
            <a:extLst xmlns:a="http://schemas.openxmlformats.org/drawingml/2006/main">
              <a:ext uri="{FF2B5EF4-FFF2-40B4-BE49-F238E27FC236}">
                <a16:creationId xmlns:a16="http://schemas.microsoft.com/office/drawing/2014/main" id="{35A85592-C361-442F-80ED-110F7328ED0B}"/>
              </a:ext>
            </a:extLst>
          </p:cNvPr>
          <p:cNvSpPr>
            <a:spLocks xmlns:a="http://schemas.openxmlformats.org/drawingml/2006/main" noGrp="1"/>
          </p:cNvSpPr>
          <p:nvPr/>
        </p:nvSpPr>
        <p:spPr>
          <a:xfrm xmlns:a="http://schemas.openxmlformats.org/drawingml/2006/main">
            <a:off x="666750" y="5095875"/>
            <a:ext cx="10820400" cy="723900"/>
          </a:xfrm>
          <a:prstGeom xmlns:a="http://schemas.openxmlformats.org/drawingml/2006/main" prst="roundRect">
            <a:avLst>
              <a:gd name="adj" fmla="val 10526"/>
            </a:avLst>
          </a:prstGeom>
          <a:solidFill xmlns:a="http://schemas.openxmlformats.org/drawingml/2006/main">
            <a:srgbClr val="12242F"/>
          </a:solidFill>
          <a:ln xmlns:a="http://schemas.openxmlformats.org/drawingml/2006/main" w="14288">
            <a:solidFill>
              <a:srgbClr val="48C7FF"/>
            </a:solidFill>
          </a:ln>
        </p:spPr>
      </p:sp>
      <p:sp>
        <p:nvSpPr>
          <p:cNvPr id="13" name="">
            <a:extLst xmlns:a="http://schemas.openxmlformats.org/drawingml/2006/main">
              <a:ext uri="{FF2B5EF4-FFF2-40B4-BE49-F238E27FC236}">
                <a16:creationId xmlns:a16="http://schemas.microsoft.com/office/drawing/2014/main" id="{C3645F36-988D-4929-9EDC-4C6A68DA6DF0}"/>
              </a:ext>
            </a:extLst>
          </p:cNvPr>
          <p:cNvSpPr>
            <a:spLocks xmlns:a="http://schemas.openxmlformats.org/drawingml/2006/main" noGrp="1"/>
          </p:cNvSpPr>
          <p:nvPr/>
        </p:nvSpPr>
        <p:spPr>
          <a:xfrm xmlns:a="http://schemas.openxmlformats.org/drawingml/2006/main">
            <a:off x="895350" y="5191125"/>
            <a:ext cx="1036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800" b="1">
                <a:solidFill>
                  <a:srgbClr val="F4F8FB"/>
                </a:solidFill>
                <a:latin typeface="Avenir Next"/>
                <a:ea typeface="Avenir Next"/>
                <a:cs typeface="Avenir Next"/>
              </a:defRPr>
            </a:pPr>
            <a:r>
              <a:rPr sz="1800" b="1">
                <a:solidFill>
                  <a:srgbClr val="F4F8FB"/>
                </a:solidFill>
                <a:latin typeface="Avenir Next"/>
                <a:ea typeface="Avenir Next"/>
                <a:cs typeface="Avenir Next"/>
              </a:rPr>
              <a:t>The media plane is credible. Audio content, multiview composition, encoded egress, and long-switch recovery still need proof.</a:t>
            </a:r>
          </a:p>
        </p:txBody>
      </p:sp>
      <p:sp>
        <p:nvSpPr>
          <p:cNvPr id="14" name="">
            <a:extLst xmlns:a="http://schemas.openxmlformats.org/drawingml/2006/main">
              <a:ext uri="{FF2B5EF4-FFF2-40B4-BE49-F238E27FC236}">
                <a16:creationId xmlns:a16="http://schemas.microsoft.com/office/drawing/2014/main" id="{B3D553D0-6386-4BF2-B031-D978C7ED10E5}"/>
              </a:ext>
            </a:extLst>
          </p:cNvPr>
          <p:cNvSpPr>
            <a:spLocks xmlns:a="http://schemas.openxmlformats.org/drawingml/2006/main" noGrp="1"/>
          </p:cNvSpPr>
          <p:nvPr/>
        </p:nvSpPr>
        <p:spPr>
          <a:xfrm xmlns:a="http://schemas.openxmlformats.org/drawingml/2006/main">
            <a:off x="609600" y="64674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Measured prototype · October 2026</a:t>
            </a:r>
          </a:p>
        </p:txBody>
      </p:sp>
      <p:sp>
        <p:nvSpPr>
          <p:cNvPr id="15" name="">
            <a:extLst xmlns:a="http://schemas.openxmlformats.org/drawingml/2006/main">
              <a:ext uri="{FF2B5EF4-FFF2-40B4-BE49-F238E27FC236}">
                <a16:creationId xmlns:a16="http://schemas.microsoft.com/office/drawing/2014/main" id="{E2363255-8209-4A9A-8915-D8B5E8342B55}"/>
              </a:ext>
            </a:extLst>
          </p:cNvPr>
          <p:cNvSpPr>
            <a:spLocks xmlns:a="http://schemas.openxmlformats.org/drawingml/2006/main" noGrp="1"/>
          </p:cNvSpPr>
          <p:nvPr/>
        </p:nvSpPr>
        <p:spPr>
          <a:xfrm xmlns:a="http://schemas.openxmlformats.org/drawingml/2006/main">
            <a:off x="11239500" y="6467475"/>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r">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07</a:t>
            </a:r>
          </a:p>
        </p:txBody>
      </p:sp>
    </p:spTree>
    <p:extLst>
      <p:ext uri="{BB962C8B-B14F-4D97-AF65-F5344CB8AC3E}">
        <p14:creationId xmlns:p14="http://schemas.microsoft.com/office/powerpoint/2010/main" val="1918685646"/>
      </p:ext>
    </p:extLst>
  </p:cSld>
</p:sld>
</file>

<file path=ppt/slides/slide8.xml><?xml version="1.0" encoding="utf-8"?>
<p:sld xmlns:p="http://schemas.openxmlformats.org/presentationml/2006/main">
  <p:cSld>
    <p:bg>
      <p:bgPr>
        <a:solidFill xmlns:a="http://schemas.openxmlformats.org/drawingml/2006/main">
          <a:srgbClr val="07101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F75E58D-1CAC-4A7E-ABF9-47E03E58E43B}"/>
              </a:ext>
            </a:extLst>
          </p:cNvPr>
          <p:cNvSpPr>
            <a:spLocks xmlns:a="http://schemas.openxmlformats.org/drawingml/2006/main" noGrp="1"/>
          </p:cNvSpPr>
          <p:nvPr/>
        </p:nvSpPr>
        <p:spPr>
          <a:xfrm xmlns:a="http://schemas.openxmlformats.org/drawingml/2006/main">
            <a:off x="609600" y="361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3150" b="1">
                <a:solidFill>
                  <a:srgbClr val="F4F8FB"/>
                </a:solidFill>
                <a:latin typeface="Avenir Next"/>
                <a:ea typeface="Avenir Next"/>
                <a:cs typeface="Avenir Next"/>
              </a:defRPr>
            </a:pPr>
            <a:r>
              <a:rPr sz="3150" b="1">
                <a:solidFill>
                  <a:srgbClr val="F4F8FB"/>
                </a:solidFill>
                <a:latin typeface="Avenir Next"/>
                <a:ea typeface="Avenir Next"/>
                <a:cs typeface="Avenir Next"/>
              </a:rPr>
              <a:t>Capability grows without enlarging the Core</a:t>
            </a:r>
          </a:p>
        </p:txBody>
      </p:sp>
      <p:sp>
        <p:nvSpPr>
          <p:cNvPr id="2" name="">
            <a:extLst xmlns:a="http://schemas.openxmlformats.org/drawingml/2006/main">
              <a:ext uri="{FF2B5EF4-FFF2-40B4-BE49-F238E27FC236}">
                <a16:creationId xmlns:a16="http://schemas.microsoft.com/office/drawing/2014/main" id="{C4CBBA76-5C87-49BD-9EB3-670F2442735C}"/>
              </a:ext>
            </a:extLst>
          </p:cNvPr>
          <p:cNvSpPr>
            <a:spLocks xmlns:a="http://schemas.openxmlformats.org/drawingml/2006/main" noGrp="1"/>
          </p:cNvSpPr>
          <p:nvPr/>
        </p:nvSpPr>
        <p:spPr>
          <a:xfrm xmlns:a="http://schemas.openxmlformats.org/drawingml/2006/main">
            <a:off x="628650" y="9525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00" b="0">
                <a:solidFill>
                  <a:srgbClr val="A9BAC8"/>
                </a:solidFill>
                <a:latin typeface="Avenir Next"/>
                <a:ea typeface="Avenir Next"/>
                <a:cs typeface="Avenir Next"/>
              </a:defRPr>
            </a:pPr>
            <a:r>
              <a:rPr sz="1500" b="0">
                <a:solidFill>
                  <a:srgbClr val="A9BAC8"/>
                </a:solidFill>
                <a:latin typeface="Avenir Next"/>
                <a:ea typeface="Avenir Next"/>
                <a:cs typeface="Avenir Next"/>
              </a:rPr>
              <a:t>Each layer has a clear job, test boundary, and replacement path</a:t>
            </a:r>
          </a:p>
        </p:txBody>
      </p:sp>
      <p:sp>
        <p:nvSpPr>
          <p:cNvPr id="3" name="">
            <a:extLst xmlns:a="http://schemas.openxmlformats.org/drawingml/2006/main">
              <a:ext uri="{FF2B5EF4-FFF2-40B4-BE49-F238E27FC236}">
                <a16:creationId xmlns:a16="http://schemas.microsoft.com/office/drawing/2014/main" id="{E6E19931-4CF5-4E19-AE15-9FFE6FECF08F}"/>
              </a:ext>
            </a:extLst>
          </p:cNvPr>
          <p:cNvSpPr>
            <a:spLocks xmlns:a="http://schemas.openxmlformats.org/drawingml/2006/main" noGrp="1"/>
          </p:cNvSpPr>
          <p:nvPr/>
        </p:nvSpPr>
        <p:spPr>
          <a:xfrm xmlns:a="http://schemas.openxmlformats.org/drawingml/2006/main">
            <a:off x="609600" y="1362075"/>
            <a:ext cx="819150" cy="38100"/>
          </a:xfrm>
          <a:prstGeom xmlns:a="http://schemas.openxmlformats.org/drawingml/2006/main" prst="rect">
            <a:avLst/>
          </a:prstGeom>
          <a:solidFill xmlns:a="http://schemas.openxmlformats.org/drawingml/2006/main">
            <a:srgbClr val="36D4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6CC12A3-8F16-4C1A-B8E3-6AFF6F02BDE1}"/>
              </a:ext>
            </a:extLst>
          </p:cNvPr>
          <p:cNvSpPr>
            <a:spLocks xmlns:a="http://schemas.openxmlformats.org/drawingml/2006/main" noGrp="1"/>
          </p:cNvSpPr>
          <p:nvPr/>
        </p:nvSpPr>
        <p:spPr>
          <a:xfrm xmlns:a="http://schemas.openxmlformats.org/drawingml/2006/main">
            <a:off x="457200" y="2352675"/>
            <a:ext cx="1809750" cy="1428750"/>
          </a:xfrm>
          <a:prstGeom xmlns:a="http://schemas.openxmlformats.org/drawingml/2006/main" prst="roundRect">
            <a:avLst>
              <a:gd name="adj" fmla="val 5333"/>
            </a:avLst>
          </a:prstGeom>
          <a:solidFill xmlns:a="http://schemas.openxmlformats.org/drawingml/2006/main">
            <a:srgbClr val="103238"/>
          </a:solidFill>
          <a:ln xmlns:a="http://schemas.openxmlformats.org/drawingml/2006/main" w="14288">
            <a:solidFill>
              <a:srgbClr val="36D4C5"/>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575" b="1">
                <a:solidFill>
                  <a:srgbClr val="F4F8FB"/>
                </a:solidFill>
                <a:latin typeface="Avenir Next"/>
                <a:ea typeface="Avenir Next"/>
                <a:cs typeface="Avenir Next"/>
              </a:defRPr>
            </a:pPr>
            <a:r>
              <a:rPr sz="1575" b="1">
                <a:solidFill>
                  <a:srgbClr val="F4F8FB"/>
                </a:solidFill>
                <a:latin typeface="Avenir Next"/>
                <a:ea typeface="Avenir Next"/>
                <a:cs typeface="Avenir Next"/>
              </a:rPr>
              <a:t>TRANSPORT I/O</a:t>
            </a:r>
          </a:p>
          <a:p xmlns:a="http://schemas.openxmlformats.org/drawingml/2006/main">
            <a:pPr algn="ctr">
              <a:buNone/>
              <a:defRPr sz="1575" b="1">
                <a:solidFill>
                  <a:srgbClr val="F4F8FB"/>
                </a:solidFill>
                <a:latin typeface="Avenir Next"/>
                <a:ea typeface="Avenir Next"/>
                <a:cs typeface="Avenir Next"/>
              </a:defRPr>
            </a:pPr>
            <a:r>
              <a:rPr sz="1575" b="1">
                <a:solidFill>
                  <a:srgbClr val="F4F8FB"/>
                </a:solidFill>
                <a:latin typeface="Avenir Next"/>
                <a:ea typeface="Avenir Next"/>
                <a:cs typeface="Avenir Next"/>
              </a:rPr>
              <a:t>NDI · SRT · SDI</a:t>
            </a:r>
          </a:p>
        </p:txBody>
      </p:sp>
      <p:sp>
        <p:nvSpPr>
          <p:cNvPr id="5" name="">
            <a:extLst xmlns:a="http://schemas.openxmlformats.org/drawingml/2006/main">
              <a:ext uri="{FF2B5EF4-FFF2-40B4-BE49-F238E27FC236}">
                <a16:creationId xmlns:a16="http://schemas.microsoft.com/office/drawing/2014/main" id="{21134194-549E-4140-A49C-F673AE003F90}"/>
              </a:ext>
            </a:extLst>
          </p:cNvPr>
          <p:cNvSpPr>
            <a:spLocks xmlns:a="http://schemas.openxmlformats.org/drawingml/2006/main" noGrp="1"/>
          </p:cNvSpPr>
          <p:nvPr/>
        </p:nvSpPr>
        <p:spPr>
          <a:xfrm xmlns:a="http://schemas.openxmlformats.org/drawingml/2006/main">
            <a:off x="2724150" y="2352675"/>
            <a:ext cx="1809750" cy="1428750"/>
          </a:xfrm>
          <a:prstGeom xmlns:a="http://schemas.openxmlformats.org/drawingml/2006/main" prst="roundRect">
            <a:avLst>
              <a:gd name="adj" fmla="val 5333"/>
            </a:avLst>
          </a:prstGeom>
          <a:solidFill xmlns:a="http://schemas.openxmlformats.org/drawingml/2006/main">
            <a:srgbClr val="2A2318"/>
          </a:solidFill>
          <a:ln xmlns:a="http://schemas.openxmlformats.org/drawingml/2006/main" w="14288">
            <a:solidFill>
              <a:srgbClr val="FFB85C"/>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575" b="1">
                <a:solidFill>
                  <a:srgbClr val="F4F8FB"/>
                </a:solidFill>
                <a:latin typeface="Avenir Next"/>
                <a:ea typeface="Avenir Next"/>
                <a:cs typeface="Avenir Next"/>
              </a:defRPr>
            </a:pPr>
            <a:r>
              <a:rPr sz="1575" b="1">
                <a:solidFill>
                  <a:srgbClr val="F4F8FB"/>
                </a:solidFill>
                <a:latin typeface="Avenir Next"/>
                <a:ea typeface="Avenir Next"/>
                <a:cs typeface="Avenir Next"/>
              </a:rPr>
              <a:t>MXL FABRIC</a:t>
            </a:r>
          </a:p>
          <a:p xmlns:a="http://schemas.openxmlformats.org/drawingml/2006/main">
            <a:pPr algn="ctr">
              <a:buNone/>
              <a:defRPr sz="1575" b="1">
                <a:solidFill>
                  <a:srgbClr val="F4F8FB"/>
                </a:solidFill>
                <a:latin typeface="Avenir Next"/>
                <a:ea typeface="Avenir Next"/>
                <a:cs typeface="Avenir Next"/>
              </a:defRPr>
            </a:pPr>
            <a:r>
              <a:rPr sz="1575" b="1">
                <a:solidFill>
                  <a:srgbClr val="F4F8FB"/>
                </a:solidFill>
                <a:latin typeface="Avenir Next"/>
                <a:ea typeface="Avenir Next"/>
                <a:cs typeface="Avenir Next"/>
              </a:rPr>
              <a:t>v210 · Float32</a:t>
            </a:r>
          </a:p>
        </p:txBody>
      </p:sp>
      <p:sp>
        <p:nvSpPr>
          <p:cNvPr id="6" name="">
            <a:extLst xmlns:a="http://schemas.openxmlformats.org/drawingml/2006/main">
              <a:ext uri="{FF2B5EF4-FFF2-40B4-BE49-F238E27FC236}">
                <a16:creationId xmlns:a16="http://schemas.microsoft.com/office/drawing/2014/main" id="{DD472969-6E45-4260-8ED6-4CDFE01DD9B6}"/>
              </a:ext>
            </a:extLst>
          </p:cNvPr>
          <p:cNvSpPr>
            <a:spLocks xmlns:a="http://schemas.openxmlformats.org/drawingml/2006/main" noGrp="1"/>
          </p:cNvSpPr>
          <p:nvPr/>
        </p:nvSpPr>
        <p:spPr>
          <a:xfrm xmlns:a="http://schemas.openxmlformats.org/drawingml/2006/main">
            <a:off x="4991100" y="2352675"/>
            <a:ext cx="1809750" cy="1428750"/>
          </a:xfrm>
          <a:prstGeom xmlns:a="http://schemas.openxmlformats.org/drawingml/2006/main" prst="roundRect">
            <a:avLst>
              <a:gd name="adj" fmla="val 5333"/>
            </a:avLst>
          </a:prstGeom>
          <a:solidFill xmlns:a="http://schemas.openxmlformats.org/drawingml/2006/main">
            <a:srgbClr val="152A38"/>
          </a:solidFill>
          <a:ln xmlns:a="http://schemas.openxmlformats.org/drawingml/2006/main" w="14288">
            <a:solidFill>
              <a:srgbClr val="48C7FF"/>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725" b="1">
                <a:solidFill>
                  <a:srgbClr val="F4F8FB"/>
                </a:solidFill>
                <a:latin typeface="Avenir Next"/>
                <a:ea typeface="Avenir Next"/>
                <a:cs typeface="Avenir Next"/>
              </a:defRPr>
            </a:pPr>
            <a:r>
              <a:rPr sz="1725" b="1">
                <a:solidFill>
                  <a:srgbClr val="F4F8FB"/>
                </a:solidFill>
                <a:latin typeface="Avenir Next"/>
                <a:ea typeface="Avenir Next"/>
                <a:cs typeface="Avenir Next"/>
              </a:rPr>
              <a:t>SWITCHER CORE</a:t>
            </a:r>
          </a:p>
          <a:p xmlns:a="http://schemas.openxmlformats.org/drawingml/2006/main">
            <a:pPr algn="ctr">
              <a:buNone/>
              <a:defRPr sz="1725" b="1">
                <a:solidFill>
                  <a:srgbClr val="F4F8FB"/>
                </a:solidFill>
                <a:latin typeface="Avenir Next"/>
                <a:ea typeface="Avenir Next"/>
                <a:cs typeface="Avenir Next"/>
              </a:defRPr>
            </a:pPr>
            <a:r>
              <a:rPr sz="1725" b="1">
                <a:solidFill>
                  <a:srgbClr val="F4F8FB"/>
                </a:solidFill>
                <a:latin typeface="Avenir Next"/>
                <a:ea typeface="Avenir Next"/>
                <a:cs typeface="Avenir Next"/>
              </a:rPr>
              <a:t>PGM · PVW</a:t>
            </a:r>
          </a:p>
        </p:txBody>
      </p:sp>
      <p:sp>
        <p:nvSpPr>
          <p:cNvPr id="7" name="">
            <a:extLst xmlns:a="http://schemas.openxmlformats.org/drawingml/2006/main">
              <a:ext uri="{FF2B5EF4-FFF2-40B4-BE49-F238E27FC236}">
                <a16:creationId xmlns:a16="http://schemas.microsoft.com/office/drawing/2014/main" id="{E77AB08F-1916-481F-84CD-D759969C4188}"/>
              </a:ext>
            </a:extLst>
          </p:cNvPr>
          <p:cNvSpPr>
            <a:spLocks xmlns:a="http://schemas.openxmlformats.org/drawingml/2006/main" noGrp="1"/>
          </p:cNvSpPr>
          <p:nvPr/>
        </p:nvSpPr>
        <p:spPr>
          <a:xfrm xmlns:a="http://schemas.openxmlformats.org/drawingml/2006/main">
            <a:off x="7258050" y="2352675"/>
            <a:ext cx="1809750" cy="1428750"/>
          </a:xfrm>
          <a:prstGeom xmlns:a="http://schemas.openxmlformats.org/drawingml/2006/main" prst="roundRect">
            <a:avLst>
              <a:gd name="adj" fmla="val 5333"/>
            </a:avLst>
          </a:prstGeom>
          <a:solidFill xmlns:a="http://schemas.openxmlformats.org/drawingml/2006/main">
            <a:srgbClr val="2A2318"/>
          </a:solidFill>
          <a:ln xmlns:a="http://schemas.openxmlformats.org/drawingml/2006/main" w="14288">
            <a:solidFill>
              <a:srgbClr val="FFB85C"/>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500" b="1">
                <a:solidFill>
                  <a:srgbClr val="F4F8FB"/>
                </a:solidFill>
                <a:latin typeface="Avenir Next"/>
                <a:ea typeface="Avenir Next"/>
                <a:cs typeface="Avenir Next"/>
              </a:defRPr>
            </a:pPr>
            <a:r>
              <a:rPr sz="1500" b="1">
                <a:solidFill>
                  <a:srgbClr val="F4F8FB"/>
                </a:solidFill>
                <a:latin typeface="Avenir Next"/>
                <a:ea typeface="Avenir Next"/>
                <a:cs typeface="Avenir Next"/>
              </a:rPr>
              <a:t>MEDIA FUNCTIONS</a:t>
            </a:r>
          </a:p>
          <a:p xmlns:a="http://schemas.openxmlformats.org/drawingml/2006/main">
            <a:pPr algn="ctr">
              <a:buNone/>
              <a:defRPr sz="1500" b="1">
                <a:solidFill>
                  <a:srgbClr val="F4F8FB"/>
                </a:solidFill>
                <a:latin typeface="Avenir Next"/>
                <a:ea typeface="Avenir Next"/>
                <a:cs typeface="Avenir Next"/>
              </a:defRPr>
            </a:pPr>
            <a:r>
              <a:rPr sz="1500" b="1">
                <a:solidFill>
                  <a:srgbClr val="F4F8FB"/>
                </a:solidFill>
                <a:latin typeface="Avenir Next"/>
                <a:ea typeface="Avenir Next"/>
                <a:cs typeface="Avenir Next"/>
              </a:rPr>
              <a:t>GFX · replay · MV</a:t>
            </a:r>
          </a:p>
        </p:txBody>
      </p:sp>
      <p:sp>
        <p:nvSpPr>
          <p:cNvPr id="8" name="">
            <a:extLst xmlns:a="http://schemas.openxmlformats.org/drawingml/2006/main">
              <a:ext uri="{FF2B5EF4-FFF2-40B4-BE49-F238E27FC236}">
                <a16:creationId xmlns:a16="http://schemas.microsoft.com/office/drawing/2014/main" id="{D4C0D267-675C-443E-A11C-A5111AE3FC03}"/>
              </a:ext>
            </a:extLst>
          </p:cNvPr>
          <p:cNvSpPr>
            <a:spLocks xmlns:a="http://schemas.openxmlformats.org/drawingml/2006/main" noGrp="1"/>
          </p:cNvSpPr>
          <p:nvPr/>
        </p:nvSpPr>
        <p:spPr>
          <a:xfrm xmlns:a="http://schemas.openxmlformats.org/drawingml/2006/main">
            <a:off x="9525000" y="2352675"/>
            <a:ext cx="2095500" cy="1428750"/>
          </a:xfrm>
          <a:prstGeom xmlns:a="http://schemas.openxmlformats.org/drawingml/2006/main" prst="roundRect">
            <a:avLst>
              <a:gd name="adj" fmla="val 5333"/>
            </a:avLst>
          </a:prstGeom>
          <a:solidFill xmlns:a="http://schemas.openxmlformats.org/drawingml/2006/main">
            <a:srgbClr val="311D22"/>
          </a:solidFill>
          <a:ln xmlns:a="http://schemas.openxmlformats.org/drawingml/2006/main" w="14288">
            <a:solidFill>
              <a:srgbClr val="FF6B6B"/>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500" b="1">
                <a:solidFill>
                  <a:srgbClr val="F4F8FB"/>
                </a:solidFill>
                <a:latin typeface="Avenir Next"/>
                <a:ea typeface="Avenir Next"/>
                <a:cs typeface="Avenir Next"/>
              </a:defRPr>
            </a:pPr>
            <a:r>
              <a:rPr sz="1500" b="1">
                <a:solidFill>
                  <a:srgbClr val="F4F8FB"/>
                </a:solidFill>
                <a:latin typeface="Avenir Next"/>
                <a:ea typeface="Avenir Next"/>
                <a:cs typeface="Avenir Next"/>
              </a:rPr>
              <a:t>SKINS</a:t>
            </a:r>
          </a:p>
          <a:p xmlns:a="http://schemas.openxmlformats.org/drawingml/2006/main">
            <a:pPr algn="ctr">
              <a:buNone/>
              <a:defRPr sz="1500" b="1">
                <a:solidFill>
                  <a:srgbClr val="F4F8FB"/>
                </a:solidFill>
                <a:latin typeface="Avenir Next"/>
                <a:ea typeface="Avenir Next"/>
                <a:cs typeface="Avenir Next"/>
              </a:defRPr>
            </a:pPr>
            <a:r>
              <a:rPr sz="1500" b="1">
                <a:solidFill>
                  <a:srgbClr val="F4F8FB"/>
                </a:solidFill>
                <a:latin typeface="Avenir Next"/>
                <a:ea typeface="Avenir Next"/>
                <a:cs typeface="Avenir Next"/>
              </a:rPr>
              <a:t>web · panels · OBS</a:t>
            </a:r>
          </a:p>
        </p:txBody>
      </p:sp>
      <p:cxnSp>
        <p:nvCxnSpPr>
          <p:cNvPr id="63" name="">
            <a:extLst xmlns:a="http://schemas.openxmlformats.org/drawingml/2006/main">
              <a:ext uri="{FF2B5EF4-FFF2-40B4-BE49-F238E27FC236}">
                <a16:creationId xmlns:a16="http://schemas.microsoft.com/office/drawing/2014/main" id="{96BDAB3D-FBA4-43E8-9D1F-36D64B34A446}"/>
              </a:ext>
            </a:extLst>
          </p:cNvPr>
          <p:cNvCxnSpPr>
            <a:stCxn xmlns:a="http://schemas.openxmlformats.org/drawingml/2006/main" id="4" idx="3"/>
            <a:endCxn xmlns:a="http://schemas.openxmlformats.org/drawingml/2006/main" id="5" idx="1"/>
          </p:cNvCxnSpPr>
          <p:nvPr/>
        </p:nvCxnSpPr>
        <p:spPr>
          <a:xfrm xmlns:a="http://schemas.openxmlformats.org/drawingml/2006/main">
            <a:off x="2266950" y="3067050"/>
            <a:ext cx="457200" cy="0"/>
          </a:xfrm>
          <a:prstGeom xmlns:a="http://schemas.openxmlformats.org/drawingml/2006/main" prst="straightConnector1">
            <a:avLst/>
          </a:prstGeom>
          <a:ln xmlns:a="http://schemas.openxmlformats.org/drawingml/2006/main" w="20955">
            <a:solidFill>
              <a:srgbClr val="36D4C5"/>
            </a:solidFill>
            <a:prstDash val="solid"/>
            <a:headEnd type="none" w="med" len="med"/>
            <a:tailEnd type="triangle" w="sm" len="sm"/>
          </a:ln>
        </p:spPr>
      </p:cxnSp>
      <p:cxnSp>
        <p:nvCxnSpPr>
          <p:cNvPr id="64" name="">
            <a:extLst xmlns:a="http://schemas.openxmlformats.org/drawingml/2006/main">
              <a:ext uri="{FF2B5EF4-FFF2-40B4-BE49-F238E27FC236}">
                <a16:creationId xmlns:a16="http://schemas.microsoft.com/office/drawing/2014/main" id="{17B47883-D541-4B2D-A0AC-83E555A7CCDD}"/>
              </a:ext>
            </a:extLst>
          </p:cNvPr>
          <p:cNvCxnSpPr>
            <a:stCxn xmlns:a="http://schemas.openxmlformats.org/drawingml/2006/main" id="5" idx="3"/>
            <a:endCxn xmlns:a="http://schemas.openxmlformats.org/drawingml/2006/main" id="6" idx="1"/>
          </p:cNvCxnSpPr>
          <p:nvPr/>
        </p:nvCxnSpPr>
        <p:spPr>
          <a:xfrm xmlns:a="http://schemas.openxmlformats.org/drawingml/2006/main">
            <a:off x="4533900" y="3067050"/>
            <a:ext cx="457200" cy="0"/>
          </a:xfrm>
          <a:prstGeom xmlns:a="http://schemas.openxmlformats.org/drawingml/2006/main" prst="straightConnector1">
            <a:avLst/>
          </a:prstGeom>
          <a:ln xmlns:a="http://schemas.openxmlformats.org/drawingml/2006/main" w="20955">
            <a:solidFill>
              <a:srgbClr val="FFB85C"/>
            </a:solidFill>
            <a:prstDash val="solid"/>
            <a:headEnd type="none" w="med" len="med"/>
            <a:tailEnd type="triangle" w="sm" len="sm"/>
          </a:ln>
        </p:spPr>
      </p:cxnSp>
      <p:cxnSp>
        <p:nvCxnSpPr>
          <p:cNvPr id="65" name="">
            <a:extLst xmlns:a="http://schemas.openxmlformats.org/drawingml/2006/main">
              <a:ext uri="{FF2B5EF4-FFF2-40B4-BE49-F238E27FC236}">
                <a16:creationId xmlns:a16="http://schemas.microsoft.com/office/drawing/2014/main" id="{C8EF349F-30DF-4968-A18E-1CD48456C373}"/>
              </a:ext>
            </a:extLst>
          </p:cNvPr>
          <p:cNvCxnSpPr>
            <a:stCxn xmlns:a="http://schemas.openxmlformats.org/drawingml/2006/main" id="6" idx="3"/>
            <a:endCxn xmlns:a="http://schemas.openxmlformats.org/drawingml/2006/main" id="7" idx="1"/>
          </p:cNvCxnSpPr>
          <p:nvPr/>
        </p:nvCxnSpPr>
        <p:spPr>
          <a:xfrm xmlns:a="http://schemas.openxmlformats.org/drawingml/2006/main">
            <a:off x="6800850" y="3067050"/>
            <a:ext cx="457200" cy="0"/>
          </a:xfrm>
          <a:prstGeom xmlns:a="http://schemas.openxmlformats.org/drawingml/2006/main" prst="straightConnector1">
            <a:avLst/>
          </a:prstGeom>
          <a:ln xmlns:a="http://schemas.openxmlformats.org/drawingml/2006/main" w="20955">
            <a:solidFill>
              <a:srgbClr val="48C7FF"/>
            </a:solidFill>
            <a:prstDash val="solid"/>
            <a:headEnd type="none" w="med" len="med"/>
            <a:tailEnd type="triangle" w="sm" len="sm"/>
          </a:ln>
        </p:spPr>
      </p:cxnSp>
      <p:cxnSp>
        <p:nvCxnSpPr>
          <p:cNvPr id="66" name="">
            <a:extLst xmlns:a="http://schemas.openxmlformats.org/drawingml/2006/main">
              <a:ext uri="{FF2B5EF4-FFF2-40B4-BE49-F238E27FC236}">
                <a16:creationId xmlns:a16="http://schemas.microsoft.com/office/drawing/2014/main" id="{CC835C78-B505-4920-8DDE-4178BEA60590}"/>
              </a:ext>
            </a:extLst>
          </p:cNvPr>
          <p:cNvCxnSpPr>
            <a:stCxn xmlns:a="http://schemas.openxmlformats.org/drawingml/2006/main" id="7" idx="3"/>
            <a:endCxn xmlns:a="http://schemas.openxmlformats.org/drawingml/2006/main" id="8" idx="1"/>
          </p:cNvCxnSpPr>
          <p:nvPr/>
        </p:nvCxnSpPr>
        <p:spPr>
          <a:xfrm xmlns:a="http://schemas.openxmlformats.org/drawingml/2006/main">
            <a:off x="9067800" y="3067050"/>
            <a:ext cx="457200" cy="0"/>
          </a:xfrm>
          <a:prstGeom xmlns:a="http://schemas.openxmlformats.org/drawingml/2006/main" prst="straightConnector1">
            <a:avLst/>
          </a:prstGeom>
          <a:ln xmlns:a="http://schemas.openxmlformats.org/drawingml/2006/main" w="20955">
            <a:solidFill>
              <a:srgbClr val="FF6B6B"/>
            </a:solidFill>
            <a:prstDash val="solid"/>
            <a:headEnd type="none" w="med" len="med"/>
            <a:tailEnd type="triangle" w="sm" len="sm"/>
          </a:ln>
        </p:spPr>
      </p:cxnSp>
      <p:sp>
        <p:nvSpPr>
          <p:cNvPr id="13" name="">
            <a:extLst xmlns:a="http://schemas.openxmlformats.org/drawingml/2006/main">
              <a:ext uri="{FF2B5EF4-FFF2-40B4-BE49-F238E27FC236}">
                <a16:creationId xmlns:a16="http://schemas.microsoft.com/office/drawing/2014/main" id="{2AD5D47E-7760-4A97-9BF0-F08C0C6659FD}"/>
              </a:ext>
            </a:extLst>
          </p:cNvPr>
          <p:cNvSpPr>
            <a:spLocks xmlns:a="http://schemas.openxmlformats.org/drawingml/2006/main" noGrp="1"/>
          </p:cNvSpPr>
          <p:nvPr/>
        </p:nvSpPr>
        <p:spPr>
          <a:xfrm xmlns:a="http://schemas.openxmlformats.org/drawingml/2006/main">
            <a:off x="1257300" y="41719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275" b="0">
                <a:solidFill>
                  <a:srgbClr val="A9BAC8"/>
                </a:solidFill>
                <a:latin typeface="Avenir Next"/>
                <a:ea typeface="Avenir Next"/>
                <a:cs typeface="Avenir Next"/>
              </a:defRPr>
            </a:pPr>
            <a:r>
              <a:rPr sz="1275" b="0">
                <a:solidFill>
                  <a:srgbClr val="A9BAC8"/>
                </a:solidFill>
                <a:latin typeface="Avenir Next"/>
                <a:ea typeface="Avenir Next"/>
                <a:cs typeface="Avenir Next"/>
              </a:rPr>
              <a:t>Convert at the edge</a:t>
            </a:r>
          </a:p>
        </p:txBody>
      </p:sp>
      <p:sp>
        <p:nvSpPr>
          <p:cNvPr id="14" name="">
            <a:extLst xmlns:a="http://schemas.openxmlformats.org/drawingml/2006/main">
              <a:ext uri="{FF2B5EF4-FFF2-40B4-BE49-F238E27FC236}">
                <a16:creationId xmlns:a16="http://schemas.microsoft.com/office/drawing/2014/main" id="{33856B81-D206-4DE2-B99F-EF039AE90AC9}"/>
              </a:ext>
            </a:extLst>
          </p:cNvPr>
          <p:cNvSpPr>
            <a:spLocks xmlns:a="http://schemas.openxmlformats.org/drawingml/2006/main" noGrp="1"/>
          </p:cNvSpPr>
          <p:nvPr/>
        </p:nvSpPr>
        <p:spPr>
          <a:xfrm xmlns:a="http://schemas.openxmlformats.org/drawingml/2006/main">
            <a:off x="7010400" y="41719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275" b="0">
                <a:solidFill>
                  <a:srgbClr val="A9BAC8"/>
                </a:solidFill>
                <a:latin typeface="Avenir Next"/>
                <a:ea typeface="Avenir Next"/>
                <a:cs typeface="Avenir Next"/>
              </a:defRPr>
            </a:pPr>
            <a:r>
              <a:rPr sz="1275" b="0">
                <a:solidFill>
                  <a:srgbClr val="A9BAC8"/>
                </a:solidFill>
                <a:latin typeface="Avenir Next"/>
                <a:ea typeface="Avenir Next"/>
                <a:cs typeface="Avenir Next"/>
              </a:rPr>
              <a:t>Share native media locally</a:t>
            </a:r>
          </a:p>
        </p:txBody>
      </p:sp>
      <p:sp>
        <p:nvSpPr>
          <p:cNvPr id="15" name="">
            <a:extLst xmlns:a="http://schemas.openxmlformats.org/drawingml/2006/main">
              <a:ext uri="{FF2B5EF4-FFF2-40B4-BE49-F238E27FC236}">
                <a16:creationId xmlns:a16="http://schemas.microsoft.com/office/drawing/2014/main" id="{47FC8462-BB7B-40E4-8D3C-E47142BD5F62}"/>
              </a:ext>
            </a:extLst>
          </p:cNvPr>
          <p:cNvSpPr>
            <a:spLocks xmlns:a="http://schemas.openxmlformats.org/drawingml/2006/main" noGrp="1"/>
          </p:cNvSpPr>
          <p:nvPr/>
        </p:nvSpPr>
        <p:spPr>
          <a:xfrm xmlns:a="http://schemas.openxmlformats.org/drawingml/2006/main">
            <a:off x="1343025" y="4991100"/>
            <a:ext cx="9505950" cy="685800"/>
          </a:xfrm>
          <a:prstGeom xmlns:a="http://schemas.openxmlformats.org/drawingml/2006/main" prst="roundRect">
            <a:avLst>
              <a:gd name="adj" fmla="val 11111"/>
            </a:avLst>
          </a:prstGeom>
          <a:solidFill xmlns:a="http://schemas.openxmlformats.org/drawingml/2006/main">
            <a:srgbClr val="2D1B20"/>
          </a:solidFill>
          <a:ln xmlns:a="http://schemas.openxmlformats.org/drawingml/2006/main" w="14288">
            <a:solidFill>
              <a:srgbClr val="70404A"/>
            </a:solidFill>
          </a:ln>
        </p:spPr>
      </p:sp>
      <p:sp>
        <p:nvSpPr>
          <p:cNvPr id="16" name="">
            <a:extLst xmlns:a="http://schemas.openxmlformats.org/drawingml/2006/main">
              <a:ext uri="{FF2B5EF4-FFF2-40B4-BE49-F238E27FC236}">
                <a16:creationId xmlns:a16="http://schemas.microsoft.com/office/drawing/2014/main" id="{E13541D1-2376-41D9-8B76-6C00404C1BDF}"/>
              </a:ext>
            </a:extLst>
          </p:cNvPr>
          <p:cNvSpPr>
            <a:spLocks xmlns:a="http://schemas.openxmlformats.org/drawingml/2006/main" noGrp="1"/>
          </p:cNvSpPr>
          <p:nvPr/>
        </p:nvSpPr>
        <p:spPr>
          <a:xfrm xmlns:a="http://schemas.openxmlformats.org/drawingml/2006/main">
            <a:off x="1590675" y="5067300"/>
            <a:ext cx="9010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725" b="1">
                <a:solidFill>
                  <a:srgbClr val="F4F8FB"/>
                </a:solidFill>
                <a:latin typeface="Avenir Next"/>
                <a:ea typeface="Avenir Next"/>
                <a:cs typeface="Avenir Next"/>
              </a:defRPr>
            </a:pPr>
            <a:r>
              <a:rPr sz="1725" b="1">
                <a:solidFill>
                  <a:srgbClr val="F4F8FB"/>
                </a:solidFill>
                <a:latin typeface="Avenir Next"/>
                <a:ea typeface="Avenir Next"/>
                <a:cs typeface="Avenir Next"/>
              </a:rPr>
              <a:t>The Core stays deterministic while the community adds production capability around it.</a:t>
            </a:r>
          </a:p>
        </p:txBody>
      </p:sp>
      <p:sp>
        <p:nvSpPr>
          <p:cNvPr id="17" name="">
            <a:extLst xmlns:a="http://schemas.openxmlformats.org/drawingml/2006/main">
              <a:ext uri="{FF2B5EF4-FFF2-40B4-BE49-F238E27FC236}">
                <a16:creationId xmlns:a16="http://schemas.microsoft.com/office/drawing/2014/main" id="{C768D536-3A0C-415A-980B-C58EEABA3262}"/>
              </a:ext>
            </a:extLst>
          </p:cNvPr>
          <p:cNvSpPr>
            <a:spLocks xmlns:a="http://schemas.openxmlformats.org/drawingml/2006/main" noGrp="1"/>
          </p:cNvSpPr>
          <p:nvPr/>
        </p:nvSpPr>
        <p:spPr>
          <a:xfrm xmlns:a="http://schemas.openxmlformats.org/drawingml/2006/main">
            <a:off x="609600" y="64674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Proposed product architecture</a:t>
            </a:r>
          </a:p>
        </p:txBody>
      </p:sp>
      <p:sp>
        <p:nvSpPr>
          <p:cNvPr id="18" name="">
            <a:extLst xmlns:a="http://schemas.openxmlformats.org/drawingml/2006/main">
              <a:ext uri="{FF2B5EF4-FFF2-40B4-BE49-F238E27FC236}">
                <a16:creationId xmlns:a16="http://schemas.microsoft.com/office/drawing/2014/main" id="{3356410E-4713-4B8F-9E60-4319F9973D6A}"/>
              </a:ext>
            </a:extLst>
          </p:cNvPr>
          <p:cNvSpPr>
            <a:spLocks xmlns:a="http://schemas.openxmlformats.org/drawingml/2006/main" noGrp="1"/>
          </p:cNvSpPr>
          <p:nvPr/>
        </p:nvSpPr>
        <p:spPr>
          <a:xfrm xmlns:a="http://schemas.openxmlformats.org/drawingml/2006/main">
            <a:off x="11239500" y="6467475"/>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r">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08</a:t>
            </a:r>
          </a:p>
        </p:txBody>
      </p:sp>
    </p:spTree>
    <p:extLst>
      <p:ext uri="{BB962C8B-B14F-4D97-AF65-F5344CB8AC3E}">
        <p14:creationId xmlns:p14="http://schemas.microsoft.com/office/powerpoint/2010/main" val="1466142361"/>
      </p:ext>
    </p:extLst>
  </p:cSld>
</p:sld>
</file>

<file path=ppt/slides/slide9.xml><?xml version="1.0" encoding="utf-8"?>
<p:sld xmlns:p="http://schemas.openxmlformats.org/presentationml/2006/main">
  <p:cSld>
    <p:bg>
      <p:bgPr>
        <a:solidFill xmlns:a="http://schemas.openxmlformats.org/drawingml/2006/main">
          <a:srgbClr val="0C172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E8C074-A182-420F-A67F-0FBA7B1AB2DB}"/>
              </a:ext>
            </a:extLst>
          </p:cNvPr>
          <p:cNvSpPr>
            <a:spLocks xmlns:a="http://schemas.openxmlformats.org/drawingml/2006/main" noGrp="1"/>
          </p:cNvSpPr>
          <p:nvPr/>
        </p:nvSpPr>
        <p:spPr>
          <a:xfrm xmlns:a="http://schemas.openxmlformats.org/drawingml/2006/main">
            <a:off x="609600" y="361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3150" b="1">
                <a:solidFill>
                  <a:srgbClr val="F4F8FB"/>
                </a:solidFill>
                <a:latin typeface="Avenir Next"/>
                <a:ea typeface="Avenir Next"/>
                <a:cs typeface="Avenir Next"/>
              </a:defRPr>
            </a:pPr>
            <a:r>
              <a:rPr sz="3150" b="1">
                <a:solidFill>
                  <a:srgbClr val="F4F8FB"/>
                </a:solidFill>
                <a:latin typeface="Avenir Next"/>
                <a:ea typeface="Avenir Next"/>
                <a:cs typeface="Avenir Next"/>
              </a:rPr>
              <a:t>The Big Plan</a:t>
            </a:r>
          </a:p>
        </p:txBody>
      </p:sp>
      <p:sp>
        <p:nvSpPr>
          <p:cNvPr id="2" name="">
            <a:extLst xmlns:a="http://schemas.openxmlformats.org/drawingml/2006/main">
              <a:ext uri="{FF2B5EF4-FFF2-40B4-BE49-F238E27FC236}">
                <a16:creationId xmlns:a16="http://schemas.microsoft.com/office/drawing/2014/main" id="{CABD2C50-C4F2-4B54-BA70-9D2FA259DBE7}"/>
              </a:ext>
            </a:extLst>
          </p:cNvPr>
          <p:cNvSpPr>
            <a:spLocks xmlns:a="http://schemas.openxmlformats.org/drawingml/2006/main" noGrp="1"/>
          </p:cNvSpPr>
          <p:nvPr/>
        </p:nvSpPr>
        <p:spPr>
          <a:xfrm xmlns:a="http://schemas.openxmlformats.org/drawingml/2006/main">
            <a:off x="628650" y="9525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00" b="0">
                <a:solidFill>
                  <a:srgbClr val="A9BAC8"/>
                </a:solidFill>
                <a:latin typeface="Avenir Next"/>
                <a:ea typeface="Avenir Next"/>
                <a:cs typeface="Avenir Next"/>
              </a:defRPr>
            </a:pPr>
            <a:r>
              <a:rPr sz="1500" b="0">
                <a:solidFill>
                  <a:srgbClr val="A9BAC8"/>
                </a:solidFill>
                <a:latin typeface="Avenir Next"/>
                <a:ea typeface="Avenir Next"/>
                <a:cs typeface="Avenir Next"/>
              </a:rPr>
              <a:t>The next visible proof is a native compositor, followed by real output functions and portable hardware profiles</a:t>
            </a:r>
          </a:p>
        </p:txBody>
      </p:sp>
      <p:sp>
        <p:nvSpPr>
          <p:cNvPr id="3" name="">
            <a:extLst xmlns:a="http://schemas.openxmlformats.org/drawingml/2006/main">
              <a:ext uri="{FF2B5EF4-FFF2-40B4-BE49-F238E27FC236}">
                <a16:creationId xmlns:a16="http://schemas.microsoft.com/office/drawing/2014/main" id="{5ED99397-6773-403D-B7F4-73555EED5678}"/>
              </a:ext>
            </a:extLst>
          </p:cNvPr>
          <p:cNvSpPr>
            <a:spLocks xmlns:a="http://schemas.openxmlformats.org/drawingml/2006/main" noGrp="1"/>
          </p:cNvSpPr>
          <p:nvPr/>
        </p:nvSpPr>
        <p:spPr>
          <a:xfrm xmlns:a="http://schemas.openxmlformats.org/drawingml/2006/main">
            <a:off x="609600" y="1362075"/>
            <a:ext cx="819150" cy="38100"/>
          </a:xfrm>
          <a:prstGeom xmlns:a="http://schemas.openxmlformats.org/drawingml/2006/main" prst="rect">
            <a:avLst/>
          </a:prstGeom>
          <a:solidFill xmlns:a="http://schemas.openxmlformats.org/drawingml/2006/main">
            <a:srgbClr val="36D4C5"/>
          </a:solidFill>
          <a:ln xmlns:a="http://schemas.openxmlformats.org/drawingml/2006/main" w="0">
            <a:noFill/>
          </a:ln>
        </p:spPr>
      </p:sp>
      <p:graphicFrame>
        <p:nvGraphicFramePr>
          <p:cNvPr id="13" name="">
            <a:extLst xmlns:a="http://schemas.openxmlformats.org/drawingml/2006/main">
              <a:ext uri="{FF2B5EF4-FFF2-40B4-BE49-F238E27FC236}">
                <a16:creationId xmlns:a16="http://schemas.microsoft.com/office/drawing/2014/main" id="{7F29273E-FC30-4525-BB14-70F045378F20}"/>
              </a:ext>
            </a:extLst>
          </p:cNvPr>
          <p:cNvGraphicFramePr/>
          <p:nvPr/>
        </p:nvGraphicFramePr>
        <p:xfrm>
          <a:off xmlns:a="http://schemas.openxmlformats.org/drawingml/2006/main" x="609600" y="1657350"/>
          <a:ext xmlns:a="http://schemas.openxmlformats.org/drawingml/2006/main" cx="10972800" cy="3752850"/>
        </p:xfrm>
        <a:graphic xmlns:a="http://schemas.openxmlformats.org/drawingml/2006/main">
          <a:graphicData uri="http://schemas.openxmlformats.org/drawingml/2006/table">
            <a:tbl>
              <a:tblPr/>
              <a:tblGrid>
                <a:gridCol w="2524125"/>
                <a:gridCol w="3095625"/>
                <a:gridCol w="3238500"/>
                <a:gridCol w="2114550"/>
              </a:tblGrid>
              <a:tr h="750570">
                <a:tc>
                  <a:txBody>
                    <a:bodyPr/>
                    <a:lstStyle/>
                    <a:p>
                      <a:r>
                        <a:rPr sz="1125" b="1">
                          <a:solidFill>
                            <a:srgbClr val="48C7FF"/>
                          </a:solidFill>
                          <a:latin typeface="Avenir Next"/>
                          <a:ea typeface="Avenir Next"/>
                          <a:cs typeface="Avenir Next"/>
                        </a:rPr>
                        <a:t>HORIZON</a:t>
                      </a:r>
                    </a:p>
                  </a:txBody>
                  <a:tcPr marL="133350" marR="114300" marT="95250" marB="76200">
                    <a:solidFill>
                      <a:srgbClr val="152A38"/>
                    </a:solidFill>
                  </a:tcPr>
                </a:tc>
                <a:tc>
                  <a:txBody>
                    <a:bodyPr/>
                    <a:lstStyle/>
                    <a:p>
                      <a:r>
                        <a:rPr sz="1125" b="1">
                          <a:solidFill>
                            <a:srgbClr val="48C7FF"/>
                          </a:solidFill>
                          <a:latin typeface="Avenir Next"/>
                          <a:ea typeface="Avenir Next"/>
                          <a:cs typeface="Avenir Next"/>
                        </a:rPr>
                        <a:t>WHAT SHIPS</a:t>
                      </a:r>
                    </a:p>
                  </a:txBody>
                  <a:tcPr marL="133350" marR="114300" marT="95250" marB="76200">
                    <a:solidFill>
                      <a:srgbClr val="152A38"/>
                    </a:solidFill>
                  </a:tcPr>
                </a:tc>
                <a:tc>
                  <a:txBody>
                    <a:bodyPr/>
                    <a:lstStyle/>
                    <a:p>
                      <a:r>
                        <a:rPr sz="1125" b="1">
                          <a:solidFill>
                            <a:srgbClr val="48C7FF"/>
                          </a:solidFill>
                          <a:latin typeface="Avenir Next"/>
                          <a:ea typeface="Avenir Next"/>
                          <a:cs typeface="Avenir Next"/>
                        </a:rPr>
                        <a:t>PROOF</a:t>
                      </a:r>
                    </a:p>
                  </a:txBody>
                  <a:tcPr marL="133350" marR="114300" marT="95250" marB="76200">
                    <a:solidFill>
                      <a:srgbClr val="152A38"/>
                    </a:solidFill>
                  </a:tcPr>
                </a:tc>
                <a:tc>
                  <a:txBody>
                    <a:bodyPr/>
                    <a:lstStyle/>
                    <a:p>
                      <a:r>
                        <a:rPr sz="1125" b="1">
                          <a:solidFill>
                            <a:srgbClr val="48C7FF"/>
                          </a:solidFill>
                          <a:latin typeface="Avenir Next"/>
                          <a:ea typeface="Avenir Next"/>
                          <a:cs typeface="Avenir Next"/>
                        </a:rPr>
                        <a:t>WHO CAN HELP</a:t>
                      </a:r>
                    </a:p>
                  </a:txBody>
                  <a:tcPr marL="133350" marR="114300" marT="95250" marB="76200">
                    <a:solidFill>
                      <a:srgbClr val="152A38"/>
                    </a:solidFill>
                  </a:tcPr>
                </a:tc>
              </a:tr>
              <a:tr h="750570">
                <a:tc>
                  <a:txBody>
                    <a:bodyPr/>
                    <a:lstStyle/>
                    <a:p>
                      <a:r>
                        <a:rPr sz="1275">
                          <a:solidFill>
                            <a:srgbClr val="F4F8FB"/>
                          </a:solidFill>
                          <a:latin typeface="Avenir Next"/>
                          <a:ea typeface="Avenir Next"/>
                          <a:cs typeface="Avenir Next"/>
                        </a:rPr>
                        <a:t>Now</a:t>
                      </a:r>
                    </a:p>
                  </a:txBody>
                  <a:tcPr marL="133350" marR="114300" marT="114300" marB="95250">
                    <a:solidFill>
                      <a:srgbClr val="101F2C"/>
                    </a:solidFill>
                  </a:tcPr>
                </a:tc>
                <a:tc>
                  <a:txBody>
                    <a:bodyPr/>
                    <a:lstStyle/>
                    <a:p>
                      <a:r>
                        <a:rPr sz="1275">
                          <a:solidFill>
                            <a:srgbClr val="F4F8FB"/>
                          </a:solidFill>
                          <a:latin typeface="Avenir Next"/>
                          <a:ea typeface="Avenir Next"/>
                          <a:cs typeface="Avenir Next"/>
                        </a:rPr>
                        <a:t>Reliable Core plus NDI and ZoomISO MXL paths</a:t>
                      </a:r>
                    </a:p>
                  </a:txBody>
                  <a:tcPr marL="133350" marR="114300" marT="114300" marB="95250">
                    <a:solidFill>
                      <a:srgbClr val="101F2C"/>
                    </a:solidFill>
                  </a:tcPr>
                </a:tc>
                <a:tc>
                  <a:txBody>
                    <a:bodyPr/>
                    <a:lstStyle/>
                    <a:p>
                      <a:r>
                        <a:rPr sz="1275">
                          <a:solidFill>
                            <a:srgbClr val="F4F8FB"/>
                          </a:solidFill>
                          <a:latin typeface="Avenir Next"/>
                          <a:ea typeface="Avenir Next"/>
                          <a:cs typeface="Avenir Next"/>
                        </a:rPr>
                        <a:t>Eight-hour Core and eight-input gates</a:t>
                      </a:r>
                    </a:p>
                  </a:txBody>
                  <a:tcPr marL="133350" marR="114300" marT="114300" marB="95250">
                    <a:solidFill>
                      <a:srgbClr val="101F2C"/>
                    </a:solidFill>
                  </a:tcPr>
                </a:tc>
                <a:tc>
                  <a:txBody>
                    <a:bodyPr/>
                    <a:lstStyle/>
                    <a:p>
                      <a:r>
                        <a:rPr sz="1275">
                          <a:solidFill>
                            <a:srgbClr val="F4F8FB"/>
                          </a:solidFill>
                          <a:latin typeface="Avenir Next"/>
                          <a:ea typeface="Avenir Next"/>
                          <a:cs typeface="Avenir Next"/>
                        </a:rPr>
                        <a:t>Operators and test owners</a:t>
                      </a:r>
                    </a:p>
                  </a:txBody>
                  <a:tcPr marL="133350" marR="114300" marT="114300" marB="95250">
                    <a:solidFill>
                      <a:srgbClr val="101F2C"/>
                    </a:solidFill>
                  </a:tcPr>
                </a:tc>
              </a:tr>
              <a:tr h="750570">
                <a:tc>
                  <a:txBody>
                    <a:bodyPr/>
                    <a:lstStyle/>
                    <a:p>
                      <a:r>
                        <a:rPr sz="1275">
                          <a:solidFill>
                            <a:srgbClr val="F4F8FB"/>
                          </a:solidFill>
                          <a:latin typeface="Avenir Next"/>
                          <a:ea typeface="Avenir Next"/>
                          <a:cs typeface="Avenir Next"/>
                        </a:rPr>
                        <a:t>Next</a:t>
                      </a:r>
                    </a:p>
                  </a:txBody>
                  <a:tcPr marL="133350" marR="114300" marT="114300" marB="95250">
                    <a:solidFill>
                      <a:srgbClr val="101F2C"/>
                    </a:solidFill>
                  </a:tcPr>
                </a:tc>
                <a:tc>
                  <a:txBody>
                    <a:bodyPr/>
                    <a:lstStyle/>
                    <a:p>
                      <a:r>
                        <a:rPr sz="1275">
                          <a:solidFill>
                            <a:srgbClr val="F4F8FB"/>
                          </a:solidFill>
                          <a:latin typeface="Avenir Next"/>
                          <a:ea typeface="Avenir Next"/>
                          <a:cs typeface="Avenir Next"/>
                        </a:rPr>
                        <a:t>Native compositor with 2-up through 8-up looks</a:t>
                      </a:r>
                    </a:p>
                  </a:txBody>
                  <a:tcPr marL="133350" marR="114300" marT="114300" marB="95250">
                    <a:solidFill>
                      <a:srgbClr val="101F2C"/>
                    </a:solidFill>
                  </a:tcPr>
                </a:tc>
                <a:tc>
                  <a:txBody>
                    <a:bodyPr/>
                    <a:lstStyle/>
                    <a:p>
                      <a:r>
                        <a:rPr sz="1275">
                          <a:solidFill>
                            <a:srgbClr val="F4F8FB"/>
                          </a:solidFill>
                          <a:latin typeface="Avenir Next"/>
                          <a:ea typeface="Avenir Next"/>
                          <a:cs typeface="Avenir Next"/>
                        </a:rPr>
                        <a:t>Changing tiles, GFX tracking, zero output drops</a:t>
                      </a:r>
                    </a:p>
                  </a:txBody>
                  <a:tcPr marL="133350" marR="114300" marT="114300" marB="95250">
                    <a:solidFill>
                      <a:srgbClr val="101F2C"/>
                    </a:solidFill>
                  </a:tcPr>
                </a:tc>
                <a:tc>
                  <a:txBody>
                    <a:bodyPr/>
                    <a:lstStyle/>
                    <a:p>
                      <a:r>
                        <a:rPr sz="1275">
                          <a:solidFill>
                            <a:srgbClr val="F4F8FB"/>
                          </a:solidFill>
                          <a:latin typeface="Avenir Next"/>
                          <a:ea typeface="Avenir Next"/>
                          <a:cs typeface="Avenir Next"/>
                        </a:rPr>
                        <a:t>Graphics and media developers</a:t>
                      </a:r>
                    </a:p>
                  </a:txBody>
                  <a:tcPr marL="133350" marR="114300" marT="114300" marB="95250">
                    <a:solidFill>
                      <a:srgbClr val="101F2C"/>
                    </a:solidFill>
                  </a:tcPr>
                </a:tc>
              </a:tr>
              <a:tr h="750570">
                <a:tc>
                  <a:txBody>
                    <a:bodyPr/>
                    <a:lstStyle/>
                    <a:p>
                      <a:r>
                        <a:rPr sz="1275">
                          <a:solidFill>
                            <a:srgbClr val="F4F8FB"/>
                          </a:solidFill>
                          <a:latin typeface="Avenir Next"/>
                          <a:ea typeface="Avenir Next"/>
                          <a:cs typeface="Avenir Next"/>
                        </a:rPr>
                        <a:t>Then</a:t>
                      </a:r>
                    </a:p>
                  </a:txBody>
                  <a:tcPr marL="133350" marR="114300" marT="114300" marB="95250">
                    <a:solidFill>
                      <a:srgbClr val="101F2C"/>
                    </a:solidFill>
                  </a:tcPr>
                </a:tc>
                <a:tc>
                  <a:txBody>
                    <a:bodyPr/>
                    <a:lstStyle/>
                    <a:p>
                      <a:r>
                        <a:rPr sz="1275">
                          <a:solidFill>
                            <a:srgbClr val="F4F8FB"/>
                          </a:solidFill>
                          <a:latin typeface="Avenir Next"/>
                          <a:ea typeface="Avenir Next"/>
                          <a:cs typeface="Avenir Next"/>
                        </a:rPr>
                        <a:t>Audio plus NDI, SRT, record, and stream outputs</a:t>
                      </a:r>
                    </a:p>
                  </a:txBody>
                  <a:tcPr marL="133350" marR="114300" marT="114300" marB="95250">
                    <a:solidFill>
                      <a:srgbClr val="101F2C"/>
                    </a:solidFill>
                  </a:tcPr>
                </a:tc>
                <a:tc>
                  <a:txBody>
                    <a:bodyPr/>
                    <a:lstStyle/>
                    <a:p>
                      <a:r>
                        <a:rPr sz="1275">
                          <a:solidFill>
                            <a:srgbClr val="F4F8FB"/>
                          </a:solidFill>
                          <a:latin typeface="Avenir Next"/>
                          <a:ea typeface="Avenir Next"/>
                          <a:cs typeface="Avenir Next"/>
                        </a:rPr>
                        <a:t>AV sync, measured latency, eight-hour output gate</a:t>
                      </a:r>
                    </a:p>
                  </a:txBody>
                  <a:tcPr marL="133350" marR="114300" marT="114300" marB="95250">
                    <a:solidFill>
                      <a:srgbClr val="101F2C"/>
                    </a:solidFill>
                  </a:tcPr>
                </a:tc>
                <a:tc>
                  <a:txBody>
                    <a:bodyPr/>
                    <a:lstStyle/>
                    <a:p>
                      <a:r>
                        <a:rPr sz="1275">
                          <a:solidFill>
                            <a:srgbClr val="F4F8FB"/>
                          </a:solidFill>
                          <a:latin typeface="Avenir Next"/>
                          <a:ea typeface="Avenir Next"/>
                          <a:cs typeface="Avenir Next"/>
                        </a:rPr>
                        <a:t>Audio and I/O developers</a:t>
                      </a:r>
                    </a:p>
                  </a:txBody>
                  <a:tcPr marL="133350" marR="114300" marT="114300" marB="95250">
                    <a:solidFill>
                      <a:srgbClr val="101F2C"/>
                    </a:solidFill>
                  </a:tcPr>
                </a:tc>
              </a:tr>
              <a:tr h="750570">
                <a:tc>
                  <a:txBody>
                    <a:bodyPr/>
                    <a:lstStyle/>
                    <a:p>
                      <a:r>
                        <a:rPr sz="1275">
                          <a:solidFill>
                            <a:srgbClr val="F4F8FB"/>
                          </a:solidFill>
                          <a:latin typeface="Avenir Next"/>
                          <a:ea typeface="Avenir Next"/>
                          <a:cs typeface="Avenir Next"/>
                        </a:rPr>
                        <a:t>Later</a:t>
                      </a:r>
                    </a:p>
                  </a:txBody>
                  <a:tcPr marL="133350" marR="114300" marT="114300" marB="95250">
                    <a:solidFill>
                      <a:srgbClr val="10332E"/>
                    </a:solidFill>
                  </a:tcPr>
                </a:tc>
                <a:tc>
                  <a:txBody>
                    <a:bodyPr/>
                    <a:lstStyle/>
                    <a:p>
                      <a:r>
                        <a:rPr sz="1275">
                          <a:solidFill>
                            <a:srgbClr val="F4F8FB"/>
                          </a:solidFill>
                          <a:latin typeface="Avenir Next"/>
                          <a:ea typeface="Avenir Next"/>
                          <a:cs typeface="Avenir Next"/>
                        </a:rPr>
                        <a:t>AWS, GCP, Azure, and on-prem hardware profiles</a:t>
                      </a:r>
                    </a:p>
                  </a:txBody>
                  <a:tcPr marL="133350" marR="114300" marT="114300" marB="95250">
                    <a:solidFill>
                      <a:srgbClr val="10332E"/>
                    </a:solidFill>
                  </a:tcPr>
                </a:tc>
                <a:tc>
                  <a:txBody>
                    <a:bodyPr/>
                    <a:lstStyle/>
                    <a:p>
                      <a:r>
                        <a:rPr sz="1275">
                          <a:solidFill>
                            <a:srgbClr val="F4F8FB"/>
                          </a:solidFill>
                          <a:latin typeface="Avenir Next"/>
                          <a:ea typeface="Avenir Next"/>
                          <a:cs typeface="Avenir Next"/>
                        </a:rPr>
                        <a:t>Capacity and cost crossover on one harness</a:t>
                      </a:r>
                    </a:p>
                  </a:txBody>
                  <a:tcPr marL="133350" marR="114300" marT="114300" marB="95250">
                    <a:solidFill>
                      <a:srgbClr val="10332E"/>
                    </a:solidFill>
                  </a:tcPr>
                </a:tc>
                <a:tc>
                  <a:txBody>
                    <a:bodyPr/>
                    <a:lstStyle/>
                    <a:p>
                      <a:r>
                        <a:rPr sz="1350" b="1">
                          <a:solidFill>
                            <a:srgbClr val="83E28E"/>
                          </a:solidFill>
                          <a:latin typeface="Avenir Next"/>
                          <a:ea typeface="Avenir Next"/>
                          <a:cs typeface="Avenir Next"/>
                        </a:rPr>
                        <a:t>Cloud and facility engineers</a:t>
                      </a:r>
                    </a:p>
                  </a:txBody>
                  <a:tcPr marL="133350" marR="114300" marT="114300" marB="95250">
                    <a:solidFill>
                      <a:srgbClr val="10332E"/>
                    </a:solidFill>
                  </a:tcPr>
                </a:tc>
              </a:tr>
            </a:tbl>
          </a:graphicData>
        </a:graphic>
      </p:graphicFrame>
      <p:sp>
        <p:nvSpPr>
          <p:cNvPr id="5" name="">
            <a:extLst xmlns:a="http://schemas.openxmlformats.org/drawingml/2006/main">
              <a:ext uri="{FF2B5EF4-FFF2-40B4-BE49-F238E27FC236}">
                <a16:creationId xmlns:a16="http://schemas.microsoft.com/office/drawing/2014/main" id="{CDDA24A7-15D6-4DA6-B63D-68D4304307B9}"/>
              </a:ext>
            </a:extLst>
          </p:cNvPr>
          <p:cNvSpPr>
            <a:spLocks xmlns:a="http://schemas.openxmlformats.org/drawingml/2006/main" noGrp="1"/>
          </p:cNvSpPr>
          <p:nvPr/>
        </p:nvSpPr>
        <p:spPr>
          <a:xfrm xmlns:a="http://schemas.openxmlformats.org/drawingml/2006/main">
            <a:off x="838200" y="5715000"/>
            <a:ext cx="10515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875" b="1">
                <a:solidFill>
                  <a:srgbClr val="F4F8FB"/>
                </a:solidFill>
                <a:latin typeface="Avenir Next"/>
                <a:ea typeface="Avenir Next"/>
                <a:cs typeface="Avenir Next"/>
              </a:defRPr>
            </a:pPr>
            <a:r>
              <a:rPr sz="1875" b="1">
                <a:solidFill>
                  <a:srgbClr val="F4F8FB"/>
                </a:solidFill>
                <a:latin typeface="Avenir Next"/>
                <a:ea typeface="Avenir Next"/>
                <a:cs typeface="Avenir Next"/>
              </a:rPr>
              <a:t>Finish the native compositor first. Then every cloud and server comparison measures a useful production output, not an isolated ingest test.</a:t>
            </a:r>
          </a:p>
        </p:txBody>
      </p:sp>
      <p:sp>
        <p:nvSpPr>
          <p:cNvPr id="6" name="">
            <a:extLst xmlns:a="http://schemas.openxmlformats.org/drawingml/2006/main">
              <a:ext uri="{FF2B5EF4-FFF2-40B4-BE49-F238E27FC236}">
                <a16:creationId xmlns:a16="http://schemas.microsoft.com/office/drawing/2014/main" id="{5B871C6F-A15B-45B6-A463-01E588894B89}"/>
              </a:ext>
            </a:extLst>
          </p:cNvPr>
          <p:cNvSpPr>
            <a:spLocks xmlns:a="http://schemas.openxmlformats.org/drawingml/2006/main" noGrp="1"/>
          </p:cNvSpPr>
          <p:nvPr/>
        </p:nvSpPr>
        <p:spPr>
          <a:xfrm xmlns:a="http://schemas.openxmlformats.org/drawingml/2006/main">
            <a:off x="609600" y="64674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Community roadmap</a:t>
            </a:r>
          </a:p>
        </p:txBody>
      </p:sp>
      <p:sp>
        <p:nvSpPr>
          <p:cNvPr id="7" name="">
            <a:extLst xmlns:a="http://schemas.openxmlformats.org/drawingml/2006/main">
              <a:ext uri="{FF2B5EF4-FFF2-40B4-BE49-F238E27FC236}">
                <a16:creationId xmlns:a16="http://schemas.microsoft.com/office/drawing/2014/main" id="{480B7CA5-5B5B-493D-9BCB-AFDF7878CD29}"/>
              </a:ext>
            </a:extLst>
          </p:cNvPr>
          <p:cNvSpPr>
            <a:spLocks xmlns:a="http://schemas.openxmlformats.org/drawingml/2006/main" noGrp="1"/>
          </p:cNvSpPr>
          <p:nvPr/>
        </p:nvSpPr>
        <p:spPr>
          <a:xfrm xmlns:a="http://schemas.openxmlformats.org/drawingml/2006/main">
            <a:off x="11239500" y="6467475"/>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r">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09</a:t>
            </a:r>
          </a:p>
        </p:txBody>
      </p:sp>
    </p:spTree>
    <p:extLst>
      <p:ext uri="{BB962C8B-B14F-4D97-AF65-F5344CB8AC3E}">
        <p14:creationId xmlns:p14="http://schemas.microsoft.com/office/powerpoint/2010/main" val="1144726209"/>
      </p:ext>
    </p:extLst>
  </p:cSld>
</p:sld>
</file>

<file path=ppt/slides/slide10.xml><?xml version="1.0" encoding="utf-8"?>
<p:sld xmlns:p="http://schemas.openxmlformats.org/presentationml/2006/main">
  <p:cSld>
    <p:bg>
      <p:bgPr>
        <a:solidFill xmlns:a="http://schemas.openxmlformats.org/drawingml/2006/main">
          <a:srgbClr val="07101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F2912A8-26F9-400D-9901-4A959B5A37C6}"/>
              </a:ext>
            </a:extLst>
          </p:cNvPr>
          <p:cNvSpPr>
            <a:spLocks xmlns:a="http://schemas.openxmlformats.org/drawingml/2006/main" noGrp="1"/>
          </p:cNvSpPr>
          <p:nvPr/>
        </p:nvSpPr>
        <p:spPr>
          <a:xfrm xmlns:a="http://schemas.openxmlformats.org/drawingml/2006/main">
            <a:off x="609600" y="361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3150" b="1">
                <a:solidFill>
                  <a:srgbClr val="F4F8FB"/>
                </a:solidFill>
                <a:latin typeface="Avenir Next"/>
                <a:ea typeface="Avenir Next"/>
                <a:cs typeface="Avenir Next"/>
              </a:defRPr>
            </a:pPr>
            <a:r>
              <a:rPr sz="3150" b="1">
                <a:solidFill>
                  <a:srgbClr val="F4F8FB"/>
                </a:solidFill>
                <a:latin typeface="Avenir Next"/>
                <a:ea typeface="Avenir Next"/>
                <a:cs typeface="Avenir Next"/>
              </a:rPr>
              <a:t>Target architecture</a:t>
            </a:r>
          </a:p>
        </p:txBody>
      </p:sp>
      <p:sp>
        <p:nvSpPr>
          <p:cNvPr id="2" name="">
            <a:extLst xmlns:a="http://schemas.openxmlformats.org/drawingml/2006/main">
              <a:ext uri="{FF2B5EF4-FFF2-40B4-BE49-F238E27FC236}">
                <a16:creationId xmlns:a16="http://schemas.microsoft.com/office/drawing/2014/main" id="{DFD25A0D-3E03-48F7-BEAA-18B45EC8B3C9}"/>
              </a:ext>
            </a:extLst>
          </p:cNvPr>
          <p:cNvSpPr>
            <a:spLocks xmlns:a="http://schemas.openxmlformats.org/drawingml/2006/main" noGrp="1"/>
          </p:cNvSpPr>
          <p:nvPr/>
        </p:nvSpPr>
        <p:spPr>
          <a:xfrm xmlns:a="http://schemas.openxmlformats.org/drawingml/2006/main">
            <a:off x="628650" y="9525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00" b="0">
                <a:solidFill>
                  <a:srgbClr val="A9BAC8"/>
                </a:solidFill>
                <a:latin typeface="Avenir Next"/>
                <a:ea typeface="Avenir Next"/>
                <a:cs typeface="Avenir Next"/>
              </a:defRPr>
            </a:pPr>
            <a:r>
              <a:rPr sz="1500" b="0">
                <a:solidFill>
                  <a:srgbClr val="A9BAC8"/>
                </a:solidFill>
                <a:latin typeface="Avenir Next"/>
                <a:ea typeface="Avenir Next"/>
                <a:cs typeface="Avenir Next"/>
              </a:rPr>
              <a:t>One deterministic Core with replaceable control surfaces, I/O adapters, and media functions</a:t>
            </a:r>
          </a:p>
        </p:txBody>
      </p:sp>
      <p:sp>
        <p:nvSpPr>
          <p:cNvPr id="3" name="">
            <a:extLst xmlns:a="http://schemas.openxmlformats.org/drawingml/2006/main">
              <a:ext uri="{FF2B5EF4-FFF2-40B4-BE49-F238E27FC236}">
                <a16:creationId xmlns:a16="http://schemas.microsoft.com/office/drawing/2014/main" id="{29581124-9BA4-402D-999E-262E69477AA5}"/>
              </a:ext>
            </a:extLst>
          </p:cNvPr>
          <p:cNvSpPr>
            <a:spLocks xmlns:a="http://schemas.openxmlformats.org/drawingml/2006/main" noGrp="1"/>
          </p:cNvSpPr>
          <p:nvPr/>
        </p:nvSpPr>
        <p:spPr>
          <a:xfrm xmlns:a="http://schemas.openxmlformats.org/drawingml/2006/main">
            <a:off x="609600" y="1362075"/>
            <a:ext cx="819150" cy="38100"/>
          </a:xfrm>
          <a:prstGeom xmlns:a="http://schemas.openxmlformats.org/drawingml/2006/main" prst="rect">
            <a:avLst/>
          </a:prstGeom>
          <a:solidFill xmlns:a="http://schemas.openxmlformats.org/drawingml/2006/main">
            <a:srgbClr val="36D4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EAC98E6-9F3B-4975-9F90-9B8EC89C34A0}"/>
              </a:ext>
            </a:extLst>
          </p:cNvPr>
          <p:cNvSpPr>
            <a:spLocks xmlns:a="http://schemas.openxmlformats.org/drawingml/2006/main" noGrp="1"/>
          </p:cNvSpPr>
          <p:nvPr/>
        </p:nvSpPr>
        <p:spPr>
          <a:xfrm xmlns:a="http://schemas.openxmlformats.org/drawingml/2006/main">
            <a:off x="4324350" y="2476500"/>
            <a:ext cx="3543300" cy="1562100"/>
          </a:xfrm>
          <a:prstGeom xmlns:a="http://schemas.openxmlformats.org/drawingml/2006/main" prst="roundRect">
            <a:avLst>
              <a:gd name="adj" fmla="val 4878"/>
            </a:avLst>
          </a:prstGeom>
          <a:solidFill xmlns:a="http://schemas.openxmlformats.org/drawingml/2006/main">
            <a:srgbClr val="10332E"/>
          </a:solidFill>
          <a:ln xmlns:a="http://schemas.openxmlformats.org/drawingml/2006/main" w="28575">
            <a:solidFill>
              <a:srgbClr val="36D4C5"/>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875" b="1">
                <a:solidFill>
                  <a:srgbClr val="F4F8FB"/>
                </a:solidFill>
                <a:latin typeface="Avenir Next"/>
                <a:ea typeface="Avenir Next"/>
                <a:cs typeface="Avenir Next"/>
              </a:defRPr>
            </a:pPr>
            <a:r>
              <a:rPr sz="1875" b="1">
                <a:solidFill>
                  <a:srgbClr val="F4F8FB"/>
                </a:solidFill>
                <a:latin typeface="Avenir Next"/>
                <a:ea typeface="Avenir Next"/>
                <a:cs typeface="Avenir Next"/>
              </a:rPr>
              <a:t>MXL SWITCHER CORE</a:t>
            </a:r>
          </a:p>
          <a:p xmlns:a="http://schemas.openxmlformats.org/drawingml/2006/main">
            <a:pPr algn="ctr">
              <a:buNone/>
              <a:defRPr sz="1875" b="1">
                <a:solidFill>
                  <a:srgbClr val="F4F8FB"/>
                </a:solidFill>
                <a:latin typeface="Avenir Next"/>
                <a:ea typeface="Avenir Next"/>
                <a:cs typeface="Avenir Next"/>
              </a:defRPr>
            </a:pPr>
            <a:r>
              <a:rPr sz="1875" b="1">
                <a:solidFill>
                  <a:srgbClr val="F4F8FB"/>
                </a:solidFill>
                <a:latin typeface="Avenir Next"/>
                <a:ea typeface="Avenir Next"/>
                <a:cs typeface="Avenir Next"/>
              </a:rPr>
              <a:t>PGM · PVW · frame sync · state · health</a:t>
            </a:r>
          </a:p>
        </p:txBody>
      </p:sp>
      <p:sp>
        <p:nvSpPr>
          <p:cNvPr id="5" name="">
            <a:extLst xmlns:a="http://schemas.openxmlformats.org/drawingml/2006/main">
              <a:ext uri="{FF2B5EF4-FFF2-40B4-BE49-F238E27FC236}">
                <a16:creationId xmlns:a16="http://schemas.microsoft.com/office/drawing/2014/main" id="{89ED6A13-4389-4BE3-B67E-7BCD1F921A6E}"/>
              </a:ext>
            </a:extLst>
          </p:cNvPr>
          <p:cNvSpPr>
            <a:spLocks xmlns:a="http://schemas.openxmlformats.org/drawingml/2006/main" noGrp="1"/>
          </p:cNvSpPr>
          <p:nvPr/>
        </p:nvSpPr>
        <p:spPr>
          <a:xfrm xmlns:a="http://schemas.openxmlformats.org/drawingml/2006/main">
            <a:off x="857250" y="1647825"/>
            <a:ext cx="1790700" cy="723900"/>
          </a:xfrm>
          <a:prstGeom xmlns:a="http://schemas.openxmlformats.org/drawingml/2006/main" prst="roundRect">
            <a:avLst>
              <a:gd name="adj" fmla="val 10526"/>
            </a:avLst>
          </a:prstGeom>
          <a:solidFill xmlns:a="http://schemas.openxmlformats.org/drawingml/2006/main">
            <a:srgbClr val="152A38"/>
          </a:solidFill>
          <a:ln xmlns:a="http://schemas.openxmlformats.org/drawingml/2006/main" w="14288">
            <a:solidFill>
              <a:srgbClr val="48C7FF"/>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Web skin</a:t>
            </a:r>
          </a:p>
        </p:txBody>
      </p:sp>
      <p:sp>
        <p:nvSpPr>
          <p:cNvPr id="6" name="">
            <a:extLst xmlns:a="http://schemas.openxmlformats.org/drawingml/2006/main">
              <a:ext uri="{FF2B5EF4-FFF2-40B4-BE49-F238E27FC236}">
                <a16:creationId xmlns:a16="http://schemas.microsoft.com/office/drawing/2014/main" id="{E490BBCC-2B1A-4CFA-90C0-1616040FD630}"/>
              </a:ext>
            </a:extLst>
          </p:cNvPr>
          <p:cNvSpPr>
            <a:spLocks xmlns:a="http://schemas.openxmlformats.org/drawingml/2006/main" noGrp="1"/>
          </p:cNvSpPr>
          <p:nvPr/>
        </p:nvSpPr>
        <p:spPr>
          <a:xfrm xmlns:a="http://schemas.openxmlformats.org/drawingml/2006/main">
            <a:off x="857250" y="2781300"/>
            <a:ext cx="1790700" cy="723900"/>
          </a:xfrm>
          <a:prstGeom xmlns:a="http://schemas.openxmlformats.org/drawingml/2006/main" prst="roundRect">
            <a:avLst>
              <a:gd name="adj" fmla="val 10526"/>
            </a:avLst>
          </a:prstGeom>
          <a:solidFill xmlns:a="http://schemas.openxmlformats.org/drawingml/2006/main">
            <a:srgbClr val="152A38"/>
          </a:solidFill>
          <a:ln xmlns:a="http://schemas.openxmlformats.org/drawingml/2006/main" w="14288">
            <a:solidFill>
              <a:srgbClr val="48C7FF"/>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Hardware panel</a:t>
            </a:r>
          </a:p>
        </p:txBody>
      </p:sp>
      <p:sp>
        <p:nvSpPr>
          <p:cNvPr id="7" name="">
            <a:extLst xmlns:a="http://schemas.openxmlformats.org/drawingml/2006/main">
              <a:ext uri="{FF2B5EF4-FFF2-40B4-BE49-F238E27FC236}">
                <a16:creationId xmlns:a16="http://schemas.microsoft.com/office/drawing/2014/main" id="{CD8F3655-F2E2-4A7E-98F5-C569255495BC}"/>
              </a:ext>
            </a:extLst>
          </p:cNvPr>
          <p:cNvSpPr>
            <a:spLocks xmlns:a="http://schemas.openxmlformats.org/drawingml/2006/main" noGrp="1"/>
          </p:cNvSpPr>
          <p:nvPr/>
        </p:nvSpPr>
        <p:spPr>
          <a:xfrm xmlns:a="http://schemas.openxmlformats.org/drawingml/2006/main">
            <a:off x="857250" y="3914775"/>
            <a:ext cx="1790700" cy="723900"/>
          </a:xfrm>
          <a:prstGeom xmlns:a="http://schemas.openxmlformats.org/drawingml/2006/main" prst="roundRect">
            <a:avLst>
              <a:gd name="adj" fmla="val 10526"/>
            </a:avLst>
          </a:prstGeom>
          <a:solidFill xmlns:a="http://schemas.openxmlformats.org/drawingml/2006/main">
            <a:srgbClr val="152A38"/>
          </a:solidFill>
          <a:ln xmlns:a="http://schemas.openxmlformats.org/drawingml/2006/main" w="14288">
            <a:solidFill>
              <a:srgbClr val="48C7FF"/>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Automation</a:t>
            </a:r>
          </a:p>
        </p:txBody>
      </p:sp>
      <p:sp>
        <p:nvSpPr>
          <p:cNvPr id="8" name="">
            <a:extLst xmlns:a="http://schemas.openxmlformats.org/drawingml/2006/main">
              <a:ext uri="{FF2B5EF4-FFF2-40B4-BE49-F238E27FC236}">
                <a16:creationId xmlns:a16="http://schemas.microsoft.com/office/drawing/2014/main" id="{B87D2932-EB70-407E-9F44-51517510E8C0}"/>
              </a:ext>
            </a:extLst>
          </p:cNvPr>
          <p:cNvSpPr>
            <a:spLocks xmlns:a="http://schemas.openxmlformats.org/drawingml/2006/main" noGrp="1"/>
          </p:cNvSpPr>
          <p:nvPr/>
        </p:nvSpPr>
        <p:spPr>
          <a:xfrm xmlns:a="http://schemas.openxmlformats.org/drawingml/2006/main">
            <a:off x="9544050" y="1466850"/>
            <a:ext cx="1809750" cy="895350"/>
          </a:xfrm>
          <a:prstGeom xmlns:a="http://schemas.openxmlformats.org/drawingml/2006/main" prst="roundRect">
            <a:avLst>
              <a:gd name="adj" fmla="val 8511"/>
            </a:avLst>
          </a:prstGeom>
          <a:solidFill xmlns:a="http://schemas.openxmlformats.org/drawingml/2006/main">
            <a:srgbClr val="2C2519"/>
          </a:solidFill>
          <a:ln xmlns:a="http://schemas.openxmlformats.org/drawingml/2006/main" w="14288">
            <a:solidFill>
              <a:srgbClr val="FFB85C"/>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OBS</a:t>
            </a:r>
          </a:p>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scenes + GFX</a:t>
            </a:r>
          </a:p>
        </p:txBody>
      </p:sp>
      <p:sp>
        <p:nvSpPr>
          <p:cNvPr id="9" name="">
            <a:extLst xmlns:a="http://schemas.openxmlformats.org/drawingml/2006/main">
              <a:ext uri="{FF2B5EF4-FFF2-40B4-BE49-F238E27FC236}">
                <a16:creationId xmlns:a16="http://schemas.microsoft.com/office/drawing/2014/main" id="{A90FA1A2-5639-4B28-A904-8760DCF0F915}"/>
              </a:ext>
            </a:extLst>
          </p:cNvPr>
          <p:cNvSpPr>
            <a:spLocks xmlns:a="http://schemas.openxmlformats.org/drawingml/2006/main" noGrp="1"/>
          </p:cNvSpPr>
          <p:nvPr/>
        </p:nvSpPr>
        <p:spPr>
          <a:xfrm xmlns:a="http://schemas.openxmlformats.org/drawingml/2006/main">
            <a:off x="9544050" y="2676525"/>
            <a:ext cx="1809750" cy="723900"/>
          </a:xfrm>
          <a:prstGeom xmlns:a="http://schemas.openxmlformats.org/drawingml/2006/main" prst="roundRect">
            <a:avLst>
              <a:gd name="adj" fmla="val 10526"/>
            </a:avLst>
          </a:prstGeom>
          <a:solidFill xmlns:a="http://schemas.openxmlformats.org/drawingml/2006/main">
            <a:srgbClr val="2C2519"/>
          </a:solidFill>
          <a:ln xmlns:a="http://schemas.openxmlformats.org/drawingml/2006/main" w="14288">
            <a:solidFill>
              <a:srgbClr val="FFB85C"/>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Replay</a:t>
            </a:r>
          </a:p>
        </p:txBody>
      </p:sp>
      <p:sp>
        <p:nvSpPr>
          <p:cNvPr id="10" name="">
            <a:extLst xmlns:a="http://schemas.openxmlformats.org/drawingml/2006/main">
              <a:ext uri="{FF2B5EF4-FFF2-40B4-BE49-F238E27FC236}">
                <a16:creationId xmlns:a16="http://schemas.microsoft.com/office/drawing/2014/main" id="{0257CF9D-DC7C-4B10-B1AC-863BDE83C06F}"/>
              </a:ext>
            </a:extLst>
          </p:cNvPr>
          <p:cNvSpPr>
            <a:spLocks xmlns:a="http://schemas.openxmlformats.org/drawingml/2006/main" noGrp="1"/>
          </p:cNvSpPr>
          <p:nvPr/>
        </p:nvSpPr>
        <p:spPr>
          <a:xfrm xmlns:a="http://schemas.openxmlformats.org/drawingml/2006/main">
            <a:off x="9544050" y="3714750"/>
            <a:ext cx="1809750" cy="723900"/>
          </a:xfrm>
          <a:prstGeom xmlns:a="http://schemas.openxmlformats.org/drawingml/2006/main" prst="roundRect">
            <a:avLst>
              <a:gd name="adj" fmla="val 10526"/>
            </a:avLst>
          </a:prstGeom>
          <a:solidFill xmlns:a="http://schemas.openxmlformats.org/drawingml/2006/main">
            <a:srgbClr val="2C2519"/>
          </a:solidFill>
          <a:ln xmlns:a="http://schemas.openxmlformats.org/drawingml/2006/main" w="14288">
            <a:solidFill>
              <a:srgbClr val="FFB85C"/>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Transport I/O</a:t>
            </a:r>
          </a:p>
        </p:txBody>
      </p:sp>
      <p:sp>
        <p:nvSpPr>
          <p:cNvPr id="11" name="">
            <a:extLst xmlns:a="http://schemas.openxmlformats.org/drawingml/2006/main">
              <a:ext uri="{FF2B5EF4-FFF2-40B4-BE49-F238E27FC236}">
                <a16:creationId xmlns:a16="http://schemas.microsoft.com/office/drawing/2014/main" id="{80083446-3FC0-4D7A-9C4C-8CFE4289B32A}"/>
              </a:ext>
            </a:extLst>
          </p:cNvPr>
          <p:cNvSpPr>
            <a:spLocks xmlns:a="http://schemas.openxmlformats.org/drawingml/2006/main" noGrp="1"/>
          </p:cNvSpPr>
          <p:nvPr/>
        </p:nvSpPr>
        <p:spPr>
          <a:xfrm xmlns:a="http://schemas.openxmlformats.org/drawingml/2006/main">
            <a:off x="9544050" y="4752975"/>
            <a:ext cx="1809750" cy="723900"/>
          </a:xfrm>
          <a:prstGeom xmlns:a="http://schemas.openxmlformats.org/drawingml/2006/main" prst="roundRect">
            <a:avLst>
              <a:gd name="adj" fmla="val 10526"/>
            </a:avLst>
          </a:prstGeom>
          <a:solidFill xmlns:a="http://schemas.openxmlformats.org/drawingml/2006/main">
            <a:srgbClr val="2C2519"/>
          </a:solidFill>
          <a:ln xmlns:a="http://schemas.openxmlformats.org/drawingml/2006/main" w="14288">
            <a:solidFill>
              <a:srgbClr val="FFB85C"/>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Multiview</a:t>
            </a:r>
          </a:p>
        </p:txBody>
      </p:sp>
      <p:cxnSp>
        <p:nvCxnSpPr>
          <p:cNvPr id="90" name="">
            <a:extLst xmlns:a="http://schemas.openxmlformats.org/drawingml/2006/main">
              <a:ext uri="{FF2B5EF4-FFF2-40B4-BE49-F238E27FC236}">
                <a16:creationId xmlns:a16="http://schemas.microsoft.com/office/drawing/2014/main" id="{75475944-F746-4941-9C15-857CF7222353}"/>
              </a:ext>
            </a:extLst>
          </p:cNvPr>
          <p:cNvCxnSpPr>
            <a:stCxn xmlns:a="http://schemas.openxmlformats.org/drawingml/2006/main" id="5" idx="3"/>
            <a:endCxn xmlns:a="http://schemas.openxmlformats.org/drawingml/2006/main" id="4" idx="1"/>
          </p:cNvCxnSpPr>
          <p:nvPr/>
        </p:nvCxnSpPr>
        <p:spPr>
          <a:xfrm xmlns:a="http://schemas.openxmlformats.org/drawingml/2006/main">
            <a:off x="2647950" y="2009775"/>
            <a:ext cx="1676400" cy="1247775"/>
          </a:xfrm>
          <a:prstGeom xmlns:a="http://schemas.openxmlformats.org/drawingml/2006/main" prst="straightConnector1">
            <a:avLst/>
          </a:prstGeom>
          <a:ln xmlns:a="http://schemas.openxmlformats.org/drawingml/2006/main" w="20955">
            <a:solidFill>
              <a:srgbClr val="48C7FF"/>
            </a:solidFill>
            <a:prstDash val="solid"/>
            <a:headEnd type="none" w="med" len="med"/>
            <a:tailEnd type="triangle" w="sm" len="sm"/>
          </a:ln>
        </p:spPr>
      </p:cxnSp>
      <p:cxnSp>
        <p:nvCxnSpPr>
          <p:cNvPr id="91" name="">
            <a:extLst xmlns:a="http://schemas.openxmlformats.org/drawingml/2006/main">
              <a:ext uri="{FF2B5EF4-FFF2-40B4-BE49-F238E27FC236}">
                <a16:creationId xmlns:a16="http://schemas.microsoft.com/office/drawing/2014/main" id="{E22FBCEC-F297-4CD9-9536-AF1533F61086}"/>
              </a:ext>
            </a:extLst>
          </p:cNvPr>
          <p:cNvCxnSpPr>
            <a:stCxn xmlns:a="http://schemas.openxmlformats.org/drawingml/2006/main" id="6" idx="3"/>
            <a:endCxn xmlns:a="http://schemas.openxmlformats.org/drawingml/2006/main" id="4" idx="1"/>
          </p:cNvCxnSpPr>
          <p:nvPr/>
        </p:nvCxnSpPr>
        <p:spPr>
          <a:xfrm xmlns:a="http://schemas.openxmlformats.org/drawingml/2006/main">
            <a:off x="2647950" y="3143250"/>
            <a:ext cx="1676400" cy="114300"/>
          </a:xfrm>
          <a:prstGeom xmlns:a="http://schemas.openxmlformats.org/drawingml/2006/main" prst="straightConnector1">
            <a:avLst/>
          </a:prstGeom>
          <a:ln xmlns:a="http://schemas.openxmlformats.org/drawingml/2006/main" w="20955">
            <a:solidFill>
              <a:srgbClr val="48C7FF"/>
            </a:solidFill>
            <a:prstDash val="solid"/>
            <a:headEnd type="none" w="med" len="med"/>
            <a:tailEnd type="triangle" w="sm" len="sm"/>
          </a:ln>
        </p:spPr>
      </p:cxnSp>
      <p:cxnSp>
        <p:nvCxnSpPr>
          <p:cNvPr id="92" name="">
            <a:extLst xmlns:a="http://schemas.openxmlformats.org/drawingml/2006/main">
              <a:ext uri="{FF2B5EF4-FFF2-40B4-BE49-F238E27FC236}">
                <a16:creationId xmlns:a16="http://schemas.microsoft.com/office/drawing/2014/main" id="{30C56998-BDAF-41E0-B246-1B0AB0270C4C}"/>
              </a:ext>
            </a:extLst>
          </p:cNvPr>
          <p:cNvCxnSpPr>
            <a:stCxn xmlns:a="http://schemas.openxmlformats.org/drawingml/2006/main" id="7" idx="3"/>
            <a:endCxn xmlns:a="http://schemas.openxmlformats.org/drawingml/2006/main" id="4" idx="1"/>
          </p:cNvCxnSpPr>
          <p:nvPr/>
        </p:nvCxnSpPr>
        <p:spPr>
          <a:xfrm xmlns:a="http://schemas.openxmlformats.org/drawingml/2006/main" flipV="1">
            <a:off x="2647950" y="3257550"/>
            <a:ext cx="1676400" cy="1019175"/>
          </a:xfrm>
          <a:prstGeom xmlns:a="http://schemas.openxmlformats.org/drawingml/2006/main" prst="straightConnector1">
            <a:avLst/>
          </a:prstGeom>
          <a:ln xmlns:a="http://schemas.openxmlformats.org/drawingml/2006/main" w="20955">
            <a:solidFill>
              <a:srgbClr val="48C7FF"/>
            </a:solidFill>
            <a:prstDash val="solid"/>
            <a:headEnd type="none" w="med" len="med"/>
            <a:tailEnd type="triangle" w="sm" len="sm"/>
          </a:ln>
        </p:spPr>
      </p:cxnSp>
      <p:cxnSp>
        <p:nvCxnSpPr>
          <p:cNvPr id="93" name="">
            <a:extLst xmlns:a="http://schemas.openxmlformats.org/drawingml/2006/main">
              <a:ext uri="{FF2B5EF4-FFF2-40B4-BE49-F238E27FC236}">
                <a16:creationId xmlns:a16="http://schemas.microsoft.com/office/drawing/2014/main" id="{31297DB8-A17C-4D80-93D9-0A7042FC18E0}"/>
              </a:ext>
            </a:extLst>
          </p:cNvPr>
          <p:cNvCxnSpPr>
            <a:stCxn xmlns:a="http://schemas.openxmlformats.org/drawingml/2006/main" id="4" idx="3"/>
            <a:endCxn xmlns:a="http://schemas.openxmlformats.org/drawingml/2006/main" id="8" idx="1"/>
          </p:cNvCxnSpPr>
          <p:nvPr/>
        </p:nvCxnSpPr>
        <p:spPr>
          <a:xfrm xmlns:a="http://schemas.openxmlformats.org/drawingml/2006/main" flipV="1">
            <a:off x="7867650" y="1914525"/>
            <a:ext cx="1676400" cy="1343025"/>
          </a:xfrm>
          <a:prstGeom xmlns:a="http://schemas.openxmlformats.org/drawingml/2006/main" prst="straightConnector1">
            <a:avLst/>
          </a:prstGeom>
          <a:ln xmlns:a="http://schemas.openxmlformats.org/drawingml/2006/main" w="20955">
            <a:solidFill>
              <a:srgbClr val="FFB85C"/>
            </a:solidFill>
            <a:prstDash val="solid"/>
            <a:headEnd type="none" w="med" len="med"/>
            <a:tailEnd type="triangle" w="sm" len="sm"/>
          </a:ln>
        </p:spPr>
      </p:cxnSp>
      <p:cxnSp>
        <p:nvCxnSpPr>
          <p:cNvPr id="94" name="">
            <a:extLst xmlns:a="http://schemas.openxmlformats.org/drawingml/2006/main">
              <a:ext uri="{FF2B5EF4-FFF2-40B4-BE49-F238E27FC236}">
                <a16:creationId xmlns:a16="http://schemas.microsoft.com/office/drawing/2014/main" id="{FF38448F-1D59-4EE3-8DBF-7D530EC3D1E8}"/>
              </a:ext>
            </a:extLst>
          </p:cNvPr>
          <p:cNvCxnSpPr>
            <a:stCxn xmlns:a="http://schemas.openxmlformats.org/drawingml/2006/main" id="4" idx="3"/>
            <a:endCxn xmlns:a="http://schemas.openxmlformats.org/drawingml/2006/main" id="9" idx="1"/>
          </p:cNvCxnSpPr>
          <p:nvPr/>
        </p:nvCxnSpPr>
        <p:spPr>
          <a:xfrm xmlns:a="http://schemas.openxmlformats.org/drawingml/2006/main" flipV="1">
            <a:off x="7867650" y="3038475"/>
            <a:ext cx="1676400" cy="219075"/>
          </a:xfrm>
          <a:prstGeom xmlns:a="http://schemas.openxmlformats.org/drawingml/2006/main" prst="straightConnector1">
            <a:avLst/>
          </a:prstGeom>
          <a:ln xmlns:a="http://schemas.openxmlformats.org/drawingml/2006/main" w="20955">
            <a:solidFill>
              <a:srgbClr val="FFB85C"/>
            </a:solidFill>
            <a:prstDash val="solid"/>
            <a:headEnd type="none" w="med" len="med"/>
            <a:tailEnd type="triangle" w="sm" len="sm"/>
          </a:ln>
        </p:spPr>
      </p:cxnSp>
      <p:cxnSp>
        <p:nvCxnSpPr>
          <p:cNvPr id="95" name="">
            <a:extLst xmlns:a="http://schemas.openxmlformats.org/drawingml/2006/main">
              <a:ext uri="{FF2B5EF4-FFF2-40B4-BE49-F238E27FC236}">
                <a16:creationId xmlns:a16="http://schemas.microsoft.com/office/drawing/2014/main" id="{C4148C52-B63C-4B6A-B4AB-5DE0F658F666}"/>
              </a:ext>
            </a:extLst>
          </p:cNvPr>
          <p:cNvCxnSpPr>
            <a:stCxn xmlns:a="http://schemas.openxmlformats.org/drawingml/2006/main" id="4" idx="3"/>
            <a:endCxn xmlns:a="http://schemas.openxmlformats.org/drawingml/2006/main" id="10" idx="1"/>
          </p:cNvCxnSpPr>
          <p:nvPr/>
        </p:nvCxnSpPr>
        <p:spPr>
          <a:xfrm xmlns:a="http://schemas.openxmlformats.org/drawingml/2006/main">
            <a:off x="7867650" y="3257550"/>
            <a:ext cx="1676400" cy="819150"/>
          </a:xfrm>
          <a:prstGeom xmlns:a="http://schemas.openxmlformats.org/drawingml/2006/main" prst="straightConnector1">
            <a:avLst/>
          </a:prstGeom>
          <a:ln xmlns:a="http://schemas.openxmlformats.org/drawingml/2006/main" w="20955">
            <a:solidFill>
              <a:srgbClr val="FFB85C"/>
            </a:solidFill>
            <a:prstDash val="solid"/>
            <a:headEnd type="none" w="med" len="med"/>
            <a:tailEnd type="triangle" w="sm" len="sm"/>
          </a:ln>
        </p:spPr>
      </p:cxnSp>
      <p:cxnSp>
        <p:nvCxnSpPr>
          <p:cNvPr id="96" name="">
            <a:extLst xmlns:a="http://schemas.openxmlformats.org/drawingml/2006/main">
              <a:ext uri="{FF2B5EF4-FFF2-40B4-BE49-F238E27FC236}">
                <a16:creationId xmlns:a16="http://schemas.microsoft.com/office/drawing/2014/main" id="{A6F85BAF-4EAD-4D86-B16C-476EE71CA9AE}"/>
              </a:ext>
            </a:extLst>
          </p:cNvPr>
          <p:cNvCxnSpPr>
            <a:stCxn xmlns:a="http://schemas.openxmlformats.org/drawingml/2006/main" id="4" idx="3"/>
            <a:endCxn xmlns:a="http://schemas.openxmlformats.org/drawingml/2006/main" id="11" idx="1"/>
          </p:cNvCxnSpPr>
          <p:nvPr/>
        </p:nvCxnSpPr>
        <p:spPr>
          <a:xfrm xmlns:a="http://schemas.openxmlformats.org/drawingml/2006/main">
            <a:off x="7867650" y="3257550"/>
            <a:ext cx="1676400" cy="1857375"/>
          </a:xfrm>
          <a:prstGeom xmlns:a="http://schemas.openxmlformats.org/drawingml/2006/main" prst="straightConnector1">
            <a:avLst/>
          </a:prstGeom>
          <a:ln xmlns:a="http://schemas.openxmlformats.org/drawingml/2006/main" w="20955">
            <a:solidFill>
              <a:srgbClr val="FFB85C"/>
            </a:solidFill>
            <a:prstDash val="solid"/>
            <a:headEnd type="none" w="med" len="med"/>
            <a:tailEnd type="triangle" w="sm" len="sm"/>
          </a:ln>
        </p:spPr>
      </p:cxnSp>
      <p:sp>
        <p:nvSpPr>
          <p:cNvPr id="19" name="">
            <a:extLst xmlns:a="http://schemas.openxmlformats.org/drawingml/2006/main">
              <a:ext uri="{FF2B5EF4-FFF2-40B4-BE49-F238E27FC236}">
                <a16:creationId xmlns:a16="http://schemas.microsoft.com/office/drawing/2014/main" id="{E9FDC15C-F2FB-4FF8-B048-115241567EB2}"/>
              </a:ext>
            </a:extLst>
          </p:cNvPr>
          <p:cNvSpPr>
            <a:spLocks xmlns:a="http://schemas.openxmlformats.org/drawingml/2006/main" noGrp="1"/>
          </p:cNvSpPr>
          <p:nvPr/>
        </p:nvSpPr>
        <p:spPr>
          <a:xfrm xmlns:a="http://schemas.openxmlformats.org/drawingml/2006/main">
            <a:off x="2790825" y="1885950"/>
            <a:ext cx="133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125" b="1">
                <a:solidFill>
                  <a:srgbClr val="48C7FF"/>
                </a:solidFill>
                <a:latin typeface="Avenir Next"/>
                <a:ea typeface="Avenir Next"/>
                <a:cs typeface="Avenir Next"/>
              </a:defRPr>
            </a:pPr>
            <a:r>
              <a:rPr sz="1125" b="1">
                <a:solidFill>
                  <a:srgbClr val="48C7FF"/>
                </a:solidFill>
                <a:latin typeface="Avenir Next"/>
                <a:ea typeface="Avenir Next"/>
                <a:cs typeface="Avenir Next"/>
              </a:rPr>
              <a:t>HTTP + SSE</a:t>
            </a:r>
          </a:p>
        </p:txBody>
      </p:sp>
      <p:sp>
        <p:nvSpPr>
          <p:cNvPr id="20" name="">
            <a:extLst xmlns:a="http://schemas.openxmlformats.org/drawingml/2006/main">
              <a:ext uri="{FF2B5EF4-FFF2-40B4-BE49-F238E27FC236}">
                <a16:creationId xmlns:a16="http://schemas.microsoft.com/office/drawing/2014/main" id="{8547D657-356A-4AA8-9048-8A2A754B5115}"/>
              </a:ext>
            </a:extLst>
          </p:cNvPr>
          <p:cNvSpPr>
            <a:spLocks xmlns:a="http://schemas.openxmlformats.org/drawingml/2006/main" noGrp="1"/>
          </p:cNvSpPr>
          <p:nvPr/>
        </p:nvSpPr>
        <p:spPr>
          <a:xfrm xmlns:a="http://schemas.openxmlformats.org/drawingml/2006/main">
            <a:off x="7867650" y="1885950"/>
            <a:ext cx="1581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125" b="1">
                <a:solidFill>
                  <a:srgbClr val="FFB85C"/>
                </a:solidFill>
                <a:latin typeface="Avenir Next"/>
                <a:ea typeface="Avenir Next"/>
                <a:cs typeface="Avenir Next"/>
              </a:defRPr>
            </a:pPr>
            <a:r>
              <a:rPr sz="1125" b="1">
                <a:solidFill>
                  <a:srgbClr val="FFB85C"/>
                </a:solidFill>
                <a:latin typeface="Avenir Next"/>
                <a:ea typeface="Avenir Next"/>
                <a:cs typeface="Avenir Next"/>
              </a:rPr>
              <a:t>MXL flows</a:t>
            </a:r>
          </a:p>
        </p:txBody>
      </p:sp>
      <p:sp>
        <p:nvSpPr>
          <p:cNvPr id="21" name="">
            <a:extLst xmlns:a="http://schemas.openxmlformats.org/drawingml/2006/main">
              <a:ext uri="{FF2B5EF4-FFF2-40B4-BE49-F238E27FC236}">
                <a16:creationId xmlns:a16="http://schemas.microsoft.com/office/drawing/2014/main" id="{49E66019-3861-4C29-BF47-B3BF910C2CA5}"/>
              </a:ext>
            </a:extLst>
          </p:cNvPr>
          <p:cNvSpPr>
            <a:spLocks xmlns:a="http://schemas.openxmlformats.org/drawingml/2006/main" noGrp="1"/>
          </p:cNvSpPr>
          <p:nvPr/>
        </p:nvSpPr>
        <p:spPr>
          <a:xfrm xmlns:a="http://schemas.openxmlformats.org/drawingml/2006/main">
            <a:off x="3619500" y="4981575"/>
            <a:ext cx="4953000" cy="1009650"/>
          </a:xfrm>
          <a:prstGeom xmlns:a="http://schemas.openxmlformats.org/drawingml/2006/main" prst="roundRect">
            <a:avLst>
              <a:gd name="adj" fmla="val 7547"/>
            </a:avLst>
          </a:prstGeom>
          <a:solidFill xmlns:a="http://schemas.openxmlformats.org/drawingml/2006/main">
            <a:srgbClr val="101F2C"/>
          </a:solidFill>
          <a:ln xmlns:a="http://schemas.openxmlformats.org/drawingml/2006/main" w="9525">
            <a:solidFill>
              <a:srgbClr val="294151"/>
            </a:solidFill>
          </a:ln>
        </p:spPr>
      </p:sp>
      <p:sp>
        <p:nvSpPr>
          <p:cNvPr id="22" name="">
            <a:extLst xmlns:a="http://schemas.openxmlformats.org/drawingml/2006/main">
              <a:ext uri="{FF2B5EF4-FFF2-40B4-BE49-F238E27FC236}">
                <a16:creationId xmlns:a16="http://schemas.microsoft.com/office/drawing/2014/main" id="{E9D3A93E-9507-4E87-9A50-FD742277F869}"/>
              </a:ext>
            </a:extLst>
          </p:cNvPr>
          <p:cNvSpPr>
            <a:spLocks xmlns:a="http://schemas.openxmlformats.org/drawingml/2006/main" noGrp="1"/>
          </p:cNvSpPr>
          <p:nvPr/>
        </p:nvSpPr>
        <p:spPr>
          <a:xfrm xmlns:a="http://schemas.openxmlformats.org/drawingml/2006/main">
            <a:off x="3848100" y="5057775"/>
            <a:ext cx="4495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275" b="0">
                <a:solidFill>
                  <a:srgbClr val="A9BAC8"/>
                </a:solidFill>
                <a:latin typeface="Avenir Next"/>
                <a:ea typeface="Avenir Next"/>
                <a:cs typeface="Avenir Next"/>
              </a:defRPr>
            </a:pPr>
            <a:r>
              <a:rPr sz="1275" b="0">
                <a:solidFill>
                  <a:srgbClr val="A9BAC8"/>
                </a:solidFill>
                <a:latin typeface="Avenir Next"/>
                <a:ea typeface="Avenir Next"/>
                <a:cs typeface="Avenir Next"/>
              </a:rPr>
              <a:t>Skins use the control contract. Media functions exchange MXL flows. Neither owns the Core lifecycle.</a:t>
            </a:r>
          </a:p>
        </p:txBody>
      </p:sp>
      <p:sp>
        <p:nvSpPr>
          <p:cNvPr id="23" name="">
            <a:extLst xmlns:a="http://schemas.openxmlformats.org/drawingml/2006/main">
              <a:ext uri="{FF2B5EF4-FFF2-40B4-BE49-F238E27FC236}">
                <a16:creationId xmlns:a16="http://schemas.microsoft.com/office/drawing/2014/main" id="{DFC82820-1410-474C-8854-5E14B5A59A87}"/>
              </a:ext>
            </a:extLst>
          </p:cNvPr>
          <p:cNvSpPr>
            <a:spLocks xmlns:a="http://schemas.openxmlformats.org/drawingml/2006/main" noGrp="1"/>
          </p:cNvSpPr>
          <p:nvPr/>
        </p:nvSpPr>
        <p:spPr>
          <a:xfrm xmlns:a="http://schemas.openxmlformats.org/drawingml/2006/main">
            <a:off x="609600" y="64674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Target platform boundary</a:t>
            </a:r>
          </a:p>
        </p:txBody>
      </p:sp>
      <p:sp>
        <p:nvSpPr>
          <p:cNvPr id="24" name="">
            <a:extLst xmlns:a="http://schemas.openxmlformats.org/drawingml/2006/main">
              <a:ext uri="{FF2B5EF4-FFF2-40B4-BE49-F238E27FC236}">
                <a16:creationId xmlns:a16="http://schemas.microsoft.com/office/drawing/2014/main" id="{9B9EF81B-9173-44E5-954A-A75669BB72F1}"/>
              </a:ext>
            </a:extLst>
          </p:cNvPr>
          <p:cNvSpPr>
            <a:spLocks xmlns:a="http://schemas.openxmlformats.org/drawingml/2006/main" noGrp="1"/>
          </p:cNvSpPr>
          <p:nvPr/>
        </p:nvSpPr>
        <p:spPr>
          <a:xfrm xmlns:a="http://schemas.openxmlformats.org/drawingml/2006/main">
            <a:off x="11239500" y="6467475"/>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r">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10</a:t>
            </a:r>
          </a:p>
        </p:txBody>
      </p:sp>
    </p:spTree>
    <p:extLst>
      <p:ext uri="{BB962C8B-B14F-4D97-AF65-F5344CB8AC3E}">
        <p14:creationId xmlns:p14="http://schemas.microsoft.com/office/powerpoint/2010/main" val="659381607"/>
      </p:ext>
    </p:extLst>
  </p:cSld>
</p:sld>
</file>

<file path=ppt/slides/slide11.xml><?xml version="1.0" encoding="utf-8"?>
<p:sld xmlns:p="http://schemas.openxmlformats.org/presentationml/2006/main">
  <p:cSld>
    <p:bg>
      <p:bgPr>
        <a:solidFill xmlns:a="http://schemas.openxmlformats.org/drawingml/2006/main">
          <a:srgbClr val="0C172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000DE67-172E-426C-A5CD-674618EC30FA}"/>
              </a:ext>
            </a:extLst>
          </p:cNvPr>
          <p:cNvSpPr>
            <a:spLocks xmlns:a="http://schemas.openxmlformats.org/drawingml/2006/main" noGrp="1"/>
          </p:cNvSpPr>
          <p:nvPr/>
        </p:nvSpPr>
        <p:spPr>
          <a:xfrm xmlns:a="http://schemas.openxmlformats.org/drawingml/2006/main">
            <a:off x="609600" y="361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3150" b="1">
                <a:solidFill>
                  <a:srgbClr val="F4F8FB"/>
                </a:solidFill>
                <a:latin typeface="Avenir Next"/>
                <a:ea typeface="Avenir Next"/>
                <a:cs typeface="Avenir Next"/>
              </a:defRPr>
            </a:pPr>
            <a:r>
              <a:rPr sz="3150" b="1">
                <a:solidFill>
                  <a:srgbClr val="F4F8FB"/>
                </a:solidFill>
                <a:latin typeface="Avenir Next"/>
                <a:ea typeface="Avenir Next"/>
                <a:cs typeface="Avenir Next"/>
              </a:rPr>
              <a:t>Current live demo stack</a:t>
            </a:r>
          </a:p>
        </p:txBody>
      </p:sp>
      <p:sp>
        <p:nvSpPr>
          <p:cNvPr id="2" name="">
            <a:extLst xmlns:a="http://schemas.openxmlformats.org/drawingml/2006/main">
              <a:ext uri="{FF2B5EF4-FFF2-40B4-BE49-F238E27FC236}">
                <a16:creationId xmlns:a16="http://schemas.microsoft.com/office/drawing/2014/main" id="{1D04C1D7-8103-4034-84C5-9E1C096F31D8}"/>
              </a:ext>
            </a:extLst>
          </p:cNvPr>
          <p:cNvSpPr>
            <a:spLocks xmlns:a="http://schemas.openxmlformats.org/drawingml/2006/main" noGrp="1"/>
          </p:cNvSpPr>
          <p:nvPr/>
        </p:nvSpPr>
        <p:spPr>
          <a:xfrm xmlns:a="http://schemas.openxmlformats.org/drawingml/2006/main">
            <a:off x="628650" y="9525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00" b="0">
                <a:solidFill>
                  <a:srgbClr val="A9BAC8"/>
                </a:solidFill>
                <a:latin typeface="Avenir Next"/>
                <a:ea typeface="Avenir Next"/>
                <a:cs typeface="Avenir Next"/>
              </a:defRPr>
            </a:pPr>
            <a:r>
              <a:rPr sz="1500" b="0">
                <a:solidFill>
                  <a:srgbClr val="A9BAC8"/>
                </a:solidFill>
                <a:latin typeface="Avenir Next"/>
                <a:ea typeface="Avenir Next"/>
                <a:cs typeface="Avenir Next"/>
              </a:rPr>
              <a:t>The useful production path is working now; audience-return audio remains the next acceptance gate</a:t>
            </a:r>
          </a:p>
        </p:txBody>
      </p:sp>
      <p:sp>
        <p:nvSpPr>
          <p:cNvPr id="3" name="">
            <a:extLst xmlns:a="http://schemas.openxmlformats.org/drawingml/2006/main">
              <a:ext uri="{FF2B5EF4-FFF2-40B4-BE49-F238E27FC236}">
                <a16:creationId xmlns:a16="http://schemas.microsoft.com/office/drawing/2014/main" id="{275068B8-8AD3-4C8D-9C8F-8F7CE7387BDE}"/>
              </a:ext>
            </a:extLst>
          </p:cNvPr>
          <p:cNvSpPr>
            <a:spLocks xmlns:a="http://schemas.openxmlformats.org/drawingml/2006/main" noGrp="1"/>
          </p:cNvSpPr>
          <p:nvPr/>
        </p:nvSpPr>
        <p:spPr>
          <a:xfrm xmlns:a="http://schemas.openxmlformats.org/drawingml/2006/main">
            <a:off x="609600" y="1362075"/>
            <a:ext cx="819150" cy="38100"/>
          </a:xfrm>
          <a:prstGeom xmlns:a="http://schemas.openxmlformats.org/drawingml/2006/main" prst="rect">
            <a:avLst/>
          </a:prstGeom>
          <a:solidFill xmlns:a="http://schemas.openxmlformats.org/drawingml/2006/main">
            <a:srgbClr val="36D4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A434F7C-6FCA-4F06-B25A-68F536894C50}"/>
              </a:ext>
            </a:extLst>
          </p:cNvPr>
          <p:cNvSpPr>
            <a:spLocks xmlns:a="http://schemas.openxmlformats.org/drawingml/2006/main" noGrp="1"/>
          </p:cNvSpPr>
          <p:nvPr/>
        </p:nvSpPr>
        <p:spPr>
          <a:xfrm xmlns:a="http://schemas.openxmlformats.org/drawingml/2006/main">
            <a:off x="704850" y="16954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125" b="1">
                <a:solidFill>
                  <a:srgbClr val="48C7FF"/>
                </a:solidFill>
                <a:latin typeface="Avenir Next"/>
                <a:ea typeface="Avenir Next"/>
                <a:cs typeface="Avenir Next"/>
              </a:defRPr>
            </a:pPr>
            <a:r>
              <a:rPr sz="1125" b="1">
                <a:solidFill>
                  <a:srgbClr val="48C7FF"/>
                </a:solidFill>
                <a:latin typeface="Avenir Next"/>
                <a:ea typeface="Avenir Next"/>
                <a:cs typeface="Avenir Next"/>
              </a:rPr>
              <a:t>PASSED</a:t>
            </a:r>
          </a:p>
        </p:txBody>
      </p:sp>
      <p:sp>
        <p:nvSpPr>
          <p:cNvPr id="5" name="">
            <a:extLst xmlns:a="http://schemas.openxmlformats.org/drawingml/2006/main">
              <a:ext uri="{FF2B5EF4-FFF2-40B4-BE49-F238E27FC236}">
                <a16:creationId xmlns:a16="http://schemas.microsoft.com/office/drawing/2014/main" id="{1356E6D5-6A0C-46A9-B086-A6938471A925}"/>
              </a:ext>
            </a:extLst>
          </p:cNvPr>
          <p:cNvSpPr>
            <a:spLocks xmlns:a="http://schemas.openxmlformats.org/drawingml/2006/main" noGrp="1"/>
          </p:cNvSpPr>
          <p:nvPr/>
        </p:nvSpPr>
        <p:spPr>
          <a:xfrm xmlns:a="http://schemas.openxmlformats.org/drawingml/2006/main">
            <a:off x="704850" y="200025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2100" b="1">
                <a:solidFill>
                  <a:srgbClr val="F4F8FB"/>
                </a:solidFill>
                <a:latin typeface="Avenir Next"/>
                <a:ea typeface="Avenir Next"/>
                <a:cs typeface="Avenir Next"/>
              </a:defRPr>
            </a:pPr>
            <a:r>
              <a:rPr sz="2100" b="1">
                <a:solidFill>
                  <a:srgbClr val="F4F8FB"/>
                </a:solidFill>
                <a:latin typeface="Avenir Next"/>
                <a:ea typeface="Avenir Next"/>
                <a:cs typeface="Avenir Next"/>
              </a:rPr>
              <a:t>CORE + BUSES</a:t>
            </a:r>
          </a:p>
        </p:txBody>
      </p:sp>
      <p:sp>
        <p:nvSpPr>
          <p:cNvPr id="6" name="">
            <a:extLst xmlns:a="http://schemas.openxmlformats.org/drawingml/2006/main">
              <a:ext uri="{FF2B5EF4-FFF2-40B4-BE49-F238E27FC236}">
                <a16:creationId xmlns:a16="http://schemas.microsoft.com/office/drawing/2014/main" id="{977EEC58-F01A-4692-AACC-43210CA9283B}"/>
              </a:ext>
            </a:extLst>
          </p:cNvPr>
          <p:cNvSpPr>
            <a:spLocks xmlns:a="http://schemas.openxmlformats.org/drawingml/2006/main" noGrp="1"/>
          </p:cNvSpPr>
          <p:nvPr/>
        </p:nvSpPr>
        <p:spPr>
          <a:xfrm xmlns:a="http://schemas.openxmlformats.org/drawingml/2006/main">
            <a:off x="704850" y="2505075"/>
            <a:ext cx="2857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Eight live 1080p inputs</a:t>
            </a:r>
          </a:p>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Stable Program and Preview</a:t>
            </a:r>
          </a:p>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Frame-boundary direct cuts</a:t>
            </a:r>
          </a:p>
        </p:txBody>
      </p:sp>
      <p:sp>
        <p:nvSpPr>
          <p:cNvPr id="7" name="">
            <a:extLst xmlns:a="http://schemas.openxmlformats.org/drawingml/2006/main">
              <a:ext uri="{FF2B5EF4-FFF2-40B4-BE49-F238E27FC236}">
                <a16:creationId xmlns:a16="http://schemas.microsoft.com/office/drawing/2014/main" id="{65EB7085-F0F9-42FD-82C6-C2860731BB89}"/>
              </a:ext>
            </a:extLst>
          </p:cNvPr>
          <p:cNvSpPr>
            <a:spLocks xmlns:a="http://schemas.openxmlformats.org/drawingml/2006/main" noGrp="1"/>
          </p:cNvSpPr>
          <p:nvPr/>
        </p:nvSpPr>
        <p:spPr>
          <a:xfrm xmlns:a="http://schemas.openxmlformats.org/drawingml/2006/main">
            <a:off x="3876675" y="1695450"/>
            <a:ext cx="14288" cy="3143250"/>
          </a:xfrm>
          <a:prstGeom xmlns:a="http://schemas.openxmlformats.org/drawingml/2006/main" prst="rect">
            <a:avLst/>
          </a:prstGeom>
          <a:solidFill xmlns:a="http://schemas.openxmlformats.org/drawingml/2006/main">
            <a:srgbClr val="29415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3BA1084-B729-458B-B3D1-B0915188F9FE}"/>
              </a:ext>
            </a:extLst>
          </p:cNvPr>
          <p:cNvSpPr>
            <a:spLocks xmlns:a="http://schemas.openxmlformats.org/drawingml/2006/main" noGrp="1"/>
          </p:cNvSpPr>
          <p:nvPr/>
        </p:nvSpPr>
        <p:spPr>
          <a:xfrm xmlns:a="http://schemas.openxmlformats.org/drawingml/2006/main">
            <a:off x="4286250" y="16954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125" b="1">
                <a:solidFill>
                  <a:srgbClr val="36D4C5"/>
                </a:solidFill>
                <a:latin typeface="Avenir Next"/>
                <a:ea typeface="Avenir Next"/>
                <a:cs typeface="Avenir Next"/>
              </a:defRPr>
            </a:pPr>
            <a:r>
              <a:rPr sz="1125" b="1">
                <a:solidFill>
                  <a:srgbClr val="36D4C5"/>
                </a:solidFill>
                <a:latin typeface="Avenir Next"/>
                <a:ea typeface="Avenir Next"/>
                <a:cs typeface="Avenir Next"/>
              </a:rPr>
              <a:t>RUNNING</a:t>
            </a:r>
          </a:p>
        </p:txBody>
      </p:sp>
      <p:sp>
        <p:nvSpPr>
          <p:cNvPr id="9" name="">
            <a:extLst xmlns:a="http://schemas.openxmlformats.org/drawingml/2006/main">
              <a:ext uri="{FF2B5EF4-FFF2-40B4-BE49-F238E27FC236}">
                <a16:creationId xmlns:a16="http://schemas.microsoft.com/office/drawing/2014/main" id="{E0BA7037-72CD-4B61-B01E-AD1C2725BE0A}"/>
              </a:ext>
            </a:extLst>
          </p:cNvPr>
          <p:cNvSpPr>
            <a:spLocks xmlns:a="http://schemas.openxmlformats.org/drawingml/2006/main" noGrp="1"/>
          </p:cNvSpPr>
          <p:nvPr/>
        </p:nvSpPr>
        <p:spPr>
          <a:xfrm xmlns:a="http://schemas.openxmlformats.org/drawingml/2006/main">
            <a:off x="4286250" y="200025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2100" b="1">
                <a:solidFill>
                  <a:srgbClr val="F4F8FB"/>
                </a:solidFill>
                <a:latin typeface="Avenir Next"/>
                <a:ea typeface="Avenir Next"/>
                <a:cs typeface="Avenir Next"/>
              </a:defRPr>
            </a:pPr>
            <a:r>
              <a:rPr sz="2100" b="1">
                <a:solidFill>
                  <a:srgbClr val="F4F8FB"/>
                </a:solidFill>
                <a:latin typeface="Avenir Next"/>
                <a:ea typeface="Avenir Next"/>
                <a:cs typeface="Avenir Next"/>
              </a:rPr>
              <a:t>OPERATOR + LOOKS</a:t>
            </a:r>
          </a:p>
        </p:txBody>
      </p:sp>
      <p:sp>
        <p:nvSpPr>
          <p:cNvPr id="10" name="">
            <a:extLst xmlns:a="http://schemas.openxmlformats.org/drawingml/2006/main">
              <a:ext uri="{FF2B5EF4-FFF2-40B4-BE49-F238E27FC236}">
                <a16:creationId xmlns:a16="http://schemas.microsoft.com/office/drawing/2014/main" id="{B0F14030-16B0-4008-B736-5E747AEFF10B}"/>
              </a:ext>
            </a:extLst>
          </p:cNvPr>
          <p:cNvSpPr>
            <a:spLocks xmlns:a="http://schemas.openxmlformats.org/drawingml/2006/main" noGrp="1"/>
          </p:cNvSpPr>
          <p:nvPr/>
        </p:nvSpPr>
        <p:spPr>
          <a:xfrm xmlns:a="http://schemas.openxmlformats.org/drawingml/2006/main">
            <a:off x="4286250" y="2505075"/>
            <a:ext cx="3095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ATEM-style browser Skin</a:t>
            </a:r>
          </a:p>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Companion / Stream Deck</a:t>
            </a:r>
          </a:p>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Warm ME A/B · 2-up through 8-up</a:t>
            </a:r>
          </a:p>
        </p:txBody>
      </p:sp>
      <p:sp>
        <p:nvSpPr>
          <p:cNvPr id="11" name="">
            <a:extLst xmlns:a="http://schemas.openxmlformats.org/drawingml/2006/main">
              <a:ext uri="{FF2B5EF4-FFF2-40B4-BE49-F238E27FC236}">
                <a16:creationId xmlns:a16="http://schemas.microsoft.com/office/drawing/2014/main" id="{CE12C0EF-85D2-4CD1-81BD-44B8058A19E8}"/>
              </a:ext>
            </a:extLst>
          </p:cNvPr>
          <p:cNvSpPr>
            <a:spLocks xmlns:a="http://schemas.openxmlformats.org/drawingml/2006/main" noGrp="1"/>
          </p:cNvSpPr>
          <p:nvPr/>
        </p:nvSpPr>
        <p:spPr>
          <a:xfrm xmlns:a="http://schemas.openxmlformats.org/drawingml/2006/main">
            <a:off x="7743825" y="1695450"/>
            <a:ext cx="14288" cy="3143250"/>
          </a:xfrm>
          <a:prstGeom xmlns:a="http://schemas.openxmlformats.org/drawingml/2006/main" prst="rect">
            <a:avLst/>
          </a:prstGeom>
          <a:solidFill xmlns:a="http://schemas.openxmlformats.org/drawingml/2006/main">
            <a:srgbClr val="29415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53675C0-158B-4CEB-A083-8A2EA20CA3B6}"/>
              </a:ext>
            </a:extLst>
          </p:cNvPr>
          <p:cNvSpPr>
            <a:spLocks xmlns:a="http://schemas.openxmlformats.org/drawingml/2006/main" noGrp="1"/>
          </p:cNvSpPr>
          <p:nvPr/>
        </p:nvSpPr>
        <p:spPr>
          <a:xfrm xmlns:a="http://schemas.openxmlformats.org/drawingml/2006/main">
            <a:off x="8153400" y="16954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125" b="1">
                <a:solidFill>
                  <a:srgbClr val="FFB85C"/>
                </a:solidFill>
                <a:latin typeface="Avenir Next"/>
                <a:ea typeface="Avenir Next"/>
                <a:cs typeface="Avenir Next"/>
              </a:defRPr>
            </a:pPr>
            <a:r>
              <a:rPr sz="1125" b="1">
                <a:solidFill>
                  <a:srgbClr val="FFB85C"/>
                </a:solidFill>
                <a:latin typeface="Avenir Next"/>
                <a:ea typeface="Avenir Next"/>
                <a:cs typeface="Avenir Next"/>
              </a:rPr>
              <a:t>VISIBLE OUTPUT</a:t>
            </a:r>
          </a:p>
        </p:txBody>
      </p:sp>
      <p:sp>
        <p:nvSpPr>
          <p:cNvPr id="13" name="">
            <a:extLst xmlns:a="http://schemas.openxmlformats.org/drawingml/2006/main">
              <a:ext uri="{FF2B5EF4-FFF2-40B4-BE49-F238E27FC236}">
                <a16:creationId xmlns:a16="http://schemas.microsoft.com/office/drawing/2014/main" id="{0421BC06-4A1C-4AE6-A4DE-ECEDCC43BA4E}"/>
              </a:ext>
            </a:extLst>
          </p:cNvPr>
          <p:cNvSpPr>
            <a:spLocks xmlns:a="http://schemas.openxmlformats.org/drawingml/2006/main" noGrp="1"/>
          </p:cNvSpPr>
          <p:nvPr/>
        </p:nvSpPr>
        <p:spPr>
          <a:xfrm xmlns:a="http://schemas.openxmlformats.org/drawingml/2006/main">
            <a:off x="8153400" y="200025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2100" b="1">
                <a:solidFill>
                  <a:srgbClr val="F4F8FB"/>
                </a:solidFill>
                <a:latin typeface="Avenir Next"/>
                <a:ea typeface="Avenir Next"/>
                <a:cs typeface="Avenir Next"/>
              </a:defRPr>
            </a:pPr>
            <a:r>
              <a:rPr sz="2100" b="1">
                <a:solidFill>
                  <a:srgbClr val="F4F8FB"/>
                </a:solidFill>
                <a:latin typeface="Avenir Next"/>
                <a:ea typeface="Avenir Next"/>
                <a:cs typeface="Avenir Next"/>
              </a:rPr>
              <a:t>Confidence + audio</a:t>
            </a:r>
          </a:p>
        </p:txBody>
      </p:sp>
      <p:sp>
        <p:nvSpPr>
          <p:cNvPr id="14" name="">
            <a:extLst xmlns:a="http://schemas.openxmlformats.org/drawingml/2006/main">
              <a:ext uri="{FF2B5EF4-FFF2-40B4-BE49-F238E27FC236}">
                <a16:creationId xmlns:a16="http://schemas.microsoft.com/office/drawing/2014/main" id="{F482AF03-7DB3-43DD-BAF4-C72C22EB70E0}"/>
              </a:ext>
            </a:extLst>
          </p:cNvPr>
          <p:cNvSpPr>
            <a:spLocks xmlns:a="http://schemas.openxmlformats.org/drawingml/2006/main" noGrp="1"/>
          </p:cNvSpPr>
          <p:nvPr/>
        </p:nvSpPr>
        <p:spPr>
          <a:xfrm xmlns:a="http://schemas.openxmlformats.org/drawingml/2006/main">
            <a:off x="8153400" y="2505075"/>
            <a:ext cx="3143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Program, Preview, and multiview WebRTC</a:t>
            </a:r>
          </a:p>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Per-source VU meters</a:t>
            </a:r>
          </a:p>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AFV and manual Program mixer</a:t>
            </a:r>
          </a:p>
        </p:txBody>
      </p:sp>
      <p:sp>
        <p:nvSpPr>
          <p:cNvPr id="15" name="">
            <a:extLst xmlns:a="http://schemas.openxmlformats.org/drawingml/2006/main">
              <a:ext uri="{FF2B5EF4-FFF2-40B4-BE49-F238E27FC236}">
                <a16:creationId xmlns:a16="http://schemas.microsoft.com/office/drawing/2014/main" id="{C5F06C74-E356-4ABE-8E9A-A47EA3E89155}"/>
              </a:ext>
            </a:extLst>
          </p:cNvPr>
          <p:cNvSpPr>
            <a:spLocks xmlns:a="http://schemas.openxmlformats.org/drawingml/2006/main" noGrp="1"/>
          </p:cNvSpPr>
          <p:nvPr/>
        </p:nvSpPr>
        <p:spPr>
          <a:xfrm xmlns:a="http://schemas.openxmlformats.org/drawingml/2006/main">
            <a:off x="685800" y="5086350"/>
            <a:ext cx="10839450" cy="781050"/>
          </a:xfrm>
          <a:prstGeom xmlns:a="http://schemas.openxmlformats.org/drawingml/2006/main" prst="roundRect">
            <a:avLst>
              <a:gd name="adj" fmla="val 9756"/>
            </a:avLst>
          </a:prstGeom>
          <a:solidFill xmlns:a="http://schemas.openxmlformats.org/drawingml/2006/main">
            <a:srgbClr val="10242F"/>
          </a:solidFill>
          <a:ln xmlns:a="http://schemas.openxmlformats.org/drawingml/2006/main" w="14288">
            <a:solidFill>
              <a:srgbClr val="36D4C5"/>
            </a:solidFill>
          </a:ln>
        </p:spPr>
      </p:sp>
      <p:sp>
        <p:nvSpPr>
          <p:cNvPr id="16" name="">
            <a:extLst xmlns:a="http://schemas.openxmlformats.org/drawingml/2006/main">
              <a:ext uri="{FF2B5EF4-FFF2-40B4-BE49-F238E27FC236}">
                <a16:creationId xmlns:a16="http://schemas.microsoft.com/office/drawing/2014/main" id="{C96E183B-6A14-464C-A1DA-69D3FC641D6C}"/>
              </a:ext>
            </a:extLst>
          </p:cNvPr>
          <p:cNvSpPr>
            <a:spLocks xmlns:a="http://schemas.openxmlformats.org/drawingml/2006/main" noGrp="1"/>
          </p:cNvSpPr>
          <p:nvPr/>
        </p:nvSpPr>
        <p:spPr>
          <a:xfrm xmlns:a="http://schemas.openxmlformats.org/drawingml/2006/main">
            <a:off x="914400" y="5181600"/>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650" b="1">
                <a:solidFill>
                  <a:srgbClr val="F4F8FB"/>
                </a:solidFill>
                <a:latin typeface="Avenir Next"/>
                <a:ea typeface="Avenir Next"/>
                <a:cs typeface="Avenir Next"/>
              </a:defRPr>
            </a:pPr>
            <a:r>
              <a:rPr sz="1650" b="1">
                <a:solidFill>
                  <a:srgbClr val="F4F8FB"/>
                </a:solidFill>
                <a:latin typeface="Avenir Next"/>
                <a:ea typeface="Avenir Next"/>
                <a:cs typeface="Avenir Next"/>
              </a:rPr>
              <a:t>Tonight's proof: eight pictures in, deterministic cuts, off-air Look preparation, instant ME bank CUT, and two independent control surfaces.</a:t>
            </a:r>
          </a:p>
        </p:txBody>
      </p:sp>
      <p:sp>
        <p:nvSpPr>
          <p:cNvPr id="17" name="">
            <a:extLst xmlns:a="http://schemas.openxmlformats.org/drawingml/2006/main">
              <a:ext uri="{FF2B5EF4-FFF2-40B4-BE49-F238E27FC236}">
                <a16:creationId xmlns:a16="http://schemas.microsoft.com/office/drawing/2014/main" id="{BA78E9C9-1BEF-47A1-8F95-58F70BD5A944}"/>
              </a:ext>
            </a:extLst>
          </p:cNvPr>
          <p:cNvSpPr>
            <a:spLocks xmlns:a="http://schemas.openxmlformats.org/drawingml/2006/main" noGrp="1"/>
          </p:cNvSpPr>
          <p:nvPr/>
        </p:nvSpPr>
        <p:spPr>
          <a:xfrm xmlns:a="http://schemas.openxmlformats.org/drawingml/2006/main">
            <a:off x="609600" y="64674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Acceptance evidence · October 2026</a:t>
            </a:r>
          </a:p>
        </p:txBody>
      </p:sp>
      <p:sp>
        <p:nvSpPr>
          <p:cNvPr id="18" name="">
            <a:extLst xmlns:a="http://schemas.openxmlformats.org/drawingml/2006/main">
              <a:ext uri="{FF2B5EF4-FFF2-40B4-BE49-F238E27FC236}">
                <a16:creationId xmlns:a16="http://schemas.microsoft.com/office/drawing/2014/main" id="{05AE2082-000E-4123-9EF9-13D104601863}"/>
              </a:ext>
            </a:extLst>
          </p:cNvPr>
          <p:cNvSpPr>
            <a:spLocks xmlns:a="http://schemas.openxmlformats.org/drawingml/2006/main" noGrp="1"/>
          </p:cNvSpPr>
          <p:nvPr/>
        </p:nvSpPr>
        <p:spPr>
          <a:xfrm xmlns:a="http://schemas.openxmlformats.org/drawingml/2006/main">
            <a:off x="11239500" y="6467475"/>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r">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11</a:t>
            </a:r>
          </a:p>
        </p:txBody>
      </p:sp>
    </p:spTree>
    <p:extLst>
      <p:ext uri="{BB962C8B-B14F-4D97-AF65-F5344CB8AC3E}">
        <p14:creationId xmlns:p14="http://schemas.microsoft.com/office/powerpoint/2010/main" val="1800819727"/>
      </p:ext>
    </p:extLst>
  </p:cSld>
</p:sld>
</file>

<file path=ppt/slides/slide12.xml><?xml version="1.0" encoding="utf-8"?>
<p:sld xmlns:p="http://schemas.openxmlformats.org/presentationml/2006/main">
  <p:cSld>
    <p:bg>
      <p:bgPr>
        <a:solidFill xmlns:a="http://schemas.openxmlformats.org/drawingml/2006/main">
          <a:srgbClr val="07101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F2912A8-26F9-400D-9901-4A959B5A37C6}"/>
              </a:ext>
            </a:extLst>
          </p:cNvPr>
          <p:cNvSpPr>
            <a:spLocks xmlns:a="http://schemas.openxmlformats.org/drawingml/2006/main" noGrp="1"/>
          </p:cNvSpPr>
          <p:nvPr/>
        </p:nvSpPr>
        <p:spPr>
          <a:xfrm xmlns:a="http://schemas.openxmlformats.org/drawingml/2006/main">
            <a:off x="609600" y="361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3150" b="1">
                <a:solidFill>
                  <a:srgbClr val="F4F8FB"/>
                </a:solidFill>
                <a:latin typeface="Avenir Next"/>
                <a:ea typeface="Avenir Next"/>
                <a:cs typeface="Avenir Next"/>
              </a:defRPr>
            </a:pPr>
            <a:r>
              <a:rPr sz="3150" b="1">
                <a:solidFill>
                  <a:srgbClr val="F4F8FB"/>
                </a:solidFill>
                <a:latin typeface="Avenir Next"/>
                <a:ea typeface="Avenir Next"/>
                <a:cs typeface="Avenir Next"/>
              </a:rPr>
              <a:t>Transport I/O at the facility edge</a:t>
            </a:r>
          </a:p>
        </p:txBody>
      </p:sp>
      <p:sp>
        <p:nvSpPr>
          <p:cNvPr id="2" name="">
            <a:extLst xmlns:a="http://schemas.openxmlformats.org/drawingml/2006/main">
              <a:ext uri="{FF2B5EF4-FFF2-40B4-BE49-F238E27FC236}">
                <a16:creationId xmlns:a16="http://schemas.microsoft.com/office/drawing/2014/main" id="{DFD25A0D-3E03-48F7-BEAA-18B45EC8B3C9}"/>
              </a:ext>
            </a:extLst>
          </p:cNvPr>
          <p:cNvSpPr>
            <a:spLocks xmlns:a="http://schemas.openxmlformats.org/drawingml/2006/main" noGrp="1"/>
          </p:cNvSpPr>
          <p:nvPr/>
        </p:nvSpPr>
        <p:spPr>
          <a:xfrm xmlns:a="http://schemas.openxmlformats.org/drawingml/2006/main">
            <a:off x="628650" y="9525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00" b="0">
                <a:solidFill>
                  <a:srgbClr val="A9BAC8"/>
                </a:solidFill>
                <a:latin typeface="Avenir Next"/>
                <a:ea typeface="Avenir Next"/>
                <a:cs typeface="Avenir Next"/>
              </a:defRPr>
            </a:pPr>
            <a:r>
              <a:rPr sz="1500" b="0">
                <a:solidFill>
                  <a:srgbClr val="A9BAC8"/>
                </a:solidFill>
                <a:latin typeface="Avenir Next"/>
                <a:ea typeface="Avenir Next"/>
                <a:cs typeface="Avenir Next"/>
              </a:rPr>
              <a:t>Adapters connect familiar network and hardware sources to native local MXL flows</a:t>
            </a:r>
          </a:p>
        </p:txBody>
      </p:sp>
      <p:sp>
        <p:nvSpPr>
          <p:cNvPr id="3" name="">
            <a:extLst xmlns:a="http://schemas.openxmlformats.org/drawingml/2006/main">
              <a:ext uri="{FF2B5EF4-FFF2-40B4-BE49-F238E27FC236}">
                <a16:creationId xmlns:a16="http://schemas.microsoft.com/office/drawing/2014/main" id="{29581124-9BA4-402D-999E-262E69477AA5}"/>
              </a:ext>
            </a:extLst>
          </p:cNvPr>
          <p:cNvSpPr>
            <a:spLocks xmlns:a="http://schemas.openxmlformats.org/drawingml/2006/main" noGrp="1"/>
          </p:cNvSpPr>
          <p:nvPr/>
        </p:nvSpPr>
        <p:spPr>
          <a:xfrm xmlns:a="http://schemas.openxmlformats.org/drawingml/2006/main">
            <a:off x="609600" y="1362075"/>
            <a:ext cx="819150" cy="38100"/>
          </a:xfrm>
          <a:prstGeom xmlns:a="http://schemas.openxmlformats.org/drawingml/2006/main" prst="rect">
            <a:avLst/>
          </a:prstGeom>
          <a:solidFill xmlns:a="http://schemas.openxmlformats.org/drawingml/2006/main">
            <a:srgbClr val="36D4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EAC98E6-9F3B-4975-9F90-9B8EC89C34A0}"/>
              </a:ext>
            </a:extLst>
          </p:cNvPr>
          <p:cNvSpPr>
            <a:spLocks xmlns:a="http://schemas.openxmlformats.org/drawingml/2006/main" noGrp="1"/>
          </p:cNvSpPr>
          <p:nvPr/>
        </p:nvSpPr>
        <p:spPr>
          <a:xfrm xmlns:a="http://schemas.openxmlformats.org/drawingml/2006/main">
            <a:off x="4324350" y="2476500"/>
            <a:ext cx="3543300" cy="1562100"/>
          </a:xfrm>
          <a:prstGeom xmlns:a="http://schemas.openxmlformats.org/drawingml/2006/main" prst="roundRect">
            <a:avLst>
              <a:gd name="adj" fmla="val 4878"/>
            </a:avLst>
          </a:prstGeom>
          <a:solidFill xmlns:a="http://schemas.openxmlformats.org/drawingml/2006/main">
            <a:srgbClr val="10332E"/>
          </a:solidFill>
          <a:ln xmlns:a="http://schemas.openxmlformats.org/drawingml/2006/main" w="28575">
            <a:solidFill>
              <a:srgbClr val="36D4C5"/>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875" b="1">
                <a:solidFill>
                  <a:srgbClr val="F4F8FB"/>
                </a:solidFill>
                <a:latin typeface="Avenir Next"/>
                <a:ea typeface="Avenir Next"/>
                <a:cs typeface="Avenir Next"/>
              </a:defRPr>
            </a:pPr>
            <a:r>
              <a:rPr sz="1875" b="1">
                <a:solidFill>
                  <a:srgbClr val="F4F8FB"/>
                </a:solidFill>
                <a:latin typeface="Avenir Next"/>
                <a:ea typeface="Avenir Next"/>
                <a:cs typeface="Avenir Next"/>
              </a:rPr>
              <a:t>TRANSPORT / MXL I/O</a:t>
            </a:r>
          </a:p>
          <a:p xmlns:a="http://schemas.openxmlformats.org/drawingml/2006/main">
            <a:pPr algn="ctr">
              <a:buNone/>
              <a:defRPr sz="1875" b="1">
                <a:solidFill>
                  <a:srgbClr val="F4F8FB"/>
                </a:solidFill>
                <a:latin typeface="Avenir Next"/>
                <a:ea typeface="Avenir Next"/>
                <a:cs typeface="Avenir Next"/>
              </a:defRPr>
            </a:pPr>
            <a:r>
              <a:rPr sz="1875" b="1">
                <a:solidFill>
                  <a:srgbClr val="F4F8FB"/>
                </a:solidFill>
                <a:latin typeface="Avenir Next"/>
                <a:ea typeface="Avenir Next"/>
                <a:cs typeface="Avenir Next"/>
              </a:rPr>
              <a:t>Receive, normalize, publish</a:t>
            </a:r>
          </a:p>
        </p:txBody>
      </p:sp>
      <p:sp>
        <p:nvSpPr>
          <p:cNvPr id="5" name="">
            <a:extLst xmlns:a="http://schemas.openxmlformats.org/drawingml/2006/main">
              <a:ext uri="{FF2B5EF4-FFF2-40B4-BE49-F238E27FC236}">
                <a16:creationId xmlns:a16="http://schemas.microsoft.com/office/drawing/2014/main" id="{89ED6A13-4389-4BE3-B67E-7BCD1F921A6E}"/>
              </a:ext>
            </a:extLst>
          </p:cNvPr>
          <p:cNvSpPr>
            <a:spLocks xmlns:a="http://schemas.openxmlformats.org/drawingml/2006/main" noGrp="1"/>
          </p:cNvSpPr>
          <p:nvPr/>
        </p:nvSpPr>
        <p:spPr>
          <a:xfrm xmlns:a="http://schemas.openxmlformats.org/drawingml/2006/main">
            <a:off x="857250" y="1647825"/>
            <a:ext cx="1790700" cy="723900"/>
          </a:xfrm>
          <a:prstGeom xmlns:a="http://schemas.openxmlformats.org/drawingml/2006/main" prst="roundRect">
            <a:avLst>
              <a:gd name="adj" fmla="val 10526"/>
            </a:avLst>
          </a:prstGeom>
          <a:solidFill xmlns:a="http://schemas.openxmlformats.org/drawingml/2006/main">
            <a:srgbClr val="152A38"/>
          </a:solidFill>
          <a:ln xmlns:a="http://schemas.openxmlformats.org/drawingml/2006/main" w="14288">
            <a:solidFill>
              <a:srgbClr val="48C7FF"/>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NDI cameras</a:t>
            </a:r>
          </a:p>
        </p:txBody>
      </p:sp>
      <p:sp>
        <p:nvSpPr>
          <p:cNvPr id="6" name="">
            <a:extLst xmlns:a="http://schemas.openxmlformats.org/drawingml/2006/main">
              <a:ext uri="{FF2B5EF4-FFF2-40B4-BE49-F238E27FC236}">
                <a16:creationId xmlns:a16="http://schemas.microsoft.com/office/drawing/2014/main" id="{E490BBCC-2B1A-4CFA-90C0-1616040FD630}"/>
              </a:ext>
            </a:extLst>
          </p:cNvPr>
          <p:cNvSpPr>
            <a:spLocks xmlns:a="http://schemas.openxmlformats.org/drawingml/2006/main" noGrp="1"/>
          </p:cNvSpPr>
          <p:nvPr/>
        </p:nvSpPr>
        <p:spPr>
          <a:xfrm xmlns:a="http://schemas.openxmlformats.org/drawingml/2006/main">
            <a:off x="857250" y="2781300"/>
            <a:ext cx="1790700" cy="723900"/>
          </a:xfrm>
          <a:prstGeom xmlns:a="http://schemas.openxmlformats.org/drawingml/2006/main" prst="roundRect">
            <a:avLst>
              <a:gd name="adj" fmla="val 10526"/>
            </a:avLst>
          </a:prstGeom>
          <a:solidFill xmlns:a="http://schemas.openxmlformats.org/drawingml/2006/main">
            <a:srgbClr val="152A38"/>
          </a:solidFill>
          <a:ln xmlns:a="http://schemas.openxmlformats.org/drawingml/2006/main" w="14288">
            <a:solidFill>
              <a:srgbClr val="48C7FF"/>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ZoomISO and SRT</a:t>
            </a:r>
          </a:p>
        </p:txBody>
      </p:sp>
      <p:sp>
        <p:nvSpPr>
          <p:cNvPr id="7" name="">
            <a:extLst xmlns:a="http://schemas.openxmlformats.org/drawingml/2006/main">
              <a:ext uri="{FF2B5EF4-FFF2-40B4-BE49-F238E27FC236}">
                <a16:creationId xmlns:a16="http://schemas.microsoft.com/office/drawing/2014/main" id="{CD8F3655-F2E2-4A7E-98F5-C569255495BC}"/>
              </a:ext>
            </a:extLst>
          </p:cNvPr>
          <p:cNvSpPr>
            <a:spLocks xmlns:a="http://schemas.openxmlformats.org/drawingml/2006/main" noGrp="1"/>
          </p:cNvSpPr>
          <p:nvPr/>
        </p:nvSpPr>
        <p:spPr>
          <a:xfrm xmlns:a="http://schemas.openxmlformats.org/drawingml/2006/main">
            <a:off x="857250" y="3914775"/>
            <a:ext cx="1790700" cy="723900"/>
          </a:xfrm>
          <a:prstGeom xmlns:a="http://schemas.openxmlformats.org/drawingml/2006/main" prst="roundRect">
            <a:avLst>
              <a:gd name="adj" fmla="val 10526"/>
            </a:avLst>
          </a:prstGeom>
          <a:solidFill xmlns:a="http://schemas.openxmlformats.org/drawingml/2006/main">
            <a:srgbClr val="152A38"/>
          </a:solidFill>
          <a:ln xmlns:a="http://schemas.openxmlformats.org/drawingml/2006/main" w="14288">
            <a:solidFill>
              <a:srgbClr val="48C7FF"/>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OBS, SDI, tools</a:t>
            </a:r>
          </a:p>
        </p:txBody>
      </p:sp>
      <p:sp>
        <p:nvSpPr>
          <p:cNvPr id="8" name="">
            <a:extLst xmlns:a="http://schemas.openxmlformats.org/drawingml/2006/main">
              <a:ext uri="{FF2B5EF4-FFF2-40B4-BE49-F238E27FC236}">
                <a16:creationId xmlns:a16="http://schemas.microsoft.com/office/drawing/2014/main" id="{B87D2932-EB70-407E-9F44-51517510E8C0}"/>
              </a:ext>
            </a:extLst>
          </p:cNvPr>
          <p:cNvSpPr>
            <a:spLocks xmlns:a="http://schemas.openxmlformats.org/drawingml/2006/main" noGrp="1"/>
          </p:cNvSpPr>
          <p:nvPr/>
        </p:nvSpPr>
        <p:spPr>
          <a:xfrm xmlns:a="http://schemas.openxmlformats.org/drawingml/2006/main">
            <a:off x="9544050" y="1466850"/>
            <a:ext cx="1809750" cy="895350"/>
          </a:xfrm>
          <a:prstGeom xmlns:a="http://schemas.openxmlformats.org/drawingml/2006/main" prst="roundRect">
            <a:avLst>
              <a:gd name="adj" fmla="val 8511"/>
            </a:avLst>
          </a:prstGeom>
          <a:solidFill xmlns:a="http://schemas.openxmlformats.org/drawingml/2006/main">
            <a:srgbClr val="2C2519"/>
          </a:solidFill>
          <a:ln xmlns:a="http://schemas.openxmlformats.org/drawingml/2006/main" w="14288">
            <a:solidFill>
              <a:srgbClr val="FFB85C"/>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MXL Core</a:t>
            </a:r>
          </a:p>
        </p:txBody>
      </p:sp>
      <p:sp>
        <p:nvSpPr>
          <p:cNvPr id="9" name="">
            <a:extLst xmlns:a="http://schemas.openxmlformats.org/drawingml/2006/main">
              <a:ext uri="{FF2B5EF4-FFF2-40B4-BE49-F238E27FC236}">
                <a16:creationId xmlns:a16="http://schemas.microsoft.com/office/drawing/2014/main" id="{A90FA1A2-5639-4B28-A904-8760DCF0F915}"/>
              </a:ext>
            </a:extLst>
          </p:cNvPr>
          <p:cNvSpPr>
            <a:spLocks xmlns:a="http://schemas.openxmlformats.org/drawingml/2006/main" noGrp="1"/>
          </p:cNvSpPr>
          <p:nvPr/>
        </p:nvSpPr>
        <p:spPr>
          <a:xfrm xmlns:a="http://schemas.openxmlformats.org/drawingml/2006/main">
            <a:off x="9544050" y="2676525"/>
            <a:ext cx="1809750" cy="723900"/>
          </a:xfrm>
          <a:prstGeom xmlns:a="http://schemas.openxmlformats.org/drawingml/2006/main" prst="roundRect">
            <a:avLst>
              <a:gd name="adj" fmla="val 10526"/>
            </a:avLst>
          </a:prstGeom>
          <a:solidFill xmlns:a="http://schemas.openxmlformats.org/drawingml/2006/main">
            <a:srgbClr val="2C2519"/>
          </a:solidFill>
          <a:ln xmlns:a="http://schemas.openxmlformats.org/drawingml/2006/main" w="14288">
            <a:solidFill>
              <a:srgbClr val="FFB85C"/>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Graphics</a:t>
            </a:r>
          </a:p>
        </p:txBody>
      </p:sp>
      <p:sp>
        <p:nvSpPr>
          <p:cNvPr id="10" name="">
            <a:extLst xmlns:a="http://schemas.openxmlformats.org/drawingml/2006/main">
              <a:ext uri="{FF2B5EF4-FFF2-40B4-BE49-F238E27FC236}">
                <a16:creationId xmlns:a16="http://schemas.microsoft.com/office/drawing/2014/main" id="{0257CF9D-DC7C-4B10-B1AC-863BDE83C06F}"/>
              </a:ext>
            </a:extLst>
          </p:cNvPr>
          <p:cNvSpPr>
            <a:spLocks xmlns:a="http://schemas.openxmlformats.org/drawingml/2006/main" noGrp="1"/>
          </p:cNvSpPr>
          <p:nvPr/>
        </p:nvSpPr>
        <p:spPr>
          <a:xfrm xmlns:a="http://schemas.openxmlformats.org/drawingml/2006/main">
            <a:off x="9544050" y="3714750"/>
            <a:ext cx="1809750" cy="723900"/>
          </a:xfrm>
          <a:prstGeom xmlns:a="http://schemas.openxmlformats.org/drawingml/2006/main" prst="roundRect">
            <a:avLst>
              <a:gd name="adj" fmla="val 10526"/>
            </a:avLst>
          </a:prstGeom>
          <a:solidFill xmlns:a="http://schemas.openxmlformats.org/drawingml/2006/main">
            <a:srgbClr val="2C2519"/>
          </a:solidFill>
          <a:ln xmlns:a="http://schemas.openxmlformats.org/drawingml/2006/main" w="14288">
            <a:solidFill>
              <a:srgbClr val="FFB85C"/>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Multiview</a:t>
            </a:r>
          </a:p>
        </p:txBody>
      </p:sp>
      <p:sp>
        <p:nvSpPr>
          <p:cNvPr id="11" name="">
            <a:extLst xmlns:a="http://schemas.openxmlformats.org/drawingml/2006/main">
              <a:ext uri="{FF2B5EF4-FFF2-40B4-BE49-F238E27FC236}">
                <a16:creationId xmlns:a16="http://schemas.microsoft.com/office/drawing/2014/main" id="{80083446-3FC0-4D7A-9C4C-8CFE4289B32A}"/>
              </a:ext>
            </a:extLst>
          </p:cNvPr>
          <p:cNvSpPr>
            <a:spLocks xmlns:a="http://schemas.openxmlformats.org/drawingml/2006/main" noGrp="1"/>
          </p:cNvSpPr>
          <p:nvPr/>
        </p:nvSpPr>
        <p:spPr>
          <a:xfrm xmlns:a="http://schemas.openxmlformats.org/drawingml/2006/main">
            <a:off x="9544050" y="4752975"/>
            <a:ext cx="1809750" cy="723900"/>
          </a:xfrm>
          <a:prstGeom xmlns:a="http://schemas.openxmlformats.org/drawingml/2006/main" prst="roundRect">
            <a:avLst>
              <a:gd name="adj" fmla="val 10526"/>
            </a:avLst>
          </a:prstGeom>
          <a:solidFill xmlns:a="http://schemas.openxmlformats.org/drawingml/2006/main">
            <a:srgbClr val="2C2519"/>
          </a:solidFill>
          <a:ln xmlns:a="http://schemas.openxmlformats.org/drawingml/2006/main" w="14288">
            <a:solidFill>
              <a:srgbClr val="FFB85C"/>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Record / stream</a:t>
            </a:r>
          </a:p>
        </p:txBody>
      </p:sp>
      <p:cxnSp>
        <p:nvCxnSpPr>
          <p:cNvPr id="90" name="">
            <a:extLst xmlns:a="http://schemas.openxmlformats.org/drawingml/2006/main">
              <a:ext uri="{FF2B5EF4-FFF2-40B4-BE49-F238E27FC236}">
                <a16:creationId xmlns:a16="http://schemas.microsoft.com/office/drawing/2014/main" id="{01E25CD0-DECA-4FE8-9DCF-3A64EE284C5E}"/>
              </a:ext>
            </a:extLst>
          </p:cNvPr>
          <p:cNvCxnSpPr>
            <a:stCxn xmlns:a="http://schemas.openxmlformats.org/drawingml/2006/main" id="5" idx="3"/>
            <a:endCxn xmlns:a="http://schemas.openxmlformats.org/drawingml/2006/main" id="4" idx="1"/>
          </p:cNvCxnSpPr>
          <p:nvPr/>
        </p:nvCxnSpPr>
        <p:spPr>
          <a:xfrm xmlns:a="http://schemas.openxmlformats.org/drawingml/2006/main">
            <a:off x="2647950" y="2009775"/>
            <a:ext cx="1676400" cy="1247775"/>
          </a:xfrm>
          <a:prstGeom xmlns:a="http://schemas.openxmlformats.org/drawingml/2006/main" prst="straightConnector1">
            <a:avLst/>
          </a:prstGeom>
          <a:ln xmlns:a="http://schemas.openxmlformats.org/drawingml/2006/main" w="20955">
            <a:solidFill>
              <a:srgbClr val="48C7FF"/>
            </a:solidFill>
            <a:prstDash val="solid"/>
            <a:headEnd type="none" w="med" len="med"/>
            <a:tailEnd type="triangle" w="sm" len="sm"/>
          </a:ln>
        </p:spPr>
      </p:cxnSp>
      <p:cxnSp>
        <p:nvCxnSpPr>
          <p:cNvPr id="91" name="">
            <a:extLst xmlns:a="http://schemas.openxmlformats.org/drawingml/2006/main">
              <a:ext uri="{FF2B5EF4-FFF2-40B4-BE49-F238E27FC236}">
                <a16:creationId xmlns:a16="http://schemas.microsoft.com/office/drawing/2014/main" id="{F0D61D13-8A07-4EF9-AEF3-5B19513AE6EB}"/>
              </a:ext>
            </a:extLst>
          </p:cNvPr>
          <p:cNvCxnSpPr>
            <a:stCxn xmlns:a="http://schemas.openxmlformats.org/drawingml/2006/main" id="6" idx="3"/>
            <a:endCxn xmlns:a="http://schemas.openxmlformats.org/drawingml/2006/main" id="4" idx="1"/>
          </p:cNvCxnSpPr>
          <p:nvPr/>
        </p:nvCxnSpPr>
        <p:spPr>
          <a:xfrm xmlns:a="http://schemas.openxmlformats.org/drawingml/2006/main">
            <a:off x="2647950" y="3143250"/>
            <a:ext cx="1676400" cy="114300"/>
          </a:xfrm>
          <a:prstGeom xmlns:a="http://schemas.openxmlformats.org/drawingml/2006/main" prst="straightConnector1">
            <a:avLst/>
          </a:prstGeom>
          <a:ln xmlns:a="http://schemas.openxmlformats.org/drawingml/2006/main" w="20955">
            <a:solidFill>
              <a:srgbClr val="48C7FF"/>
            </a:solidFill>
            <a:prstDash val="solid"/>
            <a:headEnd type="none" w="med" len="med"/>
            <a:tailEnd type="triangle" w="sm" len="sm"/>
          </a:ln>
        </p:spPr>
      </p:cxnSp>
      <p:cxnSp>
        <p:nvCxnSpPr>
          <p:cNvPr id="92" name="">
            <a:extLst xmlns:a="http://schemas.openxmlformats.org/drawingml/2006/main">
              <a:ext uri="{FF2B5EF4-FFF2-40B4-BE49-F238E27FC236}">
                <a16:creationId xmlns:a16="http://schemas.microsoft.com/office/drawing/2014/main" id="{2CA953D2-2C66-41D8-831A-DE7FD8678514}"/>
              </a:ext>
            </a:extLst>
          </p:cNvPr>
          <p:cNvCxnSpPr>
            <a:stCxn xmlns:a="http://schemas.openxmlformats.org/drawingml/2006/main" id="7" idx="3"/>
            <a:endCxn xmlns:a="http://schemas.openxmlformats.org/drawingml/2006/main" id="4" idx="1"/>
          </p:cNvCxnSpPr>
          <p:nvPr/>
        </p:nvCxnSpPr>
        <p:spPr>
          <a:xfrm xmlns:a="http://schemas.openxmlformats.org/drawingml/2006/main" flipV="1">
            <a:off x="2647950" y="3257550"/>
            <a:ext cx="1676400" cy="1019175"/>
          </a:xfrm>
          <a:prstGeom xmlns:a="http://schemas.openxmlformats.org/drawingml/2006/main" prst="straightConnector1">
            <a:avLst/>
          </a:prstGeom>
          <a:ln xmlns:a="http://schemas.openxmlformats.org/drawingml/2006/main" w="20955">
            <a:solidFill>
              <a:srgbClr val="48C7FF"/>
            </a:solidFill>
            <a:prstDash val="solid"/>
            <a:headEnd type="none" w="med" len="med"/>
            <a:tailEnd type="triangle" w="sm" len="sm"/>
          </a:ln>
        </p:spPr>
      </p:cxnSp>
      <p:cxnSp>
        <p:nvCxnSpPr>
          <p:cNvPr id="93" name="">
            <a:extLst xmlns:a="http://schemas.openxmlformats.org/drawingml/2006/main">
              <a:ext uri="{FF2B5EF4-FFF2-40B4-BE49-F238E27FC236}">
                <a16:creationId xmlns:a16="http://schemas.microsoft.com/office/drawing/2014/main" id="{BBF165FB-C2AC-4427-BDE6-2102C01920B9}"/>
              </a:ext>
            </a:extLst>
          </p:cNvPr>
          <p:cNvCxnSpPr>
            <a:stCxn xmlns:a="http://schemas.openxmlformats.org/drawingml/2006/main" id="4" idx="3"/>
            <a:endCxn xmlns:a="http://schemas.openxmlformats.org/drawingml/2006/main" id="8" idx="1"/>
          </p:cNvCxnSpPr>
          <p:nvPr/>
        </p:nvCxnSpPr>
        <p:spPr>
          <a:xfrm xmlns:a="http://schemas.openxmlformats.org/drawingml/2006/main" flipV="1">
            <a:off x="7867650" y="1914525"/>
            <a:ext cx="1676400" cy="1343025"/>
          </a:xfrm>
          <a:prstGeom xmlns:a="http://schemas.openxmlformats.org/drawingml/2006/main" prst="straightConnector1">
            <a:avLst/>
          </a:prstGeom>
          <a:ln xmlns:a="http://schemas.openxmlformats.org/drawingml/2006/main" w="20955">
            <a:solidFill>
              <a:srgbClr val="FFB85C"/>
            </a:solidFill>
            <a:prstDash val="solid"/>
            <a:headEnd type="none" w="med" len="med"/>
            <a:tailEnd type="triangle" w="sm" len="sm"/>
          </a:ln>
        </p:spPr>
      </p:cxnSp>
      <p:cxnSp>
        <p:nvCxnSpPr>
          <p:cNvPr id="94" name="">
            <a:extLst xmlns:a="http://schemas.openxmlformats.org/drawingml/2006/main">
              <a:ext uri="{FF2B5EF4-FFF2-40B4-BE49-F238E27FC236}">
                <a16:creationId xmlns:a16="http://schemas.microsoft.com/office/drawing/2014/main" id="{CF84797F-CC1A-4C4A-810E-72268575D0F3}"/>
              </a:ext>
            </a:extLst>
          </p:cNvPr>
          <p:cNvCxnSpPr>
            <a:stCxn xmlns:a="http://schemas.openxmlformats.org/drawingml/2006/main" id="4" idx="3"/>
            <a:endCxn xmlns:a="http://schemas.openxmlformats.org/drawingml/2006/main" id="9" idx="1"/>
          </p:cNvCxnSpPr>
          <p:nvPr/>
        </p:nvCxnSpPr>
        <p:spPr>
          <a:xfrm xmlns:a="http://schemas.openxmlformats.org/drawingml/2006/main" flipV="1">
            <a:off x="7867650" y="3038475"/>
            <a:ext cx="1676400" cy="219075"/>
          </a:xfrm>
          <a:prstGeom xmlns:a="http://schemas.openxmlformats.org/drawingml/2006/main" prst="straightConnector1">
            <a:avLst/>
          </a:prstGeom>
          <a:ln xmlns:a="http://schemas.openxmlformats.org/drawingml/2006/main" w="20955">
            <a:solidFill>
              <a:srgbClr val="FFB85C"/>
            </a:solidFill>
            <a:prstDash val="solid"/>
            <a:headEnd type="none" w="med" len="med"/>
            <a:tailEnd type="triangle" w="sm" len="sm"/>
          </a:ln>
        </p:spPr>
      </p:cxnSp>
      <p:cxnSp>
        <p:nvCxnSpPr>
          <p:cNvPr id="95" name="">
            <a:extLst xmlns:a="http://schemas.openxmlformats.org/drawingml/2006/main">
              <a:ext uri="{FF2B5EF4-FFF2-40B4-BE49-F238E27FC236}">
                <a16:creationId xmlns:a16="http://schemas.microsoft.com/office/drawing/2014/main" id="{E0B2BA27-45FF-4C9D-8DB2-375ECC70ED6A}"/>
              </a:ext>
            </a:extLst>
          </p:cNvPr>
          <p:cNvCxnSpPr>
            <a:stCxn xmlns:a="http://schemas.openxmlformats.org/drawingml/2006/main" id="4" idx="3"/>
            <a:endCxn xmlns:a="http://schemas.openxmlformats.org/drawingml/2006/main" id="10" idx="1"/>
          </p:cNvCxnSpPr>
          <p:nvPr/>
        </p:nvCxnSpPr>
        <p:spPr>
          <a:xfrm xmlns:a="http://schemas.openxmlformats.org/drawingml/2006/main">
            <a:off x="7867650" y="3257550"/>
            <a:ext cx="1676400" cy="819150"/>
          </a:xfrm>
          <a:prstGeom xmlns:a="http://schemas.openxmlformats.org/drawingml/2006/main" prst="straightConnector1">
            <a:avLst/>
          </a:prstGeom>
          <a:ln xmlns:a="http://schemas.openxmlformats.org/drawingml/2006/main" w="20955">
            <a:solidFill>
              <a:srgbClr val="FFB85C"/>
            </a:solidFill>
            <a:prstDash val="solid"/>
            <a:headEnd type="none" w="med" len="med"/>
            <a:tailEnd type="triangle" w="sm" len="sm"/>
          </a:ln>
        </p:spPr>
      </p:cxnSp>
      <p:cxnSp>
        <p:nvCxnSpPr>
          <p:cNvPr id="96" name="">
            <a:extLst xmlns:a="http://schemas.openxmlformats.org/drawingml/2006/main">
              <a:ext uri="{FF2B5EF4-FFF2-40B4-BE49-F238E27FC236}">
                <a16:creationId xmlns:a16="http://schemas.microsoft.com/office/drawing/2014/main" id="{7A3550CD-7471-4C79-B126-3C88CA4B8118}"/>
              </a:ext>
            </a:extLst>
          </p:cNvPr>
          <p:cNvCxnSpPr>
            <a:stCxn xmlns:a="http://schemas.openxmlformats.org/drawingml/2006/main" id="4" idx="3"/>
            <a:endCxn xmlns:a="http://schemas.openxmlformats.org/drawingml/2006/main" id="11" idx="1"/>
          </p:cNvCxnSpPr>
          <p:nvPr/>
        </p:nvCxnSpPr>
        <p:spPr>
          <a:xfrm xmlns:a="http://schemas.openxmlformats.org/drawingml/2006/main">
            <a:off x="7867650" y="3257550"/>
            <a:ext cx="1676400" cy="1857375"/>
          </a:xfrm>
          <a:prstGeom xmlns:a="http://schemas.openxmlformats.org/drawingml/2006/main" prst="straightConnector1">
            <a:avLst/>
          </a:prstGeom>
          <a:ln xmlns:a="http://schemas.openxmlformats.org/drawingml/2006/main" w="20955">
            <a:solidFill>
              <a:srgbClr val="FFB85C"/>
            </a:solidFill>
            <a:prstDash val="solid"/>
            <a:headEnd type="none" w="med" len="med"/>
            <a:tailEnd type="triangle" w="sm" len="sm"/>
          </a:ln>
        </p:spPr>
      </p:cxnSp>
      <p:sp>
        <p:nvSpPr>
          <p:cNvPr id="19" name="">
            <a:extLst xmlns:a="http://schemas.openxmlformats.org/drawingml/2006/main">
              <a:ext uri="{FF2B5EF4-FFF2-40B4-BE49-F238E27FC236}">
                <a16:creationId xmlns:a16="http://schemas.microsoft.com/office/drawing/2014/main" id="{E9FDC15C-F2FB-4FF8-B048-115241567EB2}"/>
              </a:ext>
            </a:extLst>
          </p:cNvPr>
          <p:cNvSpPr>
            <a:spLocks xmlns:a="http://schemas.openxmlformats.org/drawingml/2006/main" noGrp="1"/>
          </p:cNvSpPr>
          <p:nvPr/>
        </p:nvSpPr>
        <p:spPr>
          <a:xfrm xmlns:a="http://schemas.openxmlformats.org/drawingml/2006/main">
            <a:off x="2790825" y="1885950"/>
            <a:ext cx="133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125" b="1">
                <a:solidFill>
                  <a:srgbClr val="48C7FF"/>
                </a:solidFill>
                <a:latin typeface="Avenir Next"/>
                <a:ea typeface="Avenir Next"/>
                <a:cs typeface="Avenir Next"/>
              </a:defRPr>
            </a:pPr>
            <a:r>
              <a:rPr sz="1125" b="1">
                <a:solidFill>
                  <a:srgbClr val="48C7FF"/>
                </a:solidFill>
                <a:latin typeface="Avenir Next"/>
                <a:ea typeface="Avenir Next"/>
                <a:cs typeface="Avenir Next"/>
              </a:rPr>
              <a:t>NDI network</a:t>
            </a:r>
          </a:p>
        </p:txBody>
      </p:sp>
      <p:sp>
        <p:nvSpPr>
          <p:cNvPr id="20" name="">
            <a:extLst xmlns:a="http://schemas.openxmlformats.org/drawingml/2006/main">
              <a:ext uri="{FF2B5EF4-FFF2-40B4-BE49-F238E27FC236}">
                <a16:creationId xmlns:a16="http://schemas.microsoft.com/office/drawing/2014/main" id="{8547D657-356A-4AA8-9048-8A2A754B5115}"/>
              </a:ext>
            </a:extLst>
          </p:cNvPr>
          <p:cNvSpPr>
            <a:spLocks xmlns:a="http://schemas.openxmlformats.org/drawingml/2006/main" noGrp="1"/>
          </p:cNvSpPr>
          <p:nvPr/>
        </p:nvSpPr>
        <p:spPr>
          <a:xfrm xmlns:a="http://schemas.openxmlformats.org/drawingml/2006/main">
            <a:off x="7867650" y="1885950"/>
            <a:ext cx="1581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125" b="1">
                <a:solidFill>
                  <a:srgbClr val="FFB85C"/>
                </a:solidFill>
                <a:latin typeface="Avenir Next"/>
                <a:ea typeface="Avenir Next"/>
                <a:cs typeface="Avenir Next"/>
              </a:defRPr>
            </a:pPr>
            <a:r>
              <a:rPr sz="1125" b="1">
                <a:solidFill>
                  <a:srgbClr val="FFB85C"/>
                </a:solidFill>
                <a:latin typeface="Avenir Next"/>
                <a:ea typeface="Avenir Next"/>
                <a:cs typeface="Avenir Next"/>
              </a:rPr>
              <a:t>Native MXL flows</a:t>
            </a:r>
          </a:p>
        </p:txBody>
      </p:sp>
      <p:sp>
        <p:nvSpPr>
          <p:cNvPr id="21" name="">
            <a:extLst xmlns:a="http://schemas.openxmlformats.org/drawingml/2006/main">
              <a:ext uri="{FF2B5EF4-FFF2-40B4-BE49-F238E27FC236}">
                <a16:creationId xmlns:a16="http://schemas.microsoft.com/office/drawing/2014/main" id="{49E66019-3861-4C29-BF47-B3BF910C2CA5}"/>
              </a:ext>
            </a:extLst>
          </p:cNvPr>
          <p:cNvSpPr>
            <a:spLocks xmlns:a="http://schemas.openxmlformats.org/drawingml/2006/main" noGrp="1"/>
          </p:cNvSpPr>
          <p:nvPr/>
        </p:nvSpPr>
        <p:spPr>
          <a:xfrm xmlns:a="http://schemas.openxmlformats.org/drawingml/2006/main">
            <a:off x="3619500" y="4981575"/>
            <a:ext cx="4953000" cy="1009650"/>
          </a:xfrm>
          <a:prstGeom xmlns:a="http://schemas.openxmlformats.org/drawingml/2006/main" prst="roundRect">
            <a:avLst>
              <a:gd name="adj" fmla="val 7547"/>
            </a:avLst>
          </a:prstGeom>
          <a:solidFill xmlns:a="http://schemas.openxmlformats.org/drawingml/2006/main">
            <a:srgbClr val="101F2C"/>
          </a:solidFill>
          <a:ln xmlns:a="http://schemas.openxmlformats.org/drawingml/2006/main" w="9525">
            <a:solidFill>
              <a:srgbClr val="294151"/>
            </a:solidFill>
          </a:ln>
        </p:spPr>
      </p:sp>
      <p:sp>
        <p:nvSpPr>
          <p:cNvPr id="22" name="">
            <a:extLst xmlns:a="http://schemas.openxmlformats.org/drawingml/2006/main">
              <a:ext uri="{FF2B5EF4-FFF2-40B4-BE49-F238E27FC236}">
                <a16:creationId xmlns:a16="http://schemas.microsoft.com/office/drawing/2014/main" id="{E9D3A93E-9507-4E87-9A50-FD742277F869}"/>
              </a:ext>
            </a:extLst>
          </p:cNvPr>
          <p:cNvSpPr>
            <a:spLocks xmlns:a="http://schemas.openxmlformats.org/drawingml/2006/main" noGrp="1"/>
          </p:cNvSpPr>
          <p:nvPr/>
        </p:nvSpPr>
        <p:spPr>
          <a:xfrm xmlns:a="http://schemas.openxmlformats.org/drawingml/2006/main">
            <a:off x="3848100" y="5057775"/>
            <a:ext cx="4495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275" b="0">
                <a:solidFill>
                  <a:srgbClr val="A9BAC8"/>
                </a:solidFill>
                <a:latin typeface="Avenir Next"/>
                <a:ea typeface="Avenir Next"/>
                <a:cs typeface="Avenir Next"/>
              </a:defRPr>
            </a:pPr>
            <a:r>
              <a:rPr sz="1275" b="0">
                <a:solidFill>
                  <a:srgbClr val="A9BAC8"/>
                </a:solidFill>
                <a:latin typeface="Avenir Next"/>
                <a:ea typeface="Avenir Next"/>
                <a:cs typeface="Avenir Next"/>
              </a:rPr>
              <a:t>Receive or decode once at the boundary. Core, graphics, multiview, and record functions share the native local flow.</a:t>
            </a:r>
          </a:p>
        </p:txBody>
      </p:sp>
      <p:sp>
        <p:nvSpPr>
          <p:cNvPr id="23" name="">
            <a:extLst xmlns:a="http://schemas.openxmlformats.org/drawingml/2006/main">
              <a:ext uri="{FF2B5EF4-FFF2-40B4-BE49-F238E27FC236}">
                <a16:creationId xmlns:a16="http://schemas.microsoft.com/office/drawing/2014/main" id="{DFC82820-1410-474C-8854-5E14B5A59A87}"/>
              </a:ext>
            </a:extLst>
          </p:cNvPr>
          <p:cNvSpPr>
            <a:spLocks xmlns:a="http://schemas.openxmlformats.org/drawingml/2006/main" noGrp="1"/>
          </p:cNvSpPr>
          <p:nvPr/>
        </p:nvSpPr>
        <p:spPr>
          <a:xfrm xmlns:a="http://schemas.openxmlformats.org/drawingml/2006/main">
            <a:off x="609600" y="64674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First public I/O: NDI</a:t>
            </a:r>
          </a:p>
        </p:txBody>
      </p:sp>
      <p:sp>
        <p:nvSpPr>
          <p:cNvPr id="24" name="">
            <a:extLst xmlns:a="http://schemas.openxmlformats.org/drawingml/2006/main">
              <a:ext uri="{FF2B5EF4-FFF2-40B4-BE49-F238E27FC236}">
                <a16:creationId xmlns:a16="http://schemas.microsoft.com/office/drawing/2014/main" id="{9B9EF81B-9173-44E5-954A-A75669BB72F1}"/>
              </a:ext>
            </a:extLst>
          </p:cNvPr>
          <p:cNvSpPr>
            <a:spLocks xmlns:a="http://schemas.openxmlformats.org/drawingml/2006/main" noGrp="1"/>
          </p:cNvSpPr>
          <p:nvPr/>
        </p:nvSpPr>
        <p:spPr>
          <a:xfrm xmlns:a="http://schemas.openxmlformats.org/drawingml/2006/main">
            <a:off x="11239500" y="6467475"/>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r">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12</a:t>
            </a:r>
          </a:p>
        </p:txBody>
      </p:sp>
    </p:spTree>
    <p:extLst>
      <p:ext uri="{BB962C8B-B14F-4D97-AF65-F5344CB8AC3E}">
        <p14:creationId xmlns:p14="http://schemas.microsoft.com/office/powerpoint/2010/main" val="659381607"/>
      </p:ext>
    </p:extLst>
  </p:cSld>
</p:sld>
</file>

<file path=ppt/slides/slide13.xml><?xml version="1.0" encoding="utf-8"?>
<p:sld xmlns:p="http://schemas.openxmlformats.org/presentationml/2006/main">
  <p:cSld>
    <p:bg>
      <p:bgPr>
        <a:solidFill xmlns:a="http://schemas.openxmlformats.org/drawingml/2006/main">
          <a:srgbClr val="0C172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000DE67-172E-426C-A5CD-674618EC30FA}"/>
              </a:ext>
            </a:extLst>
          </p:cNvPr>
          <p:cNvSpPr>
            <a:spLocks xmlns:a="http://schemas.openxmlformats.org/drawingml/2006/main" noGrp="1"/>
          </p:cNvSpPr>
          <p:nvPr/>
        </p:nvSpPr>
        <p:spPr>
          <a:xfrm xmlns:a="http://schemas.openxmlformats.org/drawingml/2006/main">
            <a:off x="609600" y="361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3150" b="1">
                <a:solidFill>
                  <a:srgbClr val="F4F8FB"/>
                </a:solidFill>
                <a:latin typeface="Avenir Next"/>
                <a:ea typeface="Avenir Next"/>
                <a:cs typeface="Avenir Next"/>
              </a:defRPr>
            </a:pPr>
            <a:r>
              <a:rPr sz="3150" b="1">
                <a:solidFill>
                  <a:srgbClr val="F4F8FB"/>
                </a:solidFill>
                <a:latin typeface="Avenir Next"/>
                <a:ea typeface="Avenir Next"/>
                <a:cs typeface="Avenir Next"/>
              </a:rPr>
              <a:t>From lab build to community alpha</a:t>
            </a:r>
          </a:p>
        </p:txBody>
      </p:sp>
      <p:sp>
        <p:nvSpPr>
          <p:cNvPr id="2" name="">
            <a:extLst xmlns:a="http://schemas.openxmlformats.org/drawingml/2006/main">
              <a:ext uri="{FF2B5EF4-FFF2-40B4-BE49-F238E27FC236}">
                <a16:creationId xmlns:a16="http://schemas.microsoft.com/office/drawing/2014/main" id="{1D04C1D7-8103-4034-84C5-9E1C096F31D8}"/>
              </a:ext>
            </a:extLst>
          </p:cNvPr>
          <p:cNvSpPr>
            <a:spLocks xmlns:a="http://schemas.openxmlformats.org/drawingml/2006/main" noGrp="1"/>
          </p:cNvSpPr>
          <p:nvPr/>
        </p:nvSpPr>
        <p:spPr>
          <a:xfrm xmlns:a="http://schemas.openxmlformats.org/drawingml/2006/main">
            <a:off x="628650" y="9525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00" b="0">
                <a:solidFill>
                  <a:srgbClr val="A9BAC8"/>
                </a:solidFill>
                <a:latin typeface="Avenir Next"/>
                <a:ea typeface="Avenir Next"/>
                <a:cs typeface="Avenir Next"/>
              </a:defRPr>
            </a:pPr>
            <a:r>
              <a:rPr sz="1500" b="0">
                <a:solidFill>
                  <a:srgbClr val="A9BAC8"/>
                </a:solidFill>
                <a:latin typeface="Avenir Next"/>
                <a:ea typeface="Avenir Next"/>
                <a:cs typeface="Avenir Next"/>
              </a:rPr>
              <a:t>A useful alpha works for someone other than the original developers</a:t>
            </a:r>
          </a:p>
        </p:txBody>
      </p:sp>
      <p:sp>
        <p:nvSpPr>
          <p:cNvPr id="3" name="">
            <a:extLst xmlns:a="http://schemas.openxmlformats.org/drawingml/2006/main">
              <a:ext uri="{FF2B5EF4-FFF2-40B4-BE49-F238E27FC236}">
                <a16:creationId xmlns:a16="http://schemas.microsoft.com/office/drawing/2014/main" id="{275068B8-8AD3-4C8D-9C8F-8F7CE7387BDE}"/>
              </a:ext>
            </a:extLst>
          </p:cNvPr>
          <p:cNvSpPr>
            <a:spLocks xmlns:a="http://schemas.openxmlformats.org/drawingml/2006/main" noGrp="1"/>
          </p:cNvSpPr>
          <p:nvPr/>
        </p:nvSpPr>
        <p:spPr>
          <a:xfrm xmlns:a="http://schemas.openxmlformats.org/drawingml/2006/main">
            <a:off x="609600" y="1362075"/>
            <a:ext cx="819150" cy="38100"/>
          </a:xfrm>
          <a:prstGeom xmlns:a="http://schemas.openxmlformats.org/drawingml/2006/main" prst="rect">
            <a:avLst/>
          </a:prstGeom>
          <a:solidFill xmlns:a="http://schemas.openxmlformats.org/drawingml/2006/main">
            <a:srgbClr val="36D4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A434F7C-6FCA-4F06-B25A-68F536894C50}"/>
              </a:ext>
            </a:extLst>
          </p:cNvPr>
          <p:cNvSpPr>
            <a:spLocks xmlns:a="http://schemas.openxmlformats.org/drawingml/2006/main" noGrp="1"/>
          </p:cNvSpPr>
          <p:nvPr/>
        </p:nvSpPr>
        <p:spPr>
          <a:xfrm xmlns:a="http://schemas.openxmlformats.org/drawingml/2006/main">
            <a:off x="704850" y="16954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125" b="1">
                <a:solidFill>
                  <a:srgbClr val="48C7FF"/>
                </a:solidFill>
                <a:latin typeface="Avenir Next"/>
                <a:ea typeface="Avenir Next"/>
                <a:cs typeface="Avenir Next"/>
              </a:defRPr>
            </a:pPr>
            <a:r>
              <a:rPr sz="1125" b="1">
                <a:solidFill>
                  <a:srgbClr val="48C7FF"/>
                </a:solidFill>
                <a:latin typeface="Avenir Next"/>
                <a:ea typeface="Avenir Next"/>
                <a:cs typeface="Avenir Next"/>
              </a:rPr>
              <a:t>PACKAGE</a:t>
            </a:r>
          </a:p>
        </p:txBody>
      </p:sp>
      <p:sp>
        <p:nvSpPr>
          <p:cNvPr id="5" name="">
            <a:extLst xmlns:a="http://schemas.openxmlformats.org/drawingml/2006/main">
              <a:ext uri="{FF2B5EF4-FFF2-40B4-BE49-F238E27FC236}">
                <a16:creationId xmlns:a16="http://schemas.microsoft.com/office/drawing/2014/main" id="{1356E6D5-6A0C-46A9-B086-A6938471A925}"/>
              </a:ext>
            </a:extLst>
          </p:cNvPr>
          <p:cNvSpPr>
            <a:spLocks xmlns:a="http://schemas.openxmlformats.org/drawingml/2006/main" noGrp="1"/>
          </p:cNvSpPr>
          <p:nvPr/>
        </p:nvSpPr>
        <p:spPr>
          <a:xfrm xmlns:a="http://schemas.openxmlformats.org/drawingml/2006/main">
            <a:off x="704850" y="200025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2100" b="1">
                <a:solidFill>
                  <a:srgbClr val="F4F8FB"/>
                </a:solidFill>
                <a:latin typeface="Avenir Next"/>
                <a:ea typeface="Avenir Next"/>
                <a:cs typeface="Avenir Next"/>
              </a:defRPr>
            </a:pPr>
            <a:r>
              <a:rPr sz="2100" b="1">
                <a:solidFill>
                  <a:srgbClr val="F4F8FB"/>
                </a:solidFill>
                <a:latin typeface="Avenir Next"/>
                <a:ea typeface="Avenir Next"/>
                <a:cs typeface="Avenir Next"/>
              </a:rPr>
              <a:t>Linux appliance</a:t>
            </a:r>
          </a:p>
        </p:txBody>
      </p:sp>
      <p:sp>
        <p:nvSpPr>
          <p:cNvPr id="6" name="">
            <a:extLst xmlns:a="http://schemas.openxmlformats.org/drawingml/2006/main">
              <a:ext uri="{FF2B5EF4-FFF2-40B4-BE49-F238E27FC236}">
                <a16:creationId xmlns:a16="http://schemas.microsoft.com/office/drawing/2014/main" id="{977EEC58-F01A-4692-AACC-43210CA9283B}"/>
              </a:ext>
            </a:extLst>
          </p:cNvPr>
          <p:cNvSpPr>
            <a:spLocks xmlns:a="http://schemas.openxmlformats.org/drawingml/2006/main" noGrp="1"/>
          </p:cNvSpPr>
          <p:nvPr/>
        </p:nvSpPr>
        <p:spPr>
          <a:xfrm xmlns:a="http://schemas.openxmlformats.org/drawingml/2006/main">
            <a:off x="704850" y="2505075"/>
            <a:ext cx="2857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One-command deployment</a:t>
            </a:r>
          </a:p>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Hardware and VM profiles</a:t>
            </a:r>
          </a:p>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Preflight checks</a:t>
            </a:r>
          </a:p>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Safe upgrade and rollback</a:t>
            </a:r>
          </a:p>
        </p:txBody>
      </p:sp>
      <p:sp>
        <p:nvSpPr>
          <p:cNvPr id="7" name="">
            <a:extLst xmlns:a="http://schemas.openxmlformats.org/drawingml/2006/main">
              <a:ext uri="{FF2B5EF4-FFF2-40B4-BE49-F238E27FC236}">
                <a16:creationId xmlns:a16="http://schemas.microsoft.com/office/drawing/2014/main" id="{65EB7085-F0F9-42FD-82C6-C2860731BB89}"/>
              </a:ext>
            </a:extLst>
          </p:cNvPr>
          <p:cNvSpPr>
            <a:spLocks xmlns:a="http://schemas.openxmlformats.org/drawingml/2006/main" noGrp="1"/>
          </p:cNvSpPr>
          <p:nvPr/>
        </p:nvSpPr>
        <p:spPr>
          <a:xfrm xmlns:a="http://schemas.openxmlformats.org/drawingml/2006/main">
            <a:off x="3876675" y="1695450"/>
            <a:ext cx="14288" cy="3143250"/>
          </a:xfrm>
          <a:prstGeom xmlns:a="http://schemas.openxmlformats.org/drawingml/2006/main" prst="rect">
            <a:avLst/>
          </a:prstGeom>
          <a:solidFill xmlns:a="http://schemas.openxmlformats.org/drawingml/2006/main">
            <a:srgbClr val="29415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3BA1084-B729-458B-B3D1-B0915188F9FE}"/>
              </a:ext>
            </a:extLst>
          </p:cNvPr>
          <p:cNvSpPr>
            <a:spLocks xmlns:a="http://schemas.openxmlformats.org/drawingml/2006/main" noGrp="1"/>
          </p:cNvSpPr>
          <p:nvPr/>
        </p:nvSpPr>
        <p:spPr>
          <a:xfrm xmlns:a="http://schemas.openxmlformats.org/drawingml/2006/main">
            <a:off x="4286250" y="16954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125" b="1">
                <a:solidFill>
                  <a:srgbClr val="36D4C5"/>
                </a:solidFill>
                <a:latin typeface="Avenir Next"/>
                <a:ea typeface="Avenir Next"/>
                <a:cs typeface="Avenir Next"/>
              </a:defRPr>
            </a:pPr>
            <a:r>
              <a:rPr sz="1125" b="1">
                <a:solidFill>
                  <a:srgbClr val="36D4C5"/>
                </a:solidFill>
                <a:latin typeface="Avenir Next"/>
                <a:ea typeface="Avenir Next"/>
                <a:cs typeface="Avenir Next"/>
              </a:rPr>
              <a:t>CONTRACT</a:t>
            </a:r>
          </a:p>
        </p:txBody>
      </p:sp>
      <p:sp>
        <p:nvSpPr>
          <p:cNvPr id="9" name="">
            <a:extLst xmlns:a="http://schemas.openxmlformats.org/drawingml/2006/main">
              <a:ext uri="{FF2B5EF4-FFF2-40B4-BE49-F238E27FC236}">
                <a16:creationId xmlns:a16="http://schemas.microsoft.com/office/drawing/2014/main" id="{E0BA7037-72CD-4B61-B01E-AD1C2725BE0A}"/>
              </a:ext>
            </a:extLst>
          </p:cNvPr>
          <p:cNvSpPr>
            <a:spLocks xmlns:a="http://schemas.openxmlformats.org/drawingml/2006/main" noGrp="1"/>
          </p:cNvSpPr>
          <p:nvPr/>
        </p:nvSpPr>
        <p:spPr>
          <a:xfrm xmlns:a="http://schemas.openxmlformats.org/drawingml/2006/main">
            <a:off x="4286250" y="200025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2100" b="1">
                <a:solidFill>
                  <a:srgbClr val="F4F8FB"/>
                </a:solidFill>
                <a:latin typeface="Avenir Next"/>
                <a:ea typeface="Avenir Next"/>
                <a:cs typeface="Avenir Next"/>
              </a:defRPr>
            </a:pPr>
            <a:r>
              <a:rPr sz="2100" b="1">
                <a:solidFill>
                  <a:srgbClr val="F4F8FB"/>
                </a:solidFill>
                <a:latin typeface="Avenir Next"/>
                <a:ea typeface="Avenir Next"/>
                <a:cs typeface="Avenir Next"/>
              </a:rPr>
              <a:t>Core API</a:t>
            </a:r>
          </a:p>
        </p:txBody>
      </p:sp>
      <p:sp>
        <p:nvSpPr>
          <p:cNvPr id="10" name="">
            <a:extLst xmlns:a="http://schemas.openxmlformats.org/drawingml/2006/main">
              <a:ext uri="{FF2B5EF4-FFF2-40B4-BE49-F238E27FC236}">
                <a16:creationId xmlns:a16="http://schemas.microsoft.com/office/drawing/2014/main" id="{B0F14030-16B0-4008-B736-5E747AEFF10B}"/>
              </a:ext>
            </a:extLst>
          </p:cNvPr>
          <p:cNvSpPr>
            <a:spLocks xmlns:a="http://schemas.openxmlformats.org/drawingml/2006/main" noGrp="1"/>
          </p:cNvSpPr>
          <p:nvPr/>
        </p:nvSpPr>
        <p:spPr>
          <a:xfrm xmlns:a="http://schemas.openxmlformats.org/drawingml/2006/main">
            <a:off x="4286250" y="2505075"/>
            <a:ext cx="3095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Source registration</a:t>
            </a:r>
          </a:p>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PGM, PVW, TAKE, and tally</a:t>
            </a:r>
          </a:p>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Health and authentication</a:t>
            </a:r>
          </a:p>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Stable compatibility policy</a:t>
            </a:r>
          </a:p>
        </p:txBody>
      </p:sp>
      <p:sp>
        <p:nvSpPr>
          <p:cNvPr id="11" name="">
            <a:extLst xmlns:a="http://schemas.openxmlformats.org/drawingml/2006/main">
              <a:ext uri="{FF2B5EF4-FFF2-40B4-BE49-F238E27FC236}">
                <a16:creationId xmlns:a16="http://schemas.microsoft.com/office/drawing/2014/main" id="{CE12C0EF-85D2-4CD1-81BD-44B8058A19E8}"/>
              </a:ext>
            </a:extLst>
          </p:cNvPr>
          <p:cNvSpPr>
            <a:spLocks xmlns:a="http://schemas.openxmlformats.org/drawingml/2006/main" noGrp="1"/>
          </p:cNvSpPr>
          <p:nvPr/>
        </p:nvSpPr>
        <p:spPr>
          <a:xfrm xmlns:a="http://schemas.openxmlformats.org/drawingml/2006/main">
            <a:off x="7743825" y="1695450"/>
            <a:ext cx="14288" cy="3143250"/>
          </a:xfrm>
          <a:prstGeom xmlns:a="http://schemas.openxmlformats.org/drawingml/2006/main" prst="rect">
            <a:avLst/>
          </a:prstGeom>
          <a:solidFill xmlns:a="http://schemas.openxmlformats.org/drawingml/2006/main">
            <a:srgbClr val="29415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53675C0-158B-4CEB-A083-8A2EA20CA3B6}"/>
              </a:ext>
            </a:extLst>
          </p:cNvPr>
          <p:cNvSpPr>
            <a:spLocks xmlns:a="http://schemas.openxmlformats.org/drawingml/2006/main" noGrp="1"/>
          </p:cNvSpPr>
          <p:nvPr/>
        </p:nvSpPr>
        <p:spPr>
          <a:xfrm xmlns:a="http://schemas.openxmlformats.org/drawingml/2006/main">
            <a:off x="8153400" y="16954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125" b="1">
                <a:solidFill>
                  <a:srgbClr val="FFB85C"/>
                </a:solidFill>
                <a:latin typeface="Avenir Next"/>
                <a:ea typeface="Avenir Next"/>
                <a:cs typeface="Avenir Next"/>
              </a:defRPr>
            </a:pPr>
            <a:r>
              <a:rPr sz="1125" b="1">
                <a:solidFill>
                  <a:srgbClr val="FFB85C"/>
                </a:solidFill>
                <a:latin typeface="Avenir Next"/>
                <a:ea typeface="Avenir Next"/>
                <a:cs typeface="Avenir Next"/>
              </a:rPr>
              <a:t>FIRST SKIN</a:t>
            </a:r>
          </a:p>
        </p:txBody>
      </p:sp>
      <p:sp>
        <p:nvSpPr>
          <p:cNvPr id="13" name="">
            <a:extLst xmlns:a="http://schemas.openxmlformats.org/drawingml/2006/main">
              <a:ext uri="{FF2B5EF4-FFF2-40B4-BE49-F238E27FC236}">
                <a16:creationId xmlns:a16="http://schemas.microsoft.com/office/drawing/2014/main" id="{0421BC06-4A1C-4AE6-A4DE-ECEDCC43BA4E}"/>
              </a:ext>
            </a:extLst>
          </p:cNvPr>
          <p:cNvSpPr>
            <a:spLocks xmlns:a="http://schemas.openxmlformats.org/drawingml/2006/main" noGrp="1"/>
          </p:cNvSpPr>
          <p:nvPr/>
        </p:nvSpPr>
        <p:spPr>
          <a:xfrm xmlns:a="http://schemas.openxmlformats.org/drawingml/2006/main">
            <a:off x="8153400" y="200025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2100" b="1">
                <a:solidFill>
                  <a:srgbClr val="F4F8FB"/>
                </a:solidFill>
                <a:latin typeface="Avenir Next"/>
                <a:ea typeface="Avenir Next"/>
                <a:cs typeface="Avenir Next"/>
              </a:defRPr>
            </a:pPr>
            <a:r>
              <a:rPr sz="2100" b="1">
                <a:solidFill>
                  <a:srgbClr val="F4F8FB"/>
                </a:solidFill>
                <a:latin typeface="Avenir Next"/>
                <a:ea typeface="Avenir Next"/>
                <a:cs typeface="Avenir Next"/>
              </a:rPr>
              <a:t>Operator Skin</a:t>
            </a:r>
          </a:p>
        </p:txBody>
      </p:sp>
      <p:sp>
        <p:nvSpPr>
          <p:cNvPr id="14" name="">
            <a:extLst xmlns:a="http://schemas.openxmlformats.org/drawingml/2006/main">
              <a:ext uri="{FF2B5EF4-FFF2-40B4-BE49-F238E27FC236}">
                <a16:creationId xmlns:a16="http://schemas.microsoft.com/office/drawing/2014/main" id="{F482AF03-7DB3-43DD-BAF4-C72C22EB70E0}"/>
              </a:ext>
            </a:extLst>
          </p:cNvPr>
          <p:cNvSpPr>
            <a:spLocks xmlns:a="http://schemas.openxmlformats.org/drawingml/2006/main" noGrp="1"/>
          </p:cNvSpPr>
          <p:nvPr/>
        </p:nvSpPr>
        <p:spPr>
          <a:xfrm xmlns:a="http://schemas.openxmlformats.org/drawingml/2006/main">
            <a:off x="8153400" y="2505075"/>
            <a:ext cx="3143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Multiview and tally</a:t>
            </a:r>
          </a:p>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Audio meters and source health</a:t>
            </a:r>
          </a:p>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Keyboard, Stream Deck, MIDI</a:t>
            </a:r>
          </a:p>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Stream and record controls</a:t>
            </a:r>
          </a:p>
        </p:txBody>
      </p:sp>
      <p:sp>
        <p:nvSpPr>
          <p:cNvPr id="15" name="">
            <a:extLst xmlns:a="http://schemas.openxmlformats.org/drawingml/2006/main">
              <a:ext uri="{FF2B5EF4-FFF2-40B4-BE49-F238E27FC236}">
                <a16:creationId xmlns:a16="http://schemas.microsoft.com/office/drawing/2014/main" id="{C5F06C74-E356-4ABE-8E9A-A47EA3E89155}"/>
              </a:ext>
            </a:extLst>
          </p:cNvPr>
          <p:cNvSpPr>
            <a:spLocks xmlns:a="http://schemas.openxmlformats.org/drawingml/2006/main" noGrp="1"/>
          </p:cNvSpPr>
          <p:nvPr/>
        </p:nvSpPr>
        <p:spPr>
          <a:xfrm xmlns:a="http://schemas.openxmlformats.org/drawingml/2006/main">
            <a:off x="685800" y="5086350"/>
            <a:ext cx="10839450" cy="781050"/>
          </a:xfrm>
          <a:prstGeom xmlns:a="http://schemas.openxmlformats.org/drawingml/2006/main" prst="roundRect">
            <a:avLst>
              <a:gd name="adj" fmla="val 9756"/>
            </a:avLst>
          </a:prstGeom>
          <a:solidFill xmlns:a="http://schemas.openxmlformats.org/drawingml/2006/main">
            <a:srgbClr val="10242F"/>
          </a:solidFill>
          <a:ln xmlns:a="http://schemas.openxmlformats.org/drawingml/2006/main" w="14288">
            <a:solidFill>
              <a:srgbClr val="36D4C5"/>
            </a:solidFill>
          </a:ln>
        </p:spPr>
      </p:sp>
      <p:sp>
        <p:nvSpPr>
          <p:cNvPr id="16" name="">
            <a:extLst xmlns:a="http://schemas.openxmlformats.org/drawingml/2006/main">
              <a:ext uri="{FF2B5EF4-FFF2-40B4-BE49-F238E27FC236}">
                <a16:creationId xmlns:a16="http://schemas.microsoft.com/office/drawing/2014/main" id="{C96E183B-6A14-464C-A1DA-69D3FC641D6C}"/>
              </a:ext>
            </a:extLst>
          </p:cNvPr>
          <p:cNvSpPr>
            <a:spLocks xmlns:a="http://schemas.openxmlformats.org/drawingml/2006/main" noGrp="1"/>
          </p:cNvSpPr>
          <p:nvPr/>
        </p:nvSpPr>
        <p:spPr>
          <a:xfrm xmlns:a="http://schemas.openxmlformats.org/drawingml/2006/main">
            <a:off x="914400" y="5181600"/>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650" b="1">
                <a:solidFill>
                  <a:srgbClr val="F4F8FB"/>
                </a:solidFill>
                <a:latin typeface="Avenir Next"/>
                <a:ea typeface="Avenir Next"/>
                <a:cs typeface="Avenir Next"/>
              </a:defRPr>
            </a:pPr>
            <a:r>
              <a:rPr sz="1650" b="1">
                <a:solidFill>
                  <a:srgbClr val="F4F8FB"/>
                </a:solidFill>
                <a:latin typeface="Avenir Next"/>
                <a:ea typeface="Avenir Next"/>
                <a:cs typeface="Avenir Next"/>
              </a:rPr>
              <a:t>Alpha exit test: a community member deploys it on a fresh machine, switches a show, diagnoses a failure, and adds one integration.</a:t>
            </a:r>
          </a:p>
        </p:txBody>
      </p:sp>
      <p:sp>
        <p:nvSpPr>
          <p:cNvPr id="17" name="">
            <a:extLst xmlns:a="http://schemas.openxmlformats.org/drawingml/2006/main">
              <a:ext uri="{FF2B5EF4-FFF2-40B4-BE49-F238E27FC236}">
                <a16:creationId xmlns:a16="http://schemas.microsoft.com/office/drawing/2014/main" id="{BA78E9C9-1BEF-47A1-8F95-58F70BD5A944}"/>
              </a:ext>
            </a:extLst>
          </p:cNvPr>
          <p:cNvSpPr>
            <a:spLocks xmlns:a="http://schemas.openxmlformats.org/drawingml/2006/main" noGrp="1"/>
          </p:cNvSpPr>
          <p:nvPr/>
        </p:nvSpPr>
        <p:spPr>
          <a:xfrm xmlns:a="http://schemas.openxmlformats.org/drawingml/2006/main">
            <a:off x="609600" y="64674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Proposed community alpha</a:t>
            </a:r>
          </a:p>
        </p:txBody>
      </p:sp>
      <p:sp>
        <p:nvSpPr>
          <p:cNvPr id="18" name="">
            <a:extLst xmlns:a="http://schemas.openxmlformats.org/drawingml/2006/main">
              <a:ext uri="{FF2B5EF4-FFF2-40B4-BE49-F238E27FC236}">
                <a16:creationId xmlns:a16="http://schemas.microsoft.com/office/drawing/2014/main" id="{05AE2082-000E-4123-9EF9-13D104601863}"/>
              </a:ext>
            </a:extLst>
          </p:cNvPr>
          <p:cNvSpPr>
            <a:spLocks xmlns:a="http://schemas.openxmlformats.org/drawingml/2006/main" noGrp="1"/>
          </p:cNvSpPr>
          <p:nvPr/>
        </p:nvSpPr>
        <p:spPr>
          <a:xfrm xmlns:a="http://schemas.openxmlformats.org/drawingml/2006/main">
            <a:off x="11239500" y="6467475"/>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r">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13</a:t>
            </a:r>
          </a:p>
        </p:txBody>
      </p:sp>
    </p:spTree>
    <p:extLst>
      <p:ext uri="{BB962C8B-B14F-4D97-AF65-F5344CB8AC3E}">
        <p14:creationId xmlns:p14="http://schemas.microsoft.com/office/powerpoint/2010/main" val="1800819727"/>
      </p:ext>
    </p:extLst>
  </p:cSld>
</p:sld>
</file>

<file path=ppt/slides/slide14.xml><?xml version="1.0" encoding="utf-8"?>
<p:sld xmlns:p="http://schemas.openxmlformats.org/presentationml/2006/main">
  <p:cSld>
    <p:bg>
      <p:bgPr>
        <a:solidFill xmlns:a="http://schemas.openxmlformats.org/drawingml/2006/main">
          <a:srgbClr val="0C172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DC96968-9D5A-4A99-B70A-3176EFA17414}"/>
              </a:ext>
            </a:extLst>
          </p:cNvPr>
          <p:cNvSpPr>
            <a:spLocks xmlns:a="http://schemas.openxmlformats.org/drawingml/2006/main" noGrp="1"/>
          </p:cNvSpPr>
          <p:nvPr/>
        </p:nvSpPr>
        <p:spPr>
          <a:xfrm xmlns:a="http://schemas.openxmlformats.org/drawingml/2006/main">
            <a:off x="609600" y="361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3150" b="1">
                <a:solidFill>
                  <a:srgbClr val="F4F8FB"/>
                </a:solidFill>
                <a:latin typeface="Avenir Next"/>
                <a:ea typeface="Avenir Next"/>
                <a:cs typeface="Avenir Next"/>
              </a:defRPr>
            </a:pPr>
            <a:r>
              <a:rPr sz="3150" b="1">
                <a:solidFill>
                  <a:srgbClr val="F4F8FB"/>
                </a:solidFill>
                <a:latin typeface="Avenir Next"/>
                <a:ea typeface="Avenir Next"/>
                <a:cs typeface="Avenir Next"/>
              </a:rPr>
              <a:t>ZoomISO Cloud makes the MXL case concrete</a:t>
            </a:r>
          </a:p>
        </p:txBody>
      </p:sp>
      <p:sp>
        <p:nvSpPr>
          <p:cNvPr id="2" name="">
            <a:extLst xmlns:a="http://schemas.openxmlformats.org/drawingml/2006/main">
              <a:ext uri="{FF2B5EF4-FFF2-40B4-BE49-F238E27FC236}">
                <a16:creationId xmlns:a16="http://schemas.microsoft.com/office/drawing/2014/main" id="{54B5D7B5-E6F2-4B6D-B2C2-40E565E9B214}"/>
              </a:ext>
            </a:extLst>
          </p:cNvPr>
          <p:cNvSpPr>
            <a:spLocks xmlns:a="http://schemas.openxmlformats.org/drawingml/2006/main" noGrp="1"/>
          </p:cNvSpPr>
          <p:nvPr/>
        </p:nvSpPr>
        <p:spPr>
          <a:xfrm xmlns:a="http://schemas.openxmlformats.org/drawingml/2006/main">
            <a:off x="628650" y="9525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00" b="0">
                <a:solidFill>
                  <a:srgbClr val="A9BAC8"/>
                </a:solidFill>
                <a:latin typeface="Avenir Next"/>
                <a:ea typeface="Avenir Next"/>
                <a:cs typeface="Avenir Next"/>
              </a:defRPr>
            </a:pPr>
            <a:r>
              <a:rPr sz="1500" b="0">
                <a:solidFill>
                  <a:srgbClr val="A9BAC8"/>
                </a:solidFill>
                <a:latin typeface="Avenir Next"/>
                <a:ea typeface="Avenir Next"/>
                <a:cs typeface="Avenir Next"/>
              </a:rPr>
              <a:t>Eight isolated participant outputs entered one Azure production node as native MXL flows</a:t>
            </a:r>
          </a:p>
        </p:txBody>
      </p:sp>
      <p:sp>
        <p:nvSpPr>
          <p:cNvPr id="3" name="">
            <a:extLst xmlns:a="http://schemas.openxmlformats.org/drawingml/2006/main">
              <a:ext uri="{FF2B5EF4-FFF2-40B4-BE49-F238E27FC236}">
                <a16:creationId xmlns:a16="http://schemas.microsoft.com/office/drawing/2014/main" id="{047BA7E2-00D7-4EFC-98CD-0BF70C9E67E1}"/>
              </a:ext>
            </a:extLst>
          </p:cNvPr>
          <p:cNvSpPr>
            <a:spLocks xmlns:a="http://schemas.openxmlformats.org/drawingml/2006/main" noGrp="1"/>
          </p:cNvSpPr>
          <p:nvPr/>
        </p:nvSpPr>
        <p:spPr>
          <a:xfrm xmlns:a="http://schemas.openxmlformats.org/drawingml/2006/main">
            <a:off x="609600" y="1362075"/>
            <a:ext cx="819150" cy="38100"/>
          </a:xfrm>
          <a:prstGeom xmlns:a="http://schemas.openxmlformats.org/drawingml/2006/main" prst="rect">
            <a:avLst/>
          </a:prstGeom>
          <a:solidFill xmlns:a="http://schemas.openxmlformats.org/drawingml/2006/main">
            <a:srgbClr val="36D4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E32028F-2C8C-4DB9-992F-2CF73A94D56A}"/>
              </a:ext>
            </a:extLst>
          </p:cNvPr>
          <p:cNvSpPr>
            <a:spLocks xmlns:a="http://schemas.openxmlformats.org/drawingml/2006/main" noGrp="1"/>
          </p:cNvSpPr>
          <p:nvPr/>
        </p:nvSpPr>
        <p:spPr>
          <a:xfrm xmlns:a="http://schemas.openxmlformats.org/drawingml/2006/main">
            <a:off x="590550" y="2514600"/>
            <a:ext cx="2095500" cy="1123950"/>
          </a:xfrm>
          <a:prstGeom xmlns:a="http://schemas.openxmlformats.org/drawingml/2006/main" prst="roundRect">
            <a:avLst>
              <a:gd name="adj" fmla="val 6780"/>
            </a:avLst>
          </a:prstGeom>
          <a:solidFill xmlns:a="http://schemas.openxmlformats.org/drawingml/2006/main">
            <a:srgbClr val="101F2C"/>
          </a:solidFill>
          <a:ln xmlns:a="http://schemas.openxmlformats.org/drawingml/2006/main" w="14288">
            <a:solidFill>
              <a:srgbClr val="294151"/>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ZOOM MEETING</a:t>
            </a:r>
          </a:p>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remote participants</a:t>
            </a:r>
          </a:p>
        </p:txBody>
      </p:sp>
      <p:sp>
        <p:nvSpPr>
          <p:cNvPr id="5" name="">
            <a:extLst xmlns:a="http://schemas.openxmlformats.org/drawingml/2006/main">
              <a:ext uri="{FF2B5EF4-FFF2-40B4-BE49-F238E27FC236}">
                <a16:creationId xmlns:a16="http://schemas.microsoft.com/office/drawing/2014/main" id="{B355622B-0170-4A5A-A177-0C028403E9BF}"/>
              </a:ext>
            </a:extLst>
          </p:cNvPr>
          <p:cNvSpPr>
            <a:spLocks xmlns:a="http://schemas.openxmlformats.org/drawingml/2006/main" noGrp="1"/>
          </p:cNvSpPr>
          <p:nvPr/>
        </p:nvSpPr>
        <p:spPr>
          <a:xfrm xmlns:a="http://schemas.openxmlformats.org/drawingml/2006/main">
            <a:off x="3352800" y="2324100"/>
            <a:ext cx="2381250" cy="1504950"/>
          </a:xfrm>
          <a:prstGeom xmlns:a="http://schemas.openxmlformats.org/drawingml/2006/main" prst="roundRect">
            <a:avLst>
              <a:gd name="adj" fmla="val 5063"/>
            </a:avLst>
          </a:prstGeom>
          <a:solidFill xmlns:a="http://schemas.openxmlformats.org/drawingml/2006/main">
            <a:srgbClr val="103238"/>
          </a:solidFill>
          <a:ln xmlns:a="http://schemas.openxmlformats.org/drawingml/2006/main" w="23813">
            <a:solidFill>
              <a:srgbClr val="36D4C5"/>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650" b="1">
                <a:solidFill>
                  <a:srgbClr val="F4F8FB"/>
                </a:solidFill>
                <a:latin typeface="Avenir Next"/>
                <a:ea typeface="Avenir Next"/>
                <a:cs typeface="Avenir Next"/>
              </a:defRPr>
            </a:pPr>
            <a:r>
              <a:rPr sz="1650" b="1">
                <a:solidFill>
                  <a:srgbClr val="F4F8FB"/>
                </a:solidFill>
                <a:latin typeface="Avenir Next"/>
                <a:ea typeface="Avenir Next"/>
                <a:cs typeface="Avenir Next"/>
              </a:rPr>
              <a:t>ZOOMISO CLOUD</a:t>
            </a:r>
          </a:p>
          <a:p xmlns:a="http://schemas.openxmlformats.org/drawingml/2006/main">
            <a:pPr algn="ctr">
              <a:buNone/>
              <a:defRPr sz="1650" b="1">
                <a:solidFill>
                  <a:srgbClr val="F4F8FB"/>
                </a:solidFill>
                <a:latin typeface="Avenir Next"/>
                <a:ea typeface="Avenir Next"/>
                <a:cs typeface="Avenir Next"/>
              </a:defRPr>
            </a:pPr>
            <a:r>
              <a:rPr sz="1650" b="1">
                <a:solidFill>
                  <a:srgbClr val="F4F8FB"/>
                </a:solidFill>
                <a:latin typeface="Avenir Next"/>
                <a:ea typeface="Avenir Next"/>
                <a:cs typeface="Avenir Next"/>
              </a:rPr>
              <a:t>8 × 1080p29.97</a:t>
            </a:r>
          </a:p>
        </p:txBody>
      </p:sp>
      <p:sp>
        <p:nvSpPr>
          <p:cNvPr id="6" name="">
            <a:extLst xmlns:a="http://schemas.openxmlformats.org/drawingml/2006/main">
              <a:ext uri="{FF2B5EF4-FFF2-40B4-BE49-F238E27FC236}">
                <a16:creationId xmlns:a16="http://schemas.microsoft.com/office/drawing/2014/main" id="{72FC6E91-3216-49A8-921E-7F77F852595B}"/>
              </a:ext>
            </a:extLst>
          </p:cNvPr>
          <p:cNvSpPr>
            <a:spLocks xmlns:a="http://schemas.openxmlformats.org/drawingml/2006/main" noGrp="1"/>
          </p:cNvSpPr>
          <p:nvPr/>
        </p:nvSpPr>
        <p:spPr>
          <a:xfrm xmlns:a="http://schemas.openxmlformats.org/drawingml/2006/main">
            <a:off x="6438900" y="2324100"/>
            <a:ext cx="2266950" cy="1504950"/>
          </a:xfrm>
          <a:prstGeom xmlns:a="http://schemas.openxmlformats.org/drawingml/2006/main" prst="roundRect">
            <a:avLst>
              <a:gd name="adj" fmla="val 5063"/>
            </a:avLst>
          </a:prstGeom>
          <a:solidFill xmlns:a="http://schemas.openxmlformats.org/drawingml/2006/main">
            <a:srgbClr val="173226"/>
          </a:solidFill>
          <a:ln xmlns:a="http://schemas.openxmlformats.org/drawingml/2006/main" w="23813">
            <a:solidFill>
              <a:srgbClr val="83E28E"/>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725" b="1">
                <a:solidFill>
                  <a:srgbClr val="F4F8FB"/>
                </a:solidFill>
                <a:latin typeface="Avenir Next"/>
                <a:ea typeface="Avenir Next"/>
                <a:cs typeface="Avenir Next"/>
              </a:defRPr>
            </a:pPr>
            <a:r>
              <a:rPr sz="1725" b="1">
                <a:solidFill>
                  <a:srgbClr val="F4F8FB"/>
                </a:solidFill>
                <a:latin typeface="Avenir Next"/>
                <a:ea typeface="Avenir Next"/>
                <a:cs typeface="Avenir Next"/>
              </a:rPr>
              <a:t>MXL FLOWS</a:t>
            </a:r>
          </a:p>
          <a:p xmlns:a="http://schemas.openxmlformats.org/drawingml/2006/main">
            <a:pPr algn="ctr">
              <a:buNone/>
              <a:defRPr sz="1725" b="1">
                <a:solidFill>
                  <a:srgbClr val="F4F8FB"/>
                </a:solidFill>
                <a:latin typeface="Avenir Next"/>
                <a:ea typeface="Avenir Next"/>
                <a:cs typeface="Avenir Next"/>
              </a:defRPr>
            </a:pPr>
            <a:r>
              <a:rPr sz="1725" b="1">
                <a:solidFill>
                  <a:srgbClr val="F4F8FB"/>
                </a:solidFill>
                <a:latin typeface="Avenir Next"/>
                <a:ea typeface="Avenir Next"/>
                <a:cs typeface="Avenir Next"/>
              </a:rPr>
              <a:t>video + Float32 audio</a:t>
            </a:r>
          </a:p>
        </p:txBody>
      </p:sp>
      <p:sp>
        <p:nvSpPr>
          <p:cNvPr id="7" name="">
            <a:extLst xmlns:a="http://schemas.openxmlformats.org/drawingml/2006/main">
              <a:ext uri="{FF2B5EF4-FFF2-40B4-BE49-F238E27FC236}">
                <a16:creationId xmlns:a16="http://schemas.microsoft.com/office/drawing/2014/main" id="{9D27D365-2D4D-4DD1-ADF4-E85A02BC490B}"/>
              </a:ext>
            </a:extLst>
          </p:cNvPr>
          <p:cNvSpPr>
            <a:spLocks xmlns:a="http://schemas.openxmlformats.org/drawingml/2006/main" noGrp="1"/>
          </p:cNvSpPr>
          <p:nvPr/>
        </p:nvSpPr>
        <p:spPr>
          <a:xfrm xmlns:a="http://schemas.openxmlformats.org/drawingml/2006/main">
            <a:off x="9448800" y="2514600"/>
            <a:ext cx="2152650" cy="1123950"/>
          </a:xfrm>
          <a:prstGeom xmlns:a="http://schemas.openxmlformats.org/drawingml/2006/main" prst="roundRect">
            <a:avLst>
              <a:gd name="adj" fmla="val 6780"/>
            </a:avLst>
          </a:prstGeom>
          <a:solidFill xmlns:a="http://schemas.openxmlformats.org/drawingml/2006/main">
            <a:srgbClr val="101F2C"/>
          </a:solidFill>
          <a:ln xmlns:a="http://schemas.openxmlformats.org/drawingml/2006/main" w="14288">
            <a:solidFill>
              <a:srgbClr val="294151"/>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CORE + OUTPUTS</a:t>
            </a:r>
          </a:p>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PGM · PVW · next compositor</a:t>
            </a:r>
          </a:p>
        </p:txBody>
      </p:sp>
      <p:cxnSp>
        <p:nvCxnSpPr>
          <p:cNvPr id="56" name="">
            <a:extLst xmlns:a="http://schemas.openxmlformats.org/drawingml/2006/main">
              <a:ext uri="{FF2B5EF4-FFF2-40B4-BE49-F238E27FC236}">
                <a16:creationId xmlns:a16="http://schemas.microsoft.com/office/drawing/2014/main" id="{0FBD7074-AA24-42D2-A6C8-D7768D66368F}"/>
              </a:ext>
            </a:extLst>
          </p:cNvPr>
          <p:cNvCxnSpPr>
            <a:stCxn xmlns:a="http://schemas.openxmlformats.org/drawingml/2006/main" id="4" idx="3"/>
            <a:endCxn xmlns:a="http://schemas.openxmlformats.org/drawingml/2006/main" id="5" idx="1"/>
          </p:cNvCxnSpPr>
          <p:nvPr/>
        </p:nvCxnSpPr>
        <p:spPr>
          <a:xfrm xmlns:a="http://schemas.openxmlformats.org/drawingml/2006/main">
            <a:off x="2686050" y="3076575"/>
            <a:ext cx="666750" cy="0"/>
          </a:xfrm>
          <a:prstGeom xmlns:a="http://schemas.openxmlformats.org/drawingml/2006/main" prst="straightConnector1">
            <a:avLst/>
          </a:prstGeom>
          <a:ln xmlns:a="http://schemas.openxmlformats.org/drawingml/2006/main" w="20955">
            <a:solidFill>
              <a:srgbClr val="48C7FF"/>
            </a:solidFill>
            <a:prstDash val="solid"/>
            <a:headEnd type="none" w="med" len="med"/>
            <a:tailEnd type="triangle" w="sm" len="sm"/>
          </a:ln>
        </p:spPr>
      </p:cxnSp>
      <p:cxnSp>
        <p:nvCxnSpPr>
          <p:cNvPr id="57" name="">
            <a:extLst xmlns:a="http://schemas.openxmlformats.org/drawingml/2006/main">
              <a:ext uri="{FF2B5EF4-FFF2-40B4-BE49-F238E27FC236}">
                <a16:creationId xmlns:a16="http://schemas.microsoft.com/office/drawing/2014/main" id="{8CD53134-F7A1-4C04-9269-4B18A5F2FF87}"/>
              </a:ext>
            </a:extLst>
          </p:cNvPr>
          <p:cNvCxnSpPr>
            <a:stCxn xmlns:a="http://schemas.openxmlformats.org/drawingml/2006/main" id="5" idx="3"/>
            <a:endCxn xmlns:a="http://schemas.openxmlformats.org/drawingml/2006/main" id="6" idx="1"/>
          </p:cNvCxnSpPr>
          <p:nvPr/>
        </p:nvCxnSpPr>
        <p:spPr>
          <a:xfrm xmlns:a="http://schemas.openxmlformats.org/drawingml/2006/main">
            <a:off x="5734050" y="3076575"/>
            <a:ext cx="704850" cy="0"/>
          </a:xfrm>
          <a:prstGeom xmlns:a="http://schemas.openxmlformats.org/drawingml/2006/main" prst="straightConnector1">
            <a:avLst/>
          </a:prstGeom>
          <a:ln xmlns:a="http://schemas.openxmlformats.org/drawingml/2006/main" w="20955">
            <a:solidFill>
              <a:srgbClr val="36D4C5"/>
            </a:solidFill>
            <a:prstDash val="solid"/>
            <a:headEnd type="none" w="med" len="med"/>
            <a:tailEnd type="triangle" w="sm" len="sm"/>
          </a:ln>
        </p:spPr>
      </p:cxnSp>
      <p:cxnSp>
        <p:nvCxnSpPr>
          <p:cNvPr id="58" name="">
            <a:extLst xmlns:a="http://schemas.openxmlformats.org/drawingml/2006/main">
              <a:ext uri="{FF2B5EF4-FFF2-40B4-BE49-F238E27FC236}">
                <a16:creationId xmlns:a16="http://schemas.microsoft.com/office/drawing/2014/main" id="{C4B6331F-4AB1-4625-B89F-B6240721E037}"/>
              </a:ext>
            </a:extLst>
          </p:cNvPr>
          <p:cNvCxnSpPr>
            <a:stCxn xmlns:a="http://schemas.openxmlformats.org/drawingml/2006/main" id="6" idx="3"/>
            <a:endCxn xmlns:a="http://schemas.openxmlformats.org/drawingml/2006/main" id="7" idx="1"/>
          </p:cNvCxnSpPr>
          <p:nvPr/>
        </p:nvCxnSpPr>
        <p:spPr>
          <a:xfrm xmlns:a="http://schemas.openxmlformats.org/drawingml/2006/main">
            <a:off x="8705850" y="3076575"/>
            <a:ext cx="742950" cy="0"/>
          </a:xfrm>
          <a:prstGeom xmlns:a="http://schemas.openxmlformats.org/drawingml/2006/main" prst="straightConnector1">
            <a:avLst/>
          </a:prstGeom>
          <a:ln xmlns:a="http://schemas.openxmlformats.org/drawingml/2006/main" w="20955">
            <a:solidFill>
              <a:srgbClr val="FFB85C"/>
            </a:solidFill>
            <a:prstDash val="solid"/>
            <a:headEnd type="none" w="med" len="med"/>
            <a:tailEnd type="triangle" w="sm" len="sm"/>
          </a:ln>
        </p:spPr>
      </p:cxnSp>
      <p:sp>
        <p:nvSpPr>
          <p:cNvPr id="11" name="">
            <a:extLst xmlns:a="http://schemas.openxmlformats.org/drawingml/2006/main">
              <a:ext uri="{FF2B5EF4-FFF2-40B4-BE49-F238E27FC236}">
                <a16:creationId xmlns:a16="http://schemas.microsoft.com/office/drawing/2014/main" id="{794BAC6D-85D7-4A4E-B87F-2C0C28F3E733}"/>
              </a:ext>
            </a:extLst>
          </p:cNvPr>
          <p:cNvSpPr>
            <a:spLocks xmlns:a="http://schemas.openxmlformats.org/drawingml/2006/main" noGrp="1"/>
          </p:cNvSpPr>
          <p:nvPr/>
        </p:nvSpPr>
        <p:spPr>
          <a:xfrm xmlns:a="http://schemas.openxmlformats.org/drawingml/2006/main">
            <a:off x="1143000" y="3914775"/>
            <a:ext cx="1143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125" b="0">
                <a:solidFill>
                  <a:srgbClr val="A9BAC8"/>
                </a:solidFill>
                <a:latin typeface="Avenir Next"/>
                <a:ea typeface="Avenir Next"/>
                <a:cs typeface="Avenir Next"/>
              </a:defRPr>
            </a:pPr>
            <a:r>
              <a:rPr sz="1125" b="0">
                <a:solidFill>
                  <a:srgbClr val="A9BAC8"/>
                </a:solidFill>
                <a:latin typeface="Avenir Next"/>
                <a:ea typeface="Avenir Next"/>
                <a:cs typeface="Avenir Next"/>
              </a:rPr>
              <a:t>Join</a:t>
            </a:r>
          </a:p>
        </p:txBody>
      </p:sp>
      <p:sp>
        <p:nvSpPr>
          <p:cNvPr id="12" name="">
            <a:extLst xmlns:a="http://schemas.openxmlformats.org/drawingml/2006/main">
              <a:ext uri="{FF2B5EF4-FFF2-40B4-BE49-F238E27FC236}">
                <a16:creationId xmlns:a16="http://schemas.microsoft.com/office/drawing/2014/main" id="{CD180EFF-C306-41EF-9F9F-36DDEF616115}"/>
              </a:ext>
            </a:extLst>
          </p:cNvPr>
          <p:cNvSpPr>
            <a:spLocks xmlns:a="http://schemas.openxmlformats.org/drawingml/2006/main" noGrp="1"/>
          </p:cNvSpPr>
          <p:nvPr/>
        </p:nvSpPr>
        <p:spPr>
          <a:xfrm xmlns:a="http://schemas.openxmlformats.org/drawingml/2006/main">
            <a:off x="3905250" y="4067175"/>
            <a:ext cx="1295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125" b="0">
                <a:solidFill>
                  <a:srgbClr val="A9BAC8"/>
                </a:solidFill>
                <a:latin typeface="Avenir Next"/>
                <a:ea typeface="Avenir Next"/>
                <a:cs typeface="Avenir Next"/>
              </a:defRPr>
            </a:pPr>
            <a:r>
              <a:rPr sz="1125" b="0">
                <a:solidFill>
                  <a:srgbClr val="A9BAC8"/>
                </a:solidFill>
                <a:latin typeface="Avenir Next"/>
                <a:ea typeface="Avenir Next"/>
                <a:cs typeface="Avenir Next"/>
              </a:rPr>
              <a:t>Eight participant flows</a:t>
            </a:r>
          </a:p>
        </p:txBody>
      </p:sp>
      <p:sp>
        <p:nvSpPr>
          <p:cNvPr id="13" name="">
            <a:extLst xmlns:a="http://schemas.openxmlformats.org/drawingml/2006/main">
              <a:ext uri="{FF2B5EF4-FFF2-40B4-BE49-F238E27FC236}">
                <a16:creationId xmlns:a16="http://schemas.microsoft.com/office/drawing/2014/main" id="{ACB1E479-8CF0-4A4E-AC35-CE8FD4B6B803}"/>
              </a:ext>
            </a:extLst>
          </p:cNvPr>
          <p:cNvSpPr>
            <a:spLocks xmlns:a="http://schemas.openxmlformats.org/drawingml/2006/main" noGrp="1"/>
          </p:cNvSpPr>
          <p:nvPr/>
        </p:nvSpPr>
        <p:spPr>
          <a:xfrm xmlns:a="http://schemas.openxmlformats.org/drawingml/2006/main">
            <a:off x="6657975" y="4067175"/>
            <a:ext cx="1828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125" b="0">
                <a:solidFill>
                  <a:srgbClr val="A9BAC8"/>
                </a:solidFill>
                <a:latin typeface="Avenir Next"/>
                <a:ea typeface="Avenir Next"/>
                <a:cs typeface="Avenir Next"/>
              </a:defRPr>
            </a:pPr>
            <a:r>
              <a:rPr sz="1125" b="0">
                <a:solidFill>
                  <a:srgbClr val="A9BAC8"/>
                </a:solidFill>
                <a:latin typeface="Avenir Next"/>
                <a:ea typeface="Avenir Next"/>
                <a:cs typeface="Avenir Next"/>
              </a:rPr>
              <a:t>Share locally</a:t>
            </a:r>
          </a:p>
        </p:txBody>
      </p:sp>
      <p:sp>
        <p:nvSpPr>
          <p:cNvPr id="14" name="">
            <a:extLst xmlns:a="http://schemas.openxmlformats.org/drawingml/2006/main">
              <a:ext uri="{FF2B5EF4-FFF2-40B4-BE49-F238E27FC236}">
                <a16:creationId xmlns:a16="http://schemas.microsoft.com/office/drawing/2014/main" id="{D20389A0-9C31-4716-86D2-5A01FE8D954E}"/>
              </a:ext>
            </a:extLst>
          </p:cNvPr>
          <p:cNvSpPr>
            <a:spLocks xmlns:a="http://schemas.openxmlformats.org/drawingml/2006/main" noGrp="1"/>
          </p:cNvSpPr>
          <p:nvPr/>
        </p:nvSpPr>
        <p:spPr>
          <a:xfrm xmlns:a="http://schemas.openxmlformats.org/drawingml/2006/main">
            <a:off x="9982200" y="3914775"/>
            <a:ext cx="1143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125" b="0">
                <a:solidFill>
                  <a:srgbClr val="A9BAC8"/>
                </a:solidFill>
                <a:latin typeface="Avenir Next"/>
                <a:ea typeface="Avenir Next"/>
                <a:cs typeface="Avenir Next"/>
              </a:defRPr>
            </a:pPr>
            <a:r>
              <a:rPr sz="1125" b="0">
                <a:solidFill>
                  <a:srgbClr val="A9BAC8"/>
                </a:solidFill>
                <a:latin typeface="Avenir Next"/>
                <a:ea typeface="Avenir Next"/>
                <a:cs typeface="Avenir Next"/>
              </a:rPr>
              <a:t>Switch and compose</a:t>
            </a:r>
          </a:p>
        </p:txBody>
      </p:sp>
      <p:sp>
        <p:nvSpPr>
          <p:cNvPr id="15" name="">
            <a:extLst xmlns:a="http://schemas.openxmlformats.org/drawingml/2006/main">
              <a:ext uri="{FF2B5EF4-FFF2-40B4-BE49-F238E27FC236}">
                <a16:creationId xmlns:a16="http://schemas.microsoft.com/office/drawing/2014/main" id="{DB704390-74F9-42C0-B93A-B742E12B955D}"/>
              </a:ext>
            </a:extLst>
          </p:cNvPr>
          <p:cNvSpPr>
            <a:spLocks xmlns:a="http://schemas.openxmlformats.org/drawingml/2006/main" noGrp="1"/>
          </p:cNvSpPr>
          <p:nvPr/>
        </p:nvSpPr>
        <p:spPr>
          <a:xfrm xmlns:a="http://schemas.openxmlformats.org/drawingml/2006/main">
            <a:off x="742950" y="49720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125" b="1">
                <a:solidFill>
                  <a:srgbClr val="36D4C5"/>
                </a:solidFill>
                <a:latin typeface="Avenir Next"/>
                <a:ea typeface="Avenir Next"/>
                <a:cs typeface="Avenir Next"/>
              </a:defRPr>
            </a:pPr>
            <a:r>
              <a:rPr sz="1125" b="1">
                <a:solidFill>
                  <a:srgbClr val="36D4C5"/>
                </a:solidFill>
                <a:latin typeface="Avenir Next"/>
                <a:ea typeface="Avenir Next"/>
                <a:cs typeface="Avenir Next"/>
              </a:rPr>
              <a:t>MEASURED THIS WEEK</a:t>
            </a:r>
          </a:p>
        </p:txBody>
      </p:sp>
      <p:sp>
        <p:nvSpPr>
          <p:cNvPr id="16" name="">
            <a:extLst xmlns:a="http://schemas.openxmlformats.org/drawingml/2006/main">
              <a:ext uri="{FF2B5EF4-FFF2-40B4-BE49-F238E27FC236}">
                <a16:creationId xmlns:a16="http://schemas.microsoft.com/office/drawing/2014/main" id="{DB2AD32E-9169-4BE8-9953-0769B6A0C2DF}"/>
              </a:ext>
            </a:extLst>
          </p:cNvPr>
          <p:cNvSpPr>
            <a:spLocks xmlns:a="http://schemas.openxmlformats.org/drawingml/2006/main" noGrp="1"/>
          </p:cNvSpPr>
          <p:nvPr/>
        </p:nvSpPr>
        <p:spPr>
          <a:xfrm xmlns:a="http://schemas.openxmlformats.org/drawingml/2006/main">
            <a:off x="742950" y="52578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950" b="1">
                <a:solidFill>
                  <a:srgbClr val="F4F8FB"/>
                </a:solidFill>
                <a:latin typeface="Avenir Next"/>
                <a:ea typeface="Avenir Next"/>
                <a:cs typeface="Avenir Next"/>
              </a:defRPr>
            </a:pPr>
            <a:r>
              <a:rPr sz="1950" b="1">
                <a:solidFill>
                  <a:srgbClr val="F4F8FB"/>
                </a:solidFill>
                <a:latin typeface="Avenir Next"/>
                <a:ea typeface="Avenir Next"/>
                <a:cs typeface="Avenir Next"/>
              </a:rPr>
              <a:t>One modern CPU-only cloud VM sustained eight ZoomISO outputs and two Core outputs during clean 10-minute gates.</a:t>
            </a:r>
          </a:p>
        </p:txBody>
      </p:sp>
      <p:sp>
        <p:nvSpPr>
          <p:cNvPr id="17" name="">
            <a:extLst xmlns:a="http://schemas.openxmlformats.org/drawingml/2006/main">
              <a:ext uri="{FF2B5EF4-FFF2-40B4-BE49-F238E27FC236}">
                <a16:creationId xmlns:a16="http://schemas.microsoft.com/office/drawing/2014/main" id="{350F3E39-7D0A-4B77-8948-58632559740D}"/>
              </a:ext>
            </a:extLst>
          </p:cNvPr>
          <p:cNvSpPr>
            <a:spLocks xmlns:a="http://schemas.openxmlformats.org/drawingml/2006/main" noGrp="1"/>
          </p:cNvSpPr>
          <p:nvPr/>
        </p:nvSpPr>
        <p:spPr>
          <a:xfrm xmlns:a="http://schemas.openxmlformats.org/drawingml/2006/main">
            <a:off x="609600" y="64674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Azure D32s v5 · no GPU · audio silence and long-switch recovery remain open investigations</a:t>
            </a:r>
          </a:p>
        </p:txBody>
      </p:sp>
      <p:sp>
        <p:nvSpPr>
          <p:cNvPr id="18" name="">
            <a:extLst xmlns:a="http://schemas.openxmlformats.org/drawingml/2006/main">
              <a:ext uri="{FF2B5EF4-FFF2-40B4-BE49-F238E27FC236}">
                <a16:creationId xmlns:a16="http://schemas.microsoft.com/office/drawing/2014/main" id="{256D8C33-637A-4B29-8340-14D12C4E4E9D}"/>
              </a:ext>
            </a:extLst>
          </p:cNvPr>
          <p:cNvSpPr>
            <a:spLocks xmlns:a="http://schemas.openxmlformats.org/drawingml/2006/main" noGrp="1"/>
          </p:cNvSpPr>
          <p:nvPr/>
        </p:nvSpPr>
        <p:spPr>
          <a:xfrm xmlns:a="http://schemas.openxmlformats.org/drawingml/2006/main">
            <a:off x="11239500" y="6467475"/>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r">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14</a:t>
            </a:r>
          </a:p>
        </p:txBody>
      </p:sp>
    </p:spTree>
    <p:extLst>
      <p:ext uri="{BB962C8B-B14F-4D97-AF65-F5344CB8AC3E}">
        <p14:creationId xmlns:p14="http://schemas.microsoft.com/office/powerpoint/2010/main" val="2106007633"/>
      </p:ext>
    </p:extLst>
  </p:cSld>
</p:sld>
</file>

<file path=ppt/slides/slide15.xml><?xml version="1.0" encoding="utf-8"?>
<p:sld xmlns:p="http://schemas.openxmlformats.org/presentationml/2006/main">
  <p:cSld>
    <p:bg>
      <p:bgPr>
        <a:solidFill xmlns:a="http://schemas.openxmlformats.org/drawingml/2006/main">
          <a:srgbClr val="0C172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68BDD8F-EEB4-43EB-BEBA-E0735C81E960}"/>
              </a:ext>
            </a:extLst>
          </p:cNvPr>
          <p:cNvSpPr>
            <a:spLocks xmlns:a="http://schemas.openxmlformats.org/drawingml/2006/main" noGrp="1"/>
          </p:cNvSpPr>
          <p:nvPr/>
        </p:nvSpPr>
        <p:spPr>
          <a:xfrm xmlns:a="http://schemas.openxmlformats.org/drawingml/2006/main">
            <a:off x="609600" y="361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3150" b="1">
                <a:solidFill>
                  <a:srgbClr val="F4F8FB"/>
                </a:solidFill>
                <a:latin typeface="Avenir Next"/>
                <a:ea typeface="Avenir Next"/>
                <a:cs typeface="Avenir Next"/>
              </a:defRPr>
            </a:pPr>
            <a:r>
              <a:rPr sz="3150" b="1">
                <a:solidFill>
                  <a:srgbClr val="F4F8FB"/>
                </a:solidFill>
                <a:latin typeface="Avenir Next"/>
                <a:ea typeface="Avenir Next"/>
                <a:cs typeface="Avenir Next"/>
              </a:rPr>
              <a:t>Why MXL is worth stopping for</a:t>
            </a:r>
          </a:p>
        </p:txBody>
      </p:sp>
      <p:sp>
        <p:nvSpPr>
          <p:cNvPr id="2" name="">
            <a:extLst xmlns:a="http://schemas.openxmlformats.org/drawingml/2006/main">
              <a:ext uri="{FF2B5EF4-FFF2-40B4-BE49-F238E27FC236}">
                <a16:creationId xmlns:a16="http://schemas.microsoft.com/office/drawing/2014/main" id="{E04E4653-C84C-4825-86A7-10D20C955B92}"/>
              </a:ext>
            </a:extLst>
          </p:cNvPr>
          <p:cNvSpPr>
            <a:spLocks xmlns:a="http://schemas.openxmlformats.org/drawingml/2006/main" noGrp="1"/>
          </p:cNvSpPr>
          <p:nvPr/>
        </p:nvSpPr>
        <p:spPr>
          <a:xfrm xmlns:a="http://schemas.openxmlformats.org/drawingml/2006/main">
            <a:off x="628650" y="9525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00" b="0">
                <a:solidFill>
                  <a:srgbClr val="A9BAC8"/>
                </a:solidFill>
                <a:latin typeface="Avenir Next"/>
                <a:ea typeface="Avenir Next"/>
                <a:cs typeface="Avenir Next"/>
              </a:defRPr>
            </a:pPr>
            <a:r>
              <a:rPr sz="1500" b="0">
                <a:solidFill>
                  <a:srgbClr val="A9BAC8"/>
                </a:solidFill>
                <a:latin typeface="Avenir Next"/>
                <a:ea typeface="Avenir Next"/>
                <a:cs typeface="Avenir Next"/>
              </a:rPr>
              <a:t>The payoff compounds as one native media plane serves more production functions on the same node</a:t>
            </a:r>
          </a:p>
        </p:txBody>
      </p:sp>
      <p:sp>
        <p:nvSpPr>
          <p:cNvPr id="3" name="">
            <a:extLst xmlns:a="http://schemas.openxmlformats.org/drawingml/2006/main">
              <a:ext uri="{FF2B5EF4-FFF2-40B4-BE49-F238E27FC236}">
                <a16:creationId xmlns:a16="http://schemas.microsoft.com/office/drawing/2014/main" id="{993C95B4-A8BB-4798-8DD7-8EB5E9B5E423}"/>
              </a:ext>
            </a:extLst>
          </p:cNvPr>
          <p:cNvSpPr>
            <a:spLocks xmlns:a="http://schemas.openxmlformats.org/drawingml/2006/main" noGrp="1"/>
          </p:cNvSpPr>
          <p:nvPr/>
        </p:nvSpPr>
        <p:spPr>
          <a:xfrm xmlns:a="http://schemas.openxmlformats.org/drawingml/2006/main">
            <a:off x="609600" y="1362075"/>
            <a:ext cx="819150" cy="38100"/>
          </a:xfrm>
          <a:prstGeom xmlns:a="http://schemas.openxmlformats.org/drawingml/2006/main" prst="rect">
            <a:avLst/>
          </a:prstGeom>
          <a:solidFill xmlns:a="http://schemas.openxmlformats.org/drawingml/2006/main">
            <a:srgbClr val="36D4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FF5DF5A-D384-4E9A-88CA-57945B8E935B}"/>
              </a:ext>
            </a:extLst>
          </p:cNvPr>
          <p:cNvSpPr>
            <a:spLocks xmlns:a="http://schemas.openxmlformats.org/drawingml/2006/main" noGrp="1"/>
          </p:cNvSpPr>
          <p:nvPr/>
        </p:nvSpPr>
        <p:spPr>
          <a:xfrm xmlns:a="http://schemas.openxmlformats.org/drawingml/2006/main">
            <a:off x="666750" y="1676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125" b="1">
                <a:solidFill>
                  <a:srgbClr val="83E28E"/>
                </a:solidFill>
                <a:latin typeface="Avenir Next"/>
                <a:ea typeface="Avenir Next"/>
                <a:cs typeface="Avenir Next"/>
              </a:defRPr>
            </a:pPr>
            <a:r>
              <a:rPr sz="1125" b="1">
                <a:solidFill>
                  <a:srgbClr val="83E28E"/>
                </a:solidFill>
                <a:latin typeface="Avenir Next"/>
                <a:ea typeface="Avenir Next"/>
                <a:cs typeface="Avenir Next"/>
              </a:rPr>
              <a:t>FEWER CODEC BOUNDARIES</a:t>
            </a:r>
          </a:p>
        </p:txBody>
      </p:sp>
      <p:sp>
        <p:nvSpPr>
          <p:cNvPr id="5" name="">
            <a:extLst xmlns:a="http://schemas.openxmlformats.org/drawingml/2006/main">
              <a:ext uri="{FF2B5EF4-FFF2-40B4-BE49-F238E27FC236}">
                <a16:creationId xmlns:a16="http://schemas.microsoft.com/office/drawing/2014/main" id="{BBD9886A-474D-4BAC-8F7B-2CD3C5C34D08}"/>
              </a:ext>
            </a:extLst>
          </p:cNvPr>
          <p:cNvSpPr>
            <a:spLocks xmlns:a="http://schemas.openxmlformats.org/drawingml/2006/main" noGrp="1"/>
          </p:cNvSpPr>
          <p:nvPr/>
        </p:nvSpPr>
        <p:spPr>
          <a:xfrm xmlns:a="http://schemas.openxmlformats.org/drawingml/2006/main">
            <a:off x="666750" y="2038350"/>
            <a:ext cx="32194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650" b="0">
                <a:solidFill>
                  <a:srgbClr val="F4F8FB"/>
                </a:solidFill>
                <a:latin typeface="Avenir Next"/>
                <a:ea typeface="Avenir Next"/>
                <a:cs typeface="Avenir Next"/>
              </a:defRPr>
            </a:pPr>
            <a:r>
              <a:rPr sz="1650" b="0">
                <a:solidFill>
                  <a:srgbClr val="F4F8FB"/>
                </a:solidFill>
                <a:latin typeface="Avenir Next"/>
                <a:ea typeface="Avenir Next"/>
                <a:cs typeface="Avenir Next"/>
              </a:rPr>
              <a:t>Ingest once</a:t>
            </a:r>
          </a:p>
          <a:p xmlns:a="http://schemas.openxmlformats.org/drawingml/2006/main">
            <a:pPr algn="l">
              <a:buNone/>
              <a:defRPr sz="1650" b="0">
                <a:solidFill>
                  <a:srgbClr val="F4F8FB"/>
                </a:solidFill>
                <a:latin typeface="Avenir Next"/>
                <a:ea typeface="Avenir Next"/>
                <a:cs typeface="Avenir Next"/>
              </a:defRPr>
            </a:pPr>
            <a:r>
              <a:rPr sz="1650" b="0">
                <a:solidFill>
                  <a:srgbClr val="F4F8FB"/>
                </a:solidFill>
                <a:latin typeface="Avenir Next"/>
                <a:ea typeface="Avenir Next"/>
                <a:cs typeface="Avenir Next"/>
              </a:rPr>
              <a:t/>
            </a:r>
          </a:p>
          <a:p xmlns:a="http://schemas.openxmlformats.org/drawingml/2006/main">
            <a:pPr algn="l">
              <a:buNone/>
              <a:defRPr sz="1650" b="0">
                <a:solidFill>
                  <a:srgbClr val="F4F8FB"/>
                </a:solidFill>
                <a:latin typeface="Avenir Next"/>
                <a:ea typeface="Avenir Next"/>
                <a:cs typeface="Avenir Next"/>
              </a:defRPr>
            </a:pPr>
            <a:r>
              <a:rPr sz="1650" b="0">
                <a:solidFill>
                  <a:srgbClr val="F4F8FB"/>
                </a:solidFill>
                <a:latin typeface="Avenir Next"/>
                <a:ea typeface="Avenir Next"/>
                <a:cs typeface="Avenir Next"/>
              </a:rPr>
              <a:t>Switch, compose, meter, monitor, record, and encode from the same timed native media.</a:t>
            </a:r>
          </a:p>
        </p:txBody>
      </p:sp>
      <p:sp>
        <p:nvSpPr>
          <p:cNvPr id="6" name="">
            <a:extLst xmlns:a="http://schemas.openxmlformats.org/drawingml/2006/main">
              <a:ext uri="{FF2B5EF4-FFF2-40B4-BE49-F238E27FC236}">
                <a16:creationId xmlns:a16="http://schemas.microsoft.com/office/drawing/2014/main" id="{A07EE15E-15F9-4722-A587-952C6DE1F565}"/>
              </a:ext>
            </a:extLst>
          </p:cNvPr>
          <p:cNvSpPr>
            <a:spLocks xmlns:a="http://schemas.openxmlformats.org/drawingml/2006/main" noGrp="1"/>
          </p:cNvSpPr>
          <p:nvPr/>
        </p:nvSpPr>
        <p:spPr>
          <a:xfrm xmlns:a="http://schemas.openxmlformats.org/drawingml/2006/main">
            <a:off x="4219575" y="1676400"/>
            <a:ext cx="14288" cy="3286125"/>
          </a:xfrm>
          <a:prstGeom xmlns:a="http://schemas.openxmlformats.org/drawingml/2006/main" prst="rect">
            <a:avLst/>
          </a:prstGeom>
          <a:solidFill xmlns:a="http://schemas.openxmlformats.org/drawingml/2006/main">
            <a:srgbClr val="294151"/>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DD417FE7-6F96-4F8B-B4EC-1F9392543C5A}"/>
              </a:ext>
            </a:extLst>
          </p:cNvPr>
          <p:cNvSpPr>
            <a:spLocks xmlns:a="http://schemas.openxmlformats.org/drawingml/2006/main" noGrp="1"/>
          </p:cNvSpPr>
          <p:nvPr/>
        </p:nvSpPr>
        <p:spPr>
          <a:xfrm xmlns:a="http://schemas.openxmlformats.org/drawingml/2006/main">
            <a:off x="4619625" y="1676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125" b="1">
                <a:solidFill>
                  <a:srgbClr val="FFB85C"/>
                </a:solidFill>
                <a:latin typeface="Avenir Next"/>
                <a:ea typeface="Avenir Next"/>
                <a:cs typeface="Avenir Next"/>
              </a:defRPr>
            </a:pPr>
            <a:r>
              <a:rPr sz="1125" b="1">
                <a:solidFill>
                  <a:srgbClr val="FFB85C"/>
                </a:solidFill>
                <a:latin typeface="Avenir Next"/>
                <a:ea typeface="Avenir Next"/>
                <a:cs typeface="Avenir Next"/>
              </a:rPr>
              <a:t>LIVE, MODULAR OPERATIONS</a:t>
            </a:r>
          </a:p>
        </p:txBody>
      </p:sp>
      <p:sp>
        <p:nvSpPr>
          <p:cNvPr id="8" name="">
            <a:extLst xmlns:a="http://schemas.openxmlformats.org/drawingml/2006/main">
              <a:ext uri="{FF2B5EF4-FFF2-40B4-BE49-F238E27FC236}">
                <a16:creationId xmlns:a16="http://schemas.microsoft.com/office/drawing/2014/main" id="{E33E1A17-9ADD-4945-BD0D-07159178A489}"/>
              </a:ext>
            </a:extLst>
          </p:cNvPr>
          <p:cNvSpPr>
            <a:spLocks xmlns:a="http://schemas.openxmlformats.org/drawingml/2006/main" noGrp="1"/>
          </p:cNvSpPr>
          <p:nvPr/>
        </p:nvSpPr>
        <p:spPr>
          <a:xfrm xmlns:a="http://schemas.openxmlformats.org/drawingml/2006/main">
            <a:off x="4619625" y="2038350"/>
            <a:ext cx="314325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650" b="0">
                <a:solidFill>
                  <a:srgbClr val="F4F8FB"/>
                </a:solidFill>
                <a:latin typeface="Avenir Next"/>
                <a:ea typeface="Avenir Next"/>
                <a:cs typeface="Avenir Next"/>
              </a:defRPr>
            </a:pPr>
            <a:r>
              <a:rPr sz="1650" b="0">
                <a:solidFill>
                  <a:srgbClr val="F4F8FB"/>
                </a:solidFill>
                <a:latin typeface="Avenir Next"/>
                <a:ea typeface="Avenir Next"/>
                <a:cs typeface="Avenir Next"/>
              </a:rPr>
              <a:t>Change one function</a:t>
            </a:r>
          </a:p>
          <a:p xmlns:a="http://schemas.openxmlformats.org/drawingml/2006/main">
            <a:pPr algn="l">
              <a:buNone/>
              <a:defRPr sz="1650" b="0">
                <a:solidFill>
                  <a:srgbClr val="F4F8FB"/>
                </a:solidFill>
                <a:latin typeface="Avenir Next"/>
                <a:ea typeface="Avenir Next"/>
                <a:cs typeface="Avenir Next"/>
              </a:defRPr>
            </a:pPr>
            <a:r>
              <a:rPr sz="1650" b="0">
                <a:solidFill>
                  <a:srgbClr val="F4F8FB"/>
                </a:solidFill>
                <a:latin typeface="Avenir Next"/>
                <a:ea typeface="Avenir Next"/>
                <a:cs typeface="Avenir Next"/>
              </a:rPr>
              <a:t/>
            </a:r>
          </a:p>
          <a:p xmlns:a="http://schemas.openxmlformats.org/drawingml/2006/main">
            <a:pPr algn="l">
              <a:buNone/>
              <a:defRPr sz="1650" b="0">
                <a:solidFill>
                  <a:srgbClr val="F4F8FB"/>
                </a:solidFill>
                <a:latin typeface="Avenir Next"/>
                <a:ea typeface="Avenir Next"/>
                <a:cs typeface="Avenir Next"/>
              </a:defRPr>
            </a:pPr>
            <a:r>
              <a:rPr sz="1650" b="0">
                <a:solidFill>
                  <a:srgbClr val="F4F8FB"/>
                </a:solidFill>
                <a:latin typeface="Avenir Next"/>
                <a:ea typeface="Avenir Next"/>
                <a:cs typeface="Avenir Next"/>
              </a:rPr>
              <a:t>Stable flows keep Program alive while a Skin, compositor, or output adapter changes independently.</a:t>
            </a:r>
          </a:p>
        </p:txBody>
      </p:sp>
      <p:sp>
        <p:nvSpPr>
          <p:cNvPr id="9" name="">
            <a:extLst xmlns:a="http://schemas.openxmlformats.org/drawingml/2006/main">
              <a:ext uri="{FF2B5EF4-FFF2-40B4-BE49-F238E27FC236}">
                <a16:creationId xmlns:a16="http://schemas.microsoft.com/office/drawing/2014/main" id="{1C38A187-B28B-4843-8256-18A4B00C9379}"/>
              </a:ext>
            </a:extLst>
          </p:cNvPr>
          <p:cNvSpPr>
            <a:spLocks xmlns:a="http://schemas.openxmlformats.org/drawingml/2006/main" noGrp="1"/>
          </p:cNvSpPr>
          <p:nvPr/>
        </p:nvSpPr>
        <p:spPr>
          <a:xfrm xmlns:a="http://schemas.openxmlformats.org/drawingml/2006/main">
            <a:off x="8058150" y="1676400"/>
            <a:ext cx="14288" cy="3286125"/>
          </a:xfrm>
          <a:prstGeom xmlns:a="http://schemas.openxmlformats.org/drawingml/2006/main" prst="rect">
            <a:avLst/>
          </a:prstGeom>
          <a:solidFill xmlns:a="http://schemas.openxmlformats.org/drawingml/2006/main">
            <a:srgbClr val="294151"/>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0" name="">
            <a:extLst xmlns:a="http://schemas.openxmlformats.org/drawingml/2006/main">
              <a:ext uri="{FF2B5EF4-FFF2-40B4-BE49-F238E27FC236}">
                <a16:creationId xmlns:a16="http://schemas.microsoft.com/office/drawing/2014/main" id="{4F0C7A18-5B8A-48FB-899F-AF29D7BDACA6}"/>
              </a:ext>
            </a:extLst>
          </p:cNvPr>
          <p:cNvSpPr>
            <a:spLocks xmlns:a="http://schemas.openxmlformats.org/drawingml/2006/main" noGrp="1"/>
          </p:cNvSpPr>
          <p:nvPr/>
        </p:nvSpPr>
        <p:spPr>
          <a:xfrm xmlns:a="http://schemas.openxmlformats.org/drawingml/2006/main">
            <a:off x="8458200" y="1676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125" b="1">
                <a:solidFill>
                  <a:srgbClr val="48C7FF"/>
                </a:solidFill>
                <a:latin typeface="Avenir Next"/>
                <a:ea typeface="Avenir Next"/>
                <a:cs typeface="Avenir Next"/>
              </a:defRPr>
            </a:pPr>
            <a:r>
              <a:rPr sz="1125" b="1">
                <a:solidFill>
                  <a:srgbClr val="48C7FF"/>
                </a:solidFill>
                <a:latin typeface="Avenir Next"/>
                <a:ea typeface="Avenir Next"/>
                <a:cs typeface="Avenir Next"/>
              </a:rPr>
              <a:t>OPEN CONTROL + OUTPUTS</a:t>
            </a:r>
          </a:p>
        </p:txBody>
      </p:sp>
      <p:sp>
        <p:nvSpPr>
          <p:cNvPr id="11" name="">
            <a:extLst xmlns:a="http://schemas.openxmlformats.org/drawingml/2006/main">
              <a:ext uri="{FF2B5EF4-FFF2-40B4-BE49-F238E27FC236}">
                <a16:creationId xmlns:a16="http://schemas.microsoft.com/office/drawing/2014/main" id="{2C642891-7549-4560-A68D-E7A28CC3BDA5}"/>
              </a:ext>
            </a:extLst>
          </p:cNvPr>
          <p:cNvSpPr>
            <a:spLocks xmlns:a="http://schemas.openxmlformats.org/drawingml/2006/main" noGrp="1"/>
          </p:cNvSpPr>
          <p:nvPr/>
        </p:nvSpPr>
        <p:spPr>
          <a:xfrm xmlns:a="http://schemas.openxmlformats.org/drawingml/2006/main">
            <a:off x="8458200" y="2038350"/>
            <a:ext cx="314325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650" b="0">
                <a:solidFill>
                  <a:srgbClr val="F4F8FB"/>
                </a:solidFill>
                <a:latin typeface="Avenir Next"/>
                <a:ea typeface="Avenir Next"/>
                <a:cs typeface="Avenir Next"/>
              </a:defRPr>
            </a:pPr>
            <a:r>
              <a:rPr sz="1650" b="0">
                <a:solidFill>
                  <a:srgbClr val="F4F8FB"/>
                </a:solidFill>
                <a:latin typeface="Avenir Next"/>
                <a:ea typeface="Avenir Next"/>
                <a:cs typeface="Avenir Next"/>
              </a:rPr>
              <a:t>Use the right surface</a:t>
            </a:r>
          </a:p>
          <a:p xmlns:a="http://schemas.openxmlformats.org/drawingml/2006/main">
            <a:pPr algn="l">
              <a:buNone/>
              <a:defRPr sz="1650" b="0">
                <a:solidFill>
                  <a:srgbClr val="F4F8FB"/>
                </a:solidFill>
                <a:latin typeface="Avenir Next"/>
                <a:ea typeface="Avenir Next"/>
                <a:cs typeface="Avenir Next"/>
              </a:defRPr>
            </a:pPr>
            <a:r>
              <a:rPr sz="1650" b="0">
                <a:solidFill>
                  <a:srgbClr val="F4F8FB"/>
                </a:solidFill>
                <a:latin typeface="Avenir Next"/>
                <a:ea typeface="Avenir Next"/>
                <a:cs typeface="Avenir Next"/>
              </a:rPr>
              <a:t/>
            </a:r>
          </a:p>
          <a:p xmlns:a="http://schemas.openxmlformats.org/drawingml/2006/main">
            <a:pPr algn="l">
              <a:buNone/>
              <a:defRPr sz="1650" b="0">
                <a:solidFill>
                  <a:srgbClr val="F4F8FB"/>
                </a:solidFill>
                <a:latin typeface="Avenir Next"/>
                <a:ea typeface="Avenir Next"/>
                <a:cs typeface="Avenir Next"/>
              </a:defRPr>
            </a:pPr>
            <a:r>
              <a:rPr sz="1650" b="0">
                <a:solidFill>
                  <a:srgbClr val="F4F8FB"/>
                </a:solidFill>
                <a:latin typeface="Avenir Next"/>
                <a:ea typeface="Avenir Next"/>
                <a:cs typeface="Avenir Next"/>
              </a:rPr>
              <a:t>Browser, Companion, or automation control the same Core; one Program Master can feed many adapters.</a:t>
            </a:r>
          </a:p>
        </p:txBody>
      </p:sp>
      <p:sp>
        <p:nvSpPr>
          <p:cNvPr id="12" name="">
            <a:extLst xmlns:a="http://schemas.openxmlformats.org/drawingml/2006/main">
              <a:ext uri="{FF2B5EF4-FFF2-40B4-BE49-F238E27FC236}">
                <a16:creationId xmlns:a16="http://schemas.microsoft.com/office/drawing/2014/main" id="{35A85592-C361-442F-80ED-110F7328ED0B}"/>
              </a:ext>
            </a:extLst>
          </p:cNvPr>
          <p:cNvSpPr>
            <a:spLocks xmlns:a="http://schemas.openxmlformats.org/drawingml/2006/main" noGrp="1"/>
          </p:cNvSpPr>
          <p:nvPr/>
        </p:nvSpPr>
        <p:spPr>
          <a:xfrm xmlns:a="http://schemas.openxmlformats.org/drawingml/2006/main">
            <a:off x="666750" y="5095875"/>
            <a:ext cx="10820400" cy="723900"/>
          </a:xfrm>
          <a:prstGeom xmlns:a="http://schemas.openxmlformats.org/drawingml/2006/main" prst="roundRect">
            <a:avLst>
              <a:gd name="adj" fmla="val 10526"/>
            </a:avLst>
          </a:prstGeom>
          <a:solidFill xmlns:a="http://schemas.openxmlformats.org/drawingml/2006/main">
            <a:srgbClr val="12242F"/>
          </a:solidFill>
          <a:ln xmlns:a="http://schemas.openxmlformats.org/drawingml/2006/main" w="14288">
            <a:solidFill>
              <a:srgbClr val="48C7FF"/>
            </a:solidFill>
          </a:ln>
        </p:spPr>
        <p:txBody>
          <a:bodyPr xmlns:a="http://schemas.openxmlformats.org/drawingml/2006/main"/>
          <a:lstStyle xmlns:a="http://schemas.openxmlformats.org/drawingml/2006/main"/>
          <a:p xmlns:a="http://schemas.openxmlformats.org/drawingml/2006/main">
            <a:r>
              <a:t/>
            </a:r>
          </a:p>
        </p:txBody>
      </p:sp>
      <p:sp>
        <p:nvSpPr>
          <p:cNvPr id="13" name="">
            <a:extLst xmlns:a="http://schemas.openxmlformats.org/drawingml/2006/main">
              <a:ext uri="{FF2B5EF4-FFF2-40B4-BE49-F238E27FC236}">
                <a16:creationId xmlns:a16="http://schemas.microsoft.com/office/drawing/2014/main" id="{C3645F36-988D-4929-9EDC-4C6A68DA6DF0}"/>
              </a:ext>
            </a:extLst>
          </p:cNvPr>
          <p:cNvSpPr>
            <a:spLocks xmlns:a="http://schemas.openxmlformats.org/drawingml/2006/main" noGrp="1"/>
          </p:cNvSpPr>
          <p:nvPr/>
        </p:nvSpPr>
        <p:spPr>
          <a:xfrm xmlns:a="http://schemas.openxmlformats.org/drawingml/2006/main">
            <a:off x="895350" y="5191125"/>
            <a:ext cx="1036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800" b="1">
                <a:solidFill>
                  <a:srgbClr val="F4F8FB"/>
                </a:solidFill>
                <a:latin typeface="Avenir Next"/>
                <a:ea typeface="Avenir Next"/>
                <a:cs typeface="Avenir Next"/>
              </a:defRPr>
            </a:pPr>
            <a:r>
              <a:rPr sz="1800" b="1">
                <a:solidFill>
                  <a:srgbClr val="F4F8FB"/>
                </a:solidFill>
                <a:latin typeface="Avenir Next"/>
                <a:ea typeface="Avenir Next"/>
                <a:cs typeface="Avenir Next"/>
              </a:rPr>
              <a:t>Proven live: eight 1080p Zoom feeds, direct cuts, 2-up through 8-up Looks, multiview, VU meters, and Stream Deck control on a CPU-only node.</a:t>
            </a:r>
          </a:p>
        </p:txBody>
      </p:sp>
      <p:sp>
        <p:nvSpPr>
          <p:cNvPr id="14" name="">
            <a:extLst xmlns:a="http://schemas.openxmlformats.org/drawingml/2006/main">
              <a:ext uri="{FF2B5EF4-FFF2-40B4-BE49-F238E27FC236}">
                <a16:creationId xmlns:a16="http://schemas.microsoft.com/office/drawing/2014/main" id="{B3D553D0-6386-4BF2-B031-D978C7ED10E5}"/>
              </a:ext>
            </a:extLst>
          </p:cNvPr>
          <p:cNvSpPr>
            <a:spLocks xmlns:a="http://schemas.openxmlformats.org/drawingml/2006/main" noGrp="1"/>
          </p:cNvSpPr>
          <p:nvPr/>
        </p:nvSpPr>
        <p:spPr>
          <a:xfrm xmlns:a="http://schemas.openxmlformats.org/drawingml/2006/main">
            <a:off x="609600" y="64674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Tonight's reason to care</a:t>
            </a:r>
          </a:p>
        </p:txBody>
      </p:sp>
      <p:sp>
        <p:nvSpPr>
          <p:cNvPr id="15" name="">
            <a:extLst xmlns:a="http://schemas.openxmlformats.org/drawingml/2006/main">
              <a:ext uri="{FF2B5EF4-FFF2-40B4-BE49-F238E27FC236}">
                <a16:creationId xmlns:a16="http://schemas.microsoft.com/office/drawing/2014/main" id="{E2363255-8209-4A9A-8915-D8B5E8342B55}"/>
              </a:ext>
            </a:extLst>
          </p:cNvPr>
          <p:cNvSpPr>
            <a:spLocks xmlns:a="http://schemas.openxmlformats.org/drawingml/2006/main" noGrp="1"/>
          </p:cNvSpPr>
          <p:nvPr/>
        </p:nvSpPr>
        <p:spPr>
          <a:xfrm xmlns:a="http://schemas.openxmlformats.org/drawingml/2006/main">
            <a:off x="11239500" y="6467475"/>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r">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15</a:t>
            </a:r>
          </a:p>
        </p:txBody>
      </p:sp>
    </p:spTree>
    <p:extLst>
      <p:ext uri="{BB962C8B-B14F-4D97-AF65-F5344CB8AC3E}">
        <p14:creationId xmlns:p14="http://schemas.microsoft.com/office/powerpoint/2010/main" val="1918685646"/>
      </p:ext>
    </p:extLst>
  </p:cSld>
</p:sld>
</file>

<file path=ppt/slides/slide16.xml><?xml version="1.0" encoding="utf-8"?>
<p:sld xmlns:p="http://schemas.openxmlformats.org/presentationml/2006/main">
  <p:cSld>
    <p:bg>
      <p:bgPr>
        <a:solidFill xmlns:a="http://schemas.openxmlformats.org/drawingml/2006/main">
          <a:srgbClr val="07101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9946BAA-1CD7-4E90-89E8-C302421D9F9C}"/>
              </a:ext>
            </a:extLst>
          </p:cNvPr>
          <p:cNvSpPr>
            <a:spLocks xmlns:a="http://schemas.openxmlformats.org/drawingml/2006/main" noGrp="1"/>
          </p:cNvSpPr>
          <p:nvPr/>
        </p:nvSpPr>
        <p:spPr>
          <a:xfrm xmlns:a="http://schemas.openxmlformats.org/drawingml/2006/main">
            <a:off x="609600" y="361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3150" b="1">
                <a:solidFill>
                  <a:srgbClr val="F4F8FB"/>
                </a:solidFill>
                <a:latin typeface="Avenir Next"/>
                <a:ea typeface="Avenir Next"/>
                <a:cs typeface="Avenir Next"/>
              </a:defRPr>
            </a:pPr>
            <a:r>
              <a:rPr sz="3150" b="1">
                <a:solidFill>
                  <a:srgbClr val="F4F8FB"/>
                </a:solidFill>
                <a:latin typeface="Avenir Next"/>
                <a:ea typeface="Avenir Next"/>
                <a:cs typeface="Avenir Next"/>
              </a:rPr>
              <a:t>The efficiency case now has measured evidence</a:t>
            </a:r>
          </a:p>
        </p:txBody>
      </p:sp>
      <p:sp>
        <p:nvSpPr>
          <p:cNvPr id="2" name="">
            <a:extLst xmlns:a="http://schemas.openxmlformats.org/drawingml/2006/main">
              <a:ext uri="{FF2B5EF4-FFF2-40B4-BE49-F238E27FC236}">
                <a16:creationId xmlns:a16="http://schemas.microsoft.com/office/drawing/2014/main" id="{2FFA8AA1-50C5-4621-9739-0EE8CA3DBEA6}"/>
              </a:ext>
            </a:extLst>
          </p:cNvPr>
          <p:cNvSpPr>
            <a:spLocks xmlns:a="http://schemas.openxmlformats.org/drawingml/2006/main" noGrp="1"/>
          </p:cNvSpPr>
          <p:nvPr/>
        </p:nvSpPr>
        <p:spPr>
          <a:xfrm xmlns:a="http://schemas.openxmlformats.org/drawingml/2006/main">
            <a:off x="628650" y="9525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00" b="0">
                <a:solidFill>
                  <a:srgbClr val="A9BAC8"/>
                </a:solidFill>
                <a:latin typeface="Avenir Next"/>
                <a:ea typeface="Avenir Next"/>
                <a:cs typeface="Avenir Next"/>
              </a:defRPr>
            </a:pPr>
            <a:r>
              <a:rPr sz="1500" b="0">
                <a:solidFill>
                  <a:srgbClr val="A9BAC8"/>
                </a:solidFill>
                <a:latin typeface="Avenir Next"/>
                <a:ea typeface="Avenir Next"/>
                <a:cs typeface="Avenir Next"/>
              </a:rPr>
              <a:t>An older on-premises server and a modern cloud VM both carried native MXL workflows without GPU acceleration</a:t>
            </a:r>
          </a:p>
        </p:txBody>
      </p:sp>
      <p:sp>
        <p:nvSpPr>
          <p:cNvPr id="3" name="">
            <a:extLst xmlns:a="http://schemas.openxmlformats.org/drawingml/2006/main">
              <a:ext uri="{FF2B5EF4-FFF2-40B4-BE49-F238E27FC236}">
                <a16:creationId xmlns:a16="http://schemas.microsoft.com/office/drawing/2014/main" id="{AAC705E9-26E2-4E30-95E4-DD73FCEC354B}"/>
              </a:ext>
            </a:extLst>
          </p:cNvPr>
          <p:cNvSpPr>
            <a:spLocks xmlns:a="http://schemas.openxmlformats.org/drawingml/2006/main" noGrp="1"/>
          </p:cNvSpPr>
          <p:nvPr/>
        </p:nvSpPr>
        <p:spPr>
          <a:xfrm xmlns:a="http://schemas.openxmlformats.org/drawingml/2006/main">
            <a:off x="609600" y="1362075"/>
            <a:ext cx="819150" cy="38100"/>
          </a:xfrm>
          <a:prstGeom xmlns:a="http://schemas.openxmlformats.org/drawingml/2006/main" prst="rect">
            <a:avLst/>
          </a:prstGeom>
          <a:solidFill xmlns:a="http://schemas.openxmlformats.org/drawingml/2006/main">
            <a:srgbClr val="36D4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F4C80F0-5781-4CD0-944A-85303742D87E}"/>
              </a:ext>
            </a:extLst>
          </p:cNvPr>
          <p:cNvSpPr>
            <a:spLocks xmlns:a="http://schemas.openxmlformats.org/drawingml/2006/main" noGrp="1"/>
          </p:cNvSpPr>
          <p:nvPr/>
        </p:nvSpPr>
        <p:spPr>
          <a:xfrm xmlns:a="http://schemas.openxmlformats.org/drawingml/2006/main">
            <a:off x="619125" y="1628775"/>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125" b="1">
                <a:solidFill>
                  <a:srgbClr val="FFB85C"/>
                </a:solidFill>
                <a:latin typeface="Avenir Next"/>
                <a:ea typeface="Avenir Next"/>
                <a:cs typeface="Avenir Next"/>
              </a:defRPr>
            </a:pPr>
            <a:r>
              <a:rPr sz="1125" b="1">
                <a:solidFill>
                  <a:srgbClr val="FFB85C"/>
                </a:solidFill>
                <a:latin typeface="Avenir Next"/>
                <a:ea typeface="Avenir Next"/>
                <a:cs typeface="Avenir Next"/>
              </a:rPr>
              <a:t>MEASURED 1080p WORKFLOWS</a:t>
            </a:r>
          </a:p>
        </p:txBody>
      </p:sp>
      <p:sp>
        <p:nvSpPr>
          <p:cNvPr id="5" name="">
            <a:extLst xmlns:a="http://schemas.openxmlformats.org/drawingml/2006/main">
              <a:ext uri="{FF2B5EF4-FFF2-40B4-BE49-F238E27FC236}">
                <a16:creationId xmlns:a16="http://schemas.microsoft.com/office/drawing/2014/main" id="{2695A51E-8173-41E5-9123-0C29B714C629}"/>
              </a:ext>
            </a:extLst>
          </p:cNvPr>
          <p:cNvSpPr>
            <a:spLocks xmlns:a="http://schemas.openxmlformats.org/drawingml/2006/main" noGrp="1"/>
          </p:cNvSpPr>
          <p:nvPr/>
        </p:nvSpPr>
        <p:spPr>
          <a:xfrm xmlns:a="http://schemas.openxmlformats.org/drawingml/2006/main">
            <a:off x="628650" y="1943100"/>
            <a:ext cx="2190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5850" b="1">
                <a:solidFill>
                  <a:srgbClr val="FFB85C"/>
                </a:solidFill>
                <a:latin typeface="Avenir Next"/>
                <a:ea typeface="Avenir Next"/>
                <a:cs typeface="Avenir Next"/>
              </a:defRPr>
            </a:pPr>
            <a:r>
              <a:rPr sz="5850" b="1">
                <a:solidFill>
                  <a:srgbClr val="FFB85C"/>
                </a:solidFill>
                <a:latin typeface="Avenir Next"/>
                <a:ea typeface="Avenir Next"/>
                <a:cs typeface="Avenir Next"/>
              </a:rPr>
              <a:t>4</a:t>
            </a:r>
          </a:p>
        </p:txBody>
      </p:sp>
      <p:sp>
        <p:nvSpPr>
          <p:cNvPr id="6" name="">
            <a:extLst xmlns:a="http://schemas.openxmlformats.org/drawingml/2006/main">
              <a:ext uri="{FF2B5EF4-FFF2-40B4-BE49-F238E27FC236}">
                <a16:creationId xmlns:a16="http://schemas.microsoft.com/office/drawing/2014/main" id="{064BCE48-227E-41FA-ABE5-9B8A3136030F}"/>
              </a:ext>
            </a:extLst>
          </p:cNvPr>
          <p:cNvSpPr>
            <a:spLocks xmlns:a="http://schemas.openxmlformats.org/drawingml/2006/main" noGrp="1"/>
          </p:cNvSpPr>
          <p:nvPr/>
        </p:nvSpPr>
        <p:spPr>
          <a:xfrm xmlns:a="http://schemas.openxmlformats.org/drawingml/2006/main">
            <a:off x="666750" y="2867025"/>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local ZoomISO inputs</a:t>
            </a:r>
          </a:p>
        </p:txBody>
      </p:sp>
      <p:sp>
        <p:nvSpPr>
          <p:cNvPr id="7" name="">
            <a:extLst xmlns:a="http://schemas.openxmlformats.org/drawingml/2006/main">
              <a:ext uri="{FF2B5EF4-FFF2-40B4-BE49-F238E27FC236}">
                <a16:creationId xmlns:a16="http://schemas.microsoft.com/office/drawing/2014/main" id="{8B3C4851-82BE-4B1B-8DA0-0F4CB528CDB0}"/>
              </a:ext>
            </a:extLst>
          </p:cNvPr>
          <p:cNvSpPr>
            <a:spLocks xmlns:a="http://schemas.openxmlformats.org/drawingml/2006/main" noGrp="1"/>
          </p:cNvSpPr>
          <p:nvPr/>
        </p:nvSpPr>
        <p:spPr>
          <a:xfrm xmlns:a="http://schemas.openxmlformats.org/drawingml/2006/main">
            <a:off x="3829050" y="1943100"/>
            <a:ext cx="2095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5850" b="1">
                <a:solidFill>
                  <a:srgbClr val="48C7FF"/>
                </a:solidFill>
                <a:latin typeface="Avenir Next"/>
                <a:ea typeface="Avenir Next"/>
                <a:cs typeface="Avenir Next"/>
              </a:defRPr>
            </a:pPr>
            <a:r>
              <a:rPr sz="5850" b="1">
                <a:solidFill>
                  <a:srgbClr val="48C7FF"/>
                </a:solidFill>
                <a:latin typeface="Avenir Next"/>
                <a:ea typeface="Avenir Next"/>
                <a:cs typeface="Avenir Next"/>
              </a:rPr>
              <a:t>8</a:t>
            </a:r>
          </a:p>
        </p:txBody>
      </p:sp>
      <p:sp>
        <p:nvSpPr>
          <p:cNvPr id="8" name="">
            <a:extLst xmlns:a="http://schemas.openxmlformats.org/drawingml/2006/main">
              <a:ext uri="{FF2B5EF4-FFF2-40B4-BE49-F238E27FC236}">
                <a16:creationId xmlns:a16="http://schemas.microsoft.com/office/drawing/2014/main" id="{24ED7A12-60BE-4F07-AE04-C37B2C4D5788}"/>
              </a:ext>
            </a:extLst>
          </p:cNvPr>
          <p:cNvSpPr>
            <a:spLocks xmlns:a="http://schemas.openxmlformats.org/drawingml/2006/main" noGrp="1"/>
          </p:cNvSpPr>
          <p:nvPr/>
        </p:nvSpPr>
        <p:spPr>
          <a:xfrm xmlns:a="http://schemas.openxmlformats.org/drawingml/2006/main">
            <a:off x="3867150" y="2867025"/>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Azure ZoomISO inputs</a:t>
            </a:r>
          </a:p>
        </p:txBody>
      </p:sp>
      <p:sp>
        <p:nvSpPr>
          <p:cNvPr id="9" name="">
            <a:extLst xmlns:a="http://schemas.openxmlformats.org/drawingml/2006/main">
              <a:ext uri="{FF2B5EF4-FFF2-40B4-BE49-F238E27FC236}">
                <a16:creationId xmlns:a16="http://schemas.microsoft.com/office/drawing/2014/main" id="{DF547C65-DA3D-485D-8449-5BF1FA7D85F2}"/>
              </a:ext>
            </a:extLst>
          </p:cNvPr>
          <p:cNvSpPr>
            <a:spLocks xmlns:a="http://schemas.openxmlformats.org/drawingml/2006/main" noGrp="1"/>
          </p:cNvSpPr>
          <p:nvPr/>
        </p:nvSpPr>
        <p:spPr>
          <a:xfrm xmlns:a="http://schemas.openxmlformats.org/drawingml/2006/main">
            <a:off x="7162800" y="1943100"/>
            <a:ext cx="2381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5850" b="1">
                <a:solidFill>
                  <a:srgbClr val="FF6B6B"/>
                </a:solidFill>
                <a:latin typeface="Avenir Next"/>
                <a:ea typeface="Avenir Next"/>
                <a:cs typeface="Avenir Next"/>
              </a:defRPr>
            </a:pPr>
            <a:r>
              <a:rPr sz="5850" b="1">
                <a:solidFill>
                  <a:srgbClr val="FF6B6B"/>
                </a:solidFill>
                <a:latin typeface="Avenir Next"/>
                <a:ea typeface="Avenir Next"/>
                <a:cs typeface="Avenir Next"/>
              </a:rPr>
              <a:t>0</a:t>
            </a:r>
          </a:p>
        </p:txBody>
      </p:sp>
      <p:sp>
        <p:nvSpPr>
          <p:cNvPr id="10" name="">
            <a:extLst xmlns:a="http://schemas.openxmlformats.org/drawingml/2006/main">
              <a:ext uri="{FF2B5EF4-FFF2-40B4-BE49-F238E27FC236}">
                <a16:creationId xmlns:a16="http://schemas.microsoft.com/office/drawing/2014/main" id="{40D0A9E6-CDA4-462D-A2CE-FB56F0D8365F}"/>
              </a:ext>
            </a:extLst>
          </p:cNvPr>
          <p:cNvSpPr>
            <a:spLocks xmlns:a="http://schemas.openxmlformats.org/drawingml/2006/main" noGrp="1"/>
          </p:cNvSpPr>
          <p:nvPr/>
        </p:nvSpPr>
        <p:spPr>
          <a:xfrm xmlns:a="http://schemas.openxmlformats.org/drawingml/2006/main">
            <a:off x="7200900" y="2867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GPUs required</a:t>
            </a:r>
          </a:p>
        </p:txBody>
      </p:sp>
      <p:sp>
        <p:nvSpPr>
          <p:cNvPr id="11" name="">
            <a:extLst xmlns:a="http://schemas.openxmlformats.org/drawingml/2006/main">
              <a:ext uri="{FF2B5EF4-FFF2-40B4-BE49-F238E27FC236}">
                <a16:creationId xmlns:a16="http://schemas.microsoft.com/office/drawing/2014/main" id="{C5FD9A52-1E96-40C5-8ECD-5E029F183113}"/>
              </a:ext>
            </a:extLst>
          </p:cNvPr>
          <p:cNvSpPr>
            <a:spLocks xmlns:a="http://schemas.openxmlformats.org/drawingml/2006/main" noGrp="1"/>
          </p:cNvSpPr>
          <p:nvPr/>
        </p:nvSpPr>
        <p:spPr>
          <a:xfrm xmlns:a="http://schemas.openxmlformats.org/drawingml/2006/main">
            <a:off x="628650" y="3686175"/>
            <a:ext cx="10810875" cy="14288"/>
          </a:xfrm>
          <a:prstGeom xmlns:a="http://schemas.openxmlformats.org/drawingml/2006/main" prst="rect">
            <a:avLst/>
          </a:prstGeom>
          <a:solidFill xmlns:a="http://schemas.openxmlformats.org/drawingml/2006/main">
            <a:srgbClr val="29415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95727F2-3F1F-4370-AF71-063D5470693E}"/>
              </a:ext>
            </a:extLst>
          </p:cNvPr>
          <p:cNvSpPr>
            <a:spLocks xmlns:a="http://schemas.openxmlformats.org/drawingml/2006/main" noGrp="1"/>
          </p:cNvSpPr>
          <p:nvPr/>
        </p:nvSpPr>
        <p:spPr>
          <a:xfrm xmlns:a="http://schemas.openxmlformats.org/drawingml/2006/main">
            <a:off x="704850" y="4067175"/>
            <a:ext cx="2476500" cy="895350"/>
          </a:xfrm>
          <a:prstGeom xmlns:a="http://schemas.openxmlformats.org/drawingml/2006/main" prst="roundRect">
            <a:avLst>
              <a:gd name="adj" fmla="val 8511"/>
            </a:avLst>
          </a:prstGeom>
          <a:solidFill xmlns:a="http://schemas.openxmlformats.org/drawingml/2006/main">
            <a:srgbClr val="152A38"/>
          </a:solidFill>
          <a:ln xmlns:a="http://schemas.openxmlformats.org/drawingml/2006/main" w="14288">
            <a:solidFill>
              <a:srgbClr val="294151"/>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650" b="1">
                <a:solidFill>
                  <a:srgbClr val="F4F8FB"/>
                </a:solidFill>
                <a:latin typeface="Avenir Next"/>
                <a:ea typeface="Avenir Next"/>
                <a:cs typeface="Avenir Next"/>
              </a:defRPr>
            </a:pPr>
            <a:r>
              <a:rPr sz="1650" b="1">
                <a:solidFill>
                  <a:srgbClr val="F4F8FB"/>
                </a:solidFill>
                <a:latin typeface="Avenir Next"/>
                <a:ea typeface="Avenir Next"/>
                <a:cs typeface="Avenir Next"/>
              </a:rPr>
              <a:t>LOCAL</a:t>
            </a:r>
          </a:p>
          <a:p xmlns:a="http://schemas.openxmlformats.org/drawingml/2006/main">
            <a:pPr algn="ctr">
              <a:buNone/>
              <a:defRPr sz="1650" b="1">
                <a:solidFill>
                  <a:srgbClr val="F4F8FB"/>
                </a:solidFill>
                <a:latin typeface="Avenir Next"/>
                <a:ea typeface="Avenir Next"/>
                <a:cs typeface="Avenir Next"/>
              </a:defRPr>
            </a:pPr>
            <a:r>
              <a:rPr sz="1650" b="1">
                <a:solidFill>
                  <a:srgbClr val="F4F8FB"/>
                </a:solidFill>
                <a:latin typeface="Avenir Next"/>
                <a:ea typeface="Avenir Next"/>
                <a:cs typeface="Avenir Next"/>
              </a:rPr>
              <a:t>Dual E5-2630L v3</a:t>
            </a:r>
          </a:p>
          <a:p xmlns:a="http://schemas.openxmlformats.org/drawingml/2006/main">
            <a:pPr algn="ctr">
              <a:buNone/>
              <a:defRPr sz="1650" b="1">
                <a:solidFill>
                  <a:srgbClr val="F4F8FB"/>
                </a:solidFill>
                <a:latin typeface="Avenir Next"/>
                <a:ea typeface="Avenir Next"/>
                <a:cs typeface="Avenir Next"/>
              </a:defRPr>
            </a:pPr>
            <a:r>
              <a:rPr sz="1650" b="1">
                <a:solidFill>
                  <a:srgbClr val="F4F8FB"/>
                </a:solidFill>
                <a:latin typeface="Avenir Next"/>
                <a:ea typeface="Avenir Next"/>
                <a:cs typeface="Avenir Next"/>
              </a:rPr>
              <a:t>30-minute four-input gate</a:t>
            </a:r>
          </a:p>
        </p:txBody>
      </p:sp>
      <p:sp>
        <p:nvSpPr>
          <p:cNvPr id="13" name="">
            <a:extLst xmlns:a="http://schemas.openxmlformats.org/drawingml/2006/main">
              <a:ext uri="{FF2B5EF4-FFF2-40B4-BE49-F238E27FC236}">
                <a16:creationId xmlns:a16="http://schemas.microsoft.com/office/drawing/2014/main" id="{0A267917-4F6F-4A85-B37F-C0D75D6EDF08}"/>
              </a:ext>
            </a:extLst>
          </p:cNvPr>
          <p:cNvSpPr>
            <a:spLocks xmlns:a="http://schemas.openxmlformats.org/drawingml/2006/main" noGrp="1"/>
          </p:cNvSpPr>
          <p:nvPr/>
        </p:nvSpPr>
        <p:spPr>
          <a:xfrm xmlns:a="http://schemas.openxmlformats.org/drawingml/2006/main">
            <a:off x="4733925" y="4067175"/>
            <a:ext cx="2762250" cy="895350"/>
          </a:xfrm>
          <a:prstGeom xmlns:a="http://schemas.openxmlformats.org/drawingml/2006/main" prst="roundRect">
            <a:avLst>
              <a:gd name="adj" fmla="val 8511"/>
            </a:avLst>
          </a:prstGeom>
          <a:solidFill xmlns:a="http://schemas.openxmlformats.org/drawingml/2006/main">
            <a:srgbClr val="152A38"/>
          </a:solidFill>
          <a:ln xmlns:a="http://schemas.openxmlformats.org/drawingml/2006/main" w="14288">
            <a:solidFill>
              <a:srgbClr val="294151"/>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500" b="1">
                <a:solidFill>
                  <a:srgbClr val="F4F8FB"/>
                </a:solidFill>
                <a:latin typeface="Avenir Next"/>
                <a:ea typeface="Avenir Next"/>
                <a:cs typeface="Avenir Next"/>
              </a:defRPr>
            </a:pPr>
            <a:r>
              <a:rPr sz="1500" b="1">
                <a:solidFill>
                  <a:srgbClr val="F4F8FB"/>
                </a:solidFill>
                <a:latin typeface="Avenir Next"/>
                <a:ea typeface="Avenir Next"/>
                <a:cs typeface="Avenir Next"/>
              </a:rPr>
              <a:t>AZURE</a:t>
            </a:r>
          </a:p>
          <a:p xmlns:a="http://schemas.openxmlformats.org/drawingml/2006/main">
            <a:pPr algn="ctr">
              <a:buNone/>
              <a:defRPr sz="1500" b="1">
                <a:solidFill>
                  <a:srgbClr val="F4F8FB"/>
                </a:solidFill>
                <a:latin typeface="Avenir Next"/>
                <a:ea typeface="Avenir Next"/>
                <a:cs typeface="Avenir Next"/>
              </a:defRPr>
            </a:pPr>
            <a:r>
              <a:rPr sz="1500" b="1">
                <a:solidFill>
                  <a:srgbClr val="F4F8FB"/>
                </a:solidFill>
                <a:latin typeface="Avenir Next"/>
                <a:ea typeface="Avenir Next"/>
                <a:cs typeface="Avenir Next"/>
              </a:rPr>
              <a:t>D32s v5</a:t>
            </a:r>
          </a:p>
          <a:p xmlns:a="http://schemas.openxmlformats.org/drawingml/2006/main">
            <a:pPr algn="ctr">
              <a:buNone/>
              <a:defRPr sz="1500" b="1">
                <a:solidFill>
                  <a:srgbClr val="F4F8FB"/>
                </a:solidFill>
                <a:latin typeface="Avenir Next"/>
                <a:ea typeface="Avenir Next"/>
                <a:cs typeface="Avenir Next"/>
              </a:defRPr>
            </a:pPr>
            <a:r>
              <a:rPr sz="1500" b="1">
                <a:solidFill>
                  <a:srgbClr val="F4F8FB"/>
                </a:solidFill>
                <a:latin typeface="Avenir Next"/>
                <a:ea typeface="Avenir Next"/>
                <a:cs typeface="Avenir Next"/>
              </a:rPr>
              <a:t>10-minute eight-input gate</a:t>
            </a:r>
          </a:p>
        </p:txBody>
      </p:sp>
      <p:sp>
        <p:nvSpPr>
          <p:cNvPr id="14" name="">
            <a:extLst xmlns:a="http://schemas.openxmlformats.org/drawingml/2006/main">
              <a:ext uri="{FF2B5EF4-FFF2-40B4-BE49-F238E27FC236}">
                <a16:creationId xmlns:a16="http://schemas.microsoft.com/office/drawing/2014/main" id="{DA7AB318-54AB-49B0-A120-B3E3F579AC6C}"/>
              </a:ext>
            </a:extLst>
          </p:cNvPr>
          <p:cNvSpPr>
            <a:spLocks xmlns:a="http://schemas.openxmlformats.org/drawingml/2006/main" noGrp="1"/>
          </p:cNvSpPr>
          <p:nvPr/>
        </p:nvSpPr>
        <p:spPr>
          <a:xfrm xmlns:a="http://schemas.openxmlformats.org/drawingml/2006/main">
            <a:off x="9067800" y="4067175"/>
            <a:ext cx="2381250" cy="895350"/>
          </a:xfrm>
          <a:prstGeom xmlns:a="http://schemas.openxmlformats.org/drawingml/2006/main" prst="roundRect">
            <a:avLst>
              <a:gd name="adj" fmla="val 8511"/>
            </a:avLst>
          </a:prstGeom>
          <a:solidFill xmlns:a="http://schemas.openxmlformats.org/drawingml/2006/main">
            <a:srgbClr val="2B1D23"/>
          </a:solidFill>
          <a:ln xmlns:a="http://schemas.openxmlformats.org/drawingml/2006/main" w="14288">
            <a:solidFill>
              <a:srgbClr val="70404A"/>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650" b="1">
                <a:solidFill>
                  <a:srgbClr val="F4F8FB"/>
                </a:solidFill>
                <a:latin typeface="Avenir Next"/>
                <a:ea typeface="Avenir Next"/>
                <a:cs typeface="Avenir Next"/>
              </a:defRPr>
            </a:pPr>
            <a:r>
              <a:rPr sz="1650" b="1">
                <a:solidFill>
                  <a:srgbClr val="F4F8FB"/>
                </a:solidFill>
                <a:latin typeface="Avenir Next"/>
                <a:ea typeface="Avenir Next"/>
                <a:cs typeface="Avenir Next"/>
              </a:rPr>
              <a:t>NEXT</a:t>
            </a:r>
          </a:p>
          <a:p xmlns:a="http://schemas.openxmlformats.org/drawingml/2006/main">
            <a:pPr algn="ctr">
              <a:buNone/>
              <a:defRPr sz="1650" b="1">
                <a:solidFill>
                  <a:srgbClr val="F4F8FB"/>
                </a:solidFill>
                <a:latin typeface="Avenir Next"/>
                <a:ea typeface="Avenir Next"/>
                <a:cs typeface="Avenir Next"/>
              </a:defRPr>
            </a:pPr>
            <a:r>
              <a:rPr sz="1650" b="1">
                <a:solidFill>
                  <a:srgbClr val="F4F8FB"/>
                </a:solidFill>
                <a:latin typeface="Avenir Next"/>
                <a:ea typeface="Avenir Next"/>
                <a:cs typeface="Avenir Next"/>
              </a:rPr>
              <a:t>Right-size CPU profiles</a:t>
            </a:r>
          </a:p>
          <a:p xmlns:a="http://schemas.openxmlformats.org/drawingml/2006/main">
            <a:pPr algn="ctr">
              <a:buNone/>
              <a:defRPr sz="1650" b="1">
                <a:solidFill>
                  <a:srgbClr val="F4F8FB"/>
                </a:solidFill>
                <a:latin typeface="Avenir Next"/>
                <a:ea typeface="Avenir Next"/>
                <a:cs typeface="Avenir Next"/>
              </a:defRPr>
            </a:pPr>
            <a:r>
              <a:rPr sz="1650" b="1">
                <a:solidFill>
                  <a:srgbClr val="F4F8FB"/>
                </a:solidFill>
                <a:latin typeface="Avenir Next"/>
                <a:ea typeface="Avenir Next"/>
                <a:cs typeface="Avenir Next"/>
              </a:rPr>
              <a:t>Add real output functions</a:t>
            </a:r>
          </a:p>
        </p:txBody>
      </p:sp>
      <p:cxnSp>
        <p:nvCxnSpPr>
          <p:cNvPr id="82" name="">
            <a:extLst xmlns:a="http://schemas.openxmlformats.org/drawingml/2006/main">
              <a:ext uri="{FF2B5EF4-FFF2-40B4-BE49-F238E27FC236}">
                <a16:creationId xmlns:a16="http://schemas.microsoft.com/office/drawing/2014/main" id="{6DE44EFB-E522-4233-8A63-483B0CF45D44}"/>
              </a:ext>
            </a:extLst>
          </p:cNvPr>
          <p:cNvCxnSpPr>
            <a:stCxn xmlns:a="http://schemas.openxmlformats.org/drawingml/2006/main" id="12" idx="3"/>
            <a:endCxn xmlns:a="http://schemas.openxmlformats.org/drawingml/2006/main" id="13" idx="1"/>
          </p:cNvCxnSpPr>
          <p:nvPr/>
        </p:nvCxnSpPr>
        <p:spPr>
          <a:xfrm xmlns:a="http://schemas.openxmlformats.org/drawingml/2006/main">
            <a:off x="3181350" y="4514850"/>
            <a:ext cx="1552575" cy="0"/>
          </a:xfrm>
          <a:prstGeom xmlns:a="http://schemas.openxmlformats.org/drawingml/2006/main" prst="straightConnector1">
            <a:avLst/>
          </a:prstGeom>
          <a:ln xmlns:a="http://schemas.openxmlformats.org/drawingml/2006/main" w="20955">
            <a:solidFill>
              <a:srgbClr val="48C7FF"/>
            </a:solidFill>
            <a:prstDash val="solid"/>
            <a:headEnd type="none" w="med" len="med"/>
            <a:tailEnd type="triangle" w="sm" len="sm"/>
          </a:ln>
        </p:spPr>
      </p:cxnSp>
      <p:cxnSp>
        <p:nvCxnSpPr>
          <p:cNvPr id="83" name="">
            <a:extLst xmlns:a="http://schemas.openxmlformats.org/drawingml/2006/main">
              <a:ext uri="{FF2B5EF4-FFF2-40B4-BE49-F238E27FC236}">
                <a16:creationId xmlns:a16="http://schemas.microsoft.com/office/drawing/2014/main" id="{EC9EECE5-F1C5-4692-9A35-605E109D60B2}"/>
              </a:ext>
            </a:extLst>
          </p:cNvPr>
          <p:cNvCxnSpPr>
            <a:stCxn xmlns:a="http://schemas.openxmlformats.org/drawingml/2006/main" id="13" idx="3"/>
            <a:endCxn xmlns:a="http://schemas.openxmlformats.org/drawingml/2006/main" id="14" idx="1"/>
          </p:cNvCxnSpPr>
          <p:nvPr/>
        </p:nvCxnSpPr>
        <p:spPr>
          <a:xfrm xmlns:a="http://schemas.openxmlformats.org/drawingml/2006/main">
            <a:off x="7496175" y="4514850"/>
            <a:ext cx="1571625" cy="0"/>
          </a:xfrm>
          <a:prstGeom xmlns:a="http://schemas.openxmlformats.org/drawingml/2006/main" prst="straightConnector1">
            <a:avLst/>
          </a:prstGeom>
          <a:ln xmlns:a="http://schemas.openxmlformats.org/drawingml/2006/main" w="20955">
            <a:solidFill>
              <a:srgbClr val="FFB85C"/>
            </a:solidFill>
            <a:prstDash val="solid"/>
            <a:headEnd type="none" w="med" len="med"/>
            <a:tailEnd type="triangle" w="sm" len="sm"/>
          </a:ln>
        </p:spPr>
      </p:cxnSp>
      <p:sp>
        <p:nvSpPr>
          <p:cNvPr id="17" name="">
            <a:extLst xmlns:a="http://schemas.openxmlformats.org/drawingml/2006/main">
              <a:ext uri="{FF2B5EF4-FFF2-40B4-BE49-F238E27FC236}">
                <a16:creationId xmlns:a16="http://schemas.microsoft.com/office/drawing/2014/main" id="{7667F601-6754-4B9F-9B4F-BF602EFF0F54}"/>
              </a:ext>
            </a:extLst>
          </p:cNvPr>
          <p:cNvSpPr>
            <a:spLocks xmlns:a="http://schemas.openxmlformats.org/drawingml/2006/main" noGrp="1"/>
          </p:cNvSpPr>
          <p:nvPr/>
        </p:nvSpPr>
        <p:spPr>
          <a:xfrm xmlns:a="http://schemas.openxmlformats.org/drawingml/2006/main">
            <a:off x="1066800" y="5448300"/>
            <a:ext cx="1005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2025" b="1">
                <a:solidFill>
                  <a:srgbClr val="F4F8FB"/>
                </a:solidFill>
                <a:latin typeface="Avenir Next"/>
                <a:ea typeface="Avenir Next"/>
                <a:cs typeface="Avenir Next"/>
              </a:defRPr>
            </a:pPr>
            <a:r>
              <a:rPr sz="2025" b="1">
                <a:solidFill>
                  <a:srgbClr val="F4F8FB"/>
                </a:solidFill>
                <a:latin typeface="Avenir Next"/>
                <a:ea typeface="Avenir Next"/>
                <a:cs typeface="Avenir Next"/>
              </a:rPr>
              <a:t>The result supports the architecture. The next proof must compare equivalent complete workflows, including multiview and encoded egress.</a:t>
            </a:r>
          </a:p>
        </p:txBody>
      </p:sp>
      <p:sp>
        <p:nvSpPr>
          <p:cNvPr id="18" name="">
            <a:extLst xmlns:a="http://schemas.openxmlformats.org/drawingml/2006/main">
              <a:ext uri="{FF2B5EF4-FFF2-40B4-BE49-F238E27FC236}">
                <a16:creationId xmlns:a16="http://schemas.microsoft.com/office/drawing/2014/main" id="{4E6876DB-B5E0-4E92-BFDE-49D18661BB14}"/>
              </a:ext>
            </a:extLst>
          </p:cNvPr>
          <p:cNvSpPr>
            <a:spLocks xmlns:a="http://schemas.openxmlformats.org/drawingml/2006/main" noGrp="1"/>
          </p:cNvSpPr>
          <p:nvPr/>
        </p:nvSpPr>
        <p:spPr>
          <a:xfrm xmlns:a="http://schemas.openxmlformats.org/drawingml/2006/main">
            <a:off x="609600" y="64674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Measured capacity · not yet a cloud-cost benchmark</a:t>
            </a:r>
          </a:p>
        </p:txBody>
      </p:sp>
      <p:sp>
        <p:nvSpPr>
          <p:cNvPr id="19" name="">
            <a:extLst xmlns:a="http://schemas.openxmlformats.org/drawingml/2006/main">
              <a:ext uri="{FF2B5EF4-FFF2-40B4-BE49-F238E27FC236}">
                <a16:creationId xmlns:a16="http://schemas.microsoft.com/office/drawing/2014/main" id="{7EF78FED-B705-4BA9-96CF-CCB970050279}"/>
              </a:ext>
            </a:extLst>
          </p:cNvPr>
          <p:cNvSpPr>
            <a:spLocks xmlns:a="http://schemas.openxmlformats.org/drawingml/2006/main" noGrp="1"/>
          </p:cNvSpPr>
          <p:nvPr/>
        </p:nvSpPr>
        <p:spPr>
          <a:xfrm xmlns:a="http://schemas.openxmlformats.org/drawingml/2006/main">
            <a:off x="11239500" y="6467475"/>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r">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16</a:t>
            </a:r>
          </a:p>
        </p:txBody>
      </p:sp>
    </p:spTree>
    <p:extLst>
      <p:ext uri="{BB962C8B-B14F-4D97-AF65-F5344CB8AC3E}">
        <p14:creationId xmlns:p14="http://schemas.microsoft.com/office/powerpoint/2010/main" val="768762175"/>
      </p:ext>
    </p:extLst>
  </p:cSld>
</p:sld>
</file>

<file path=ppt/slides/slide17.xml><?xml version="1.0" encoding="utf-8"?>
<p:sld xmlns:p="http://schemas.openxmlformats.org/presentationml/2006/main">
  <p:cSld>
    <p:bg>
      <p:bgPr>
        <a:solidFill xmlns:a="http://schemas.openxmlformats.org/drawingml/2006/main">
          <a:srgbClr val="0C172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000DE67-172E-426C-A5CD-674618EC30FA}"/>
              </a:ext>
            </a:extLst>
          </p:cNvPr>
          <p:cNvSpPr>
            <a:spLocks xmlns:a="http://schemas.openxmlformats.org/drawingml/2006/main" noGrp="1"/>
          </p:cNvSpPr>
          <p:nvPr/>
        </p:nvSpPr>
        <p:spPr>
          <a:xfrm xmlns:a="http://schemas.openxmlformats.org/drawingml/2006/main">
            <a:off x="609600" y="361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3150" b="1">
                <a:solidFill>
                  <a:srgbClr val="F4F8FB"/>
                </a:solidFill>
                <a:latin typeface="Avenir Next"/>
                <a:ea typeface="Avenir Next"/>
                <a:cs typeface="Avenir Next"/>
              </a:defRPr>
            </a:pPr>
            <a:r>
              <a:rPr sz="3150" b="1">
                <a:solidFill>
                  <a:srgbClr val="F4F8FB"/>
                </a:solidFill>
                <a:latin typeface="Avenir Next"/>
                <a:ea typeface="Avenir Next"/>
                <a:cs typeface="Avenir Next"/>
              </a:rPr>
              <a:t>A practical Supermicro upgrade path</a:t>
            </a:r>
          </a:p>
        </p:txBody>
      </p:sp>
      <p:sp>
        <p:nvSpPr>
          <p:cNvPr id="2" name="">
            <a:extLst xmlns:a="http://schemas.openxmlformats.org/drawingml/2006/main">
              <a:ext uri="{FF2B5EF4-FFF2-40B4-BE49-F238E27FC236}">
                <a16:creationId xmlns:a16="http://schemas.microsoft.com/office/drawing/2014/main" id="{1D04C1D7-8103-4034-84C5-9E1C096F31D8}"/>
              </a:ext>
            </a:extLst>
          </p:cNvPr>
          <p:cNvSpPr>
            <a:spLocks xmlns:a="http://schemas.openxmlformats.org/drawingml/2006/main" noGrp="1"/>
          </p:cNvSpPr>
          <p:nvPr/>
        </p:nvSpPr>
        <p:spPr>
          <a:xfrm xmlns:a="http://schemas.openxmlformats.org/drawingml/2006/main">
            <a:off x="628650" y="9525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00" b="0">
                <a:solidFill>
                  <a:srgbClr val="A9BAC8"/>
                </a:solidFill>
                <a:latin typeface="Avenir Next"/>
                <a:ea typeface="Avenir Next"/>
                <a:cs typeface="Avenir Next"/>
              </a:defRPr>
            </a:pPr>
            <a:r>
              <a:rPr sz="1500" b="0">
                <a:solidFill>
                  <a:srgbClr val="A9BAC8"/>
                </a:solidFill>
                <a:latin typeface="Avenir Next"/>
                <a:ea typeface="Avenir Next"/>
                <a:cs typeface="Avenir Next"/>
              </a:rPr>
              <a:t>The dual-socket platform may reach 40 physical cores, but board, BIOS, power, and cooling checks come first</a:t>
            </a:r>
          </a:p>
        </p:txBody>
      </p:sp>
      <p:sp>
        <p:nvSpPr>
          <p:cNvPr id="3" name="">
            <a:extLst xmlns:a="http://schemas.openxmlformats.org/drawingml/2006/main">
              <a:ext uri="{FF2B5EF4-FFF2-40B4-BE49-F238E27FC236}">
                <a16:creationId xmlns:a16="http://schemas.microsoft.com/office/drawing/2014/main" id="{275068B8-8AD3-4C8D-9C8F-8F7CE7387BDE}"/>
              </a:ext>
            </a:extLst>
          </p:cNvPr>
          <p:cNvSpPr>
            <a:spLocks xmlns:a="http://schemas.openxmlformats.org/drawingml/2006/main" noGrp="1"/>
          </p:cNvSpPr>
          <p:nvPr/>
        </p:nvSpPr>
        <p:spPr>
          <a:xfrm xmlns:a="http://schemas.openxmlformats.org/drawingml/2006/main">
            <a:off x="609600" y="1362075"/>
            <a:ext cx="819150" cy="38100"/>
          </a:xfrm>
          <a:prstGeom xmlns:a="http://schemas.openxmlformats.org/drawingml/2006/main" prst="rect">
            <a:avLst/>
          </a:prstGeom>
          <a:solidFill xmlns:a="http://schemas.openxmlformats.org/drawingml/2006/main">
            <a:srgbClr val="36D4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A434F7C-6FCA-4F06-B25A-68F536894C50}"/>
              </a:ext>
            </a:extLst>
          </p:cNvPr>
          <p:cNvSpPr>
            <a:spLocks xmlns:a="http://schemas.openxmlformats.org/drawingml/2006/main" noGrp="1"/>
          </p:cNvSpPr>
          <p:nvPr/>
        </p:nvSpPr>
        <p:spPr>
          <a:xfrm xmlns:a="http://schemas.openxmlformats.org/drawingml/2006/main">
            <a:off x="704850" y="16954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125" b="1">
                <a:solidFill>
                  <a:srgbClr val="48C7FF"/>
                </a:solidFill>
                <a:latin typeface="Avenir Next"/>
                <a:ea typeface="Avenir Next"/>
                <a:cs typeface="Avenir Next"/>
              </a:defRPr>
            </a:pPr>
            <a:r>
              <a:rPr sz="1125" b="1">
                <a:solidFill>
                  <a:srgbClr val="48C7FF"/>
                </a:solidFill>
                <a:latin typeface="Avenir Next"/>
                <a:ea typeface="Avenir Next"/>
                <a:cs typeface="Avenir Next"/>
              </a:rPr>
              <a:t>CURRENT</a:t>
            </a:r>
          </a:p>
        </p:txBody>
      </p:sp>
      <p:sp>
        <p:nvSpPr>
          <p:cNvPr id="5" name="">
            <a:extLst xmlns:a="http://schemas.openxmlformats.org/drawingml/2006/main">
              <a:ext uri="{FF2B5EF4-FFF2-40B4-BE49-F238E27FC236}">
                <a16:creationId xmlns:a16="http://schemas.microsoft.com/office/drawing/2014/main" id="{1356E6D5-6A0C-46A9-B086-A6938471A925}"/>
              </a:ext>
            </a:extLst>
          </p:cNvPr>
          <p:cNvSpPr>
            <a:spLocks xmlns:a="http://schemas.openxmlformats.org/drawingml/2006/main" noGrp="1"/>
          </p:cNvSpPr>
          <p:nvPr/>
        </p:nvSpPr>
        <p:spPr>
          <a:xfrm xmlns:a="http://schemas.openxmlformats.org/drawingml/2006/main">
            <a:off x="704850" y="200025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2100" b="1">
                <a:solidFill>
                  <a:srgbClr val="F4F8FB"/>
                </a:solidFill>
                <a:latin typeface="Avenir Next"/>
                <a:ea typeface="Avenir Next"/>
                <a:cs typeface="Avenir Next"/>
              </a:defRPr>
            </a:pPr>
            <a:r>
              <a:rPr sz="2100" b="1">
                <a:solidFill>
                  <a:srgbClr val="F4F8FB"/>
                </a:solidFill>
                <a:latin typeface="Avenir Next"/>
                <a:ea typeface="Avenir Next"/>
                <a:cs typeface="Avenir Next"/>
              </a:rPr>
              <a:t>Two E5-2630L v3 CPUs</a:t>
            </a:r>
          </a:p>
        </p:txBody>
      </p:sp>
      <p:sp>
        <p:nvSpPr>
          <p:cNvPr id="6" name="">
            <a:extLst xmlns:a="http://schemas.openxmlformats.org/drawingml/2006/main">
              <a:ext uri="{FF2B5EF4-FFF2-40B4-BE49-F238E27FC236}">
                <a16:creationId xmlns:a16="http://schemas.microsoft.com/office/drawing/2014/main" id="{977EEC58-F01A-4692-AACC-43210CA9283B}"/>
              </a:ext>
            </a:extLst>
          </p:cNvPr>
          <p:cNvSpPr>
            <a:spLocks xmlns:a="http://schemas.openxmlformats.org/drawingml/2006/main" noGrp="1"/>
          </p:cNvSpPr>
          <p:nvPr/>
        </p:nvSpPr>
        <p:spPr>
          <a:xfrm xmlns:a="http://schemas.openxmlformats.org/drawingml/2006/main">
            <a:off x="704850" y="2505075"/>
            <a:ext cx="2857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16 cores and 32 threads</a:t>
            </a:r>
          </a:p>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1.80 GHz base, 2.90 GHz turbo</a:t>
            </a:r>
          </a:p>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55 W per socket</a:t>
            </a:r>
          </a:p>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Known working baseline</a:t>
            </a:r>
          </a:p>
        </p:txBody>
      </p:sp>
      <p:sp>
        <p:nvSpPr>
          <p:cNvPr id="7" name="">
            <a:extLst xmlns:a="http://schemas.openxmlformats.org/drawingml/2006/main">
              <a:ext uri="{FF2B5EF4-FFF2-40B4-BE49-F238E27FC236}">
                <a16:creationId xmlns:a16="http://schemas.microsoft.com/office/drawing/2014/main" id="{65EB7085-F0F9-42FD-82C6-C2860731BB89}"/>
              </a:ext>
            </a:extLst>
          </p:cNvPr>
          <p:cNvSpPr>
            <a:spLocks xmlns:a="http://schemas.openxmlformats.org/drawingml/2006/main" noGrp="1"/>
          </p:cNvSpPr>
          <p:nvPr/>
        </p:nvSpPr>
        <p:spPr>
          <a:xfrm xmlns:a="http://schemas.openxmlformats.org/drawingml/2006/main">
            <a:off x="3876675" y="1695450"/>
            <a:ext cx="14288" cy="3143250"/>
          </a:xfrm>
          <a:prstGeom xmlns:a="http://schemas.openxmlformats.org/drawingml/2006/main" prst="rect">
            <a:avLst/>
          </a:prstGeom>
          <a:solidFill xmlns:a="http://schemas.openxmlformats.org/drawingml/2006/main">
            <a:srgbClr val="29415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3BA1084-B729-458B-B3D1-B0915188F9FE}"/>
              </a:ext>
            </a:extLst>
          </p:cNvPr>
          <p:cNvSpPr>
            <a:spLocks xmlns:a="http://schemas.openxmlformats.org/drawingml/2006/main" noGrp="1"/>
          </p:cNvSpPr>
          <p:nvPr/>
        </p:nvSpPr>
        <p:spPr>
          <a:xfrm xmlns:a="http://schemas.openxmlformats.org/drawingml/2006/main">
            <a:off x="4286250" y="16954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125" b="1">
                <a:solidFill>
                  <a:srgbClr val="36D4C5"/>
                </a:solidFill>
                <a:latin typeface="Avenir Next"/>
                <a:ea typeface="Avenir Next"/>
                <a:cs typeface="Avenir Next"/>
              </a:defRPr>
            </a:pPr>
            <a:r>
              <a:rPr sz="1125" b="1">
                <a:solidFill>
                  <a:srgbClr val="36D4C5"/>
                </a:solidFill>
                <a:latin typeface="Avenir Next"/>
                <a:ea typeface="Avenir Next"/>
                <a:cs typeface="Avenir Next"/>
              </a:rPr>
              <a:t>CANDIDATE</a:t>
            </a:r>
          </a:p>
        </p:txBody>
      </p:sp>
      <p:sp>
        <p:nvSpPr>
          <p:cNvPr id="9" name="">
            <a:extLst xmlns:a="http://schemas.openxmlformats.org/drawingml/2006/main">
              <a:ext uri="{FF2B5EF4-FFF2-40B4-BE49-F238E27FC236}">
                <a16:creationId xmlns:a16="http://schemas.microsoft.com/office/drawing/2014/main" id="{E0BA7037-72CD-4B61-B01E-AD1C2725BE0A}"/>
              </a:ext>
            </a:extLst>
          </p:cNvPr>
          <p:cNvSpPr>
            <a:spLocks xmlns:a="http://schemas.openxmlformats.org/drawingml/2006/main" noGrp="1"/>
          </p:cNvSpPr>
          <p:nvPr/>
        </p:nvSpPr>
        <p:spPr>
          <a:xfrm xmlns:a="http://schemas.openxmlformats.org/drawingml/2006/main">
            <a:off x="4286250" y="200025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2100" b="1">
                <a:solidFill>
                  <a:srgbClr val="F4F8FB"/>
                </a:solidFill>
                <a:latin typeface="Avenir Next"/>
                <a:ea typeface="Avenir Next"/>
                <a:cs typeface="Avenir Next"/>
              </a:defRPr>
            </a:pPr>
            <a:r>
              <a:rPr sz="2100" b="1">
                <a:solidFill>
                  <a:srgbClr val="F4F8FB"/>
                </a:solidFill>
                <a:latin typeface="Avenir Next"/>
                <a:ea typeface="Avenir Next"/>
                <a:cs typeface="Avenir Next"/>
              </a:rPr>
              <a:t>Two E5-2698 v4 CPUs</a:t>
            </a:r>
          </a:p>
        </p:txBody>
      </p:sp>
      <p:sp>
        <p:nvSpPr>
          <p:cNvPr id="10" name="">
            <a:extLst xmlns:a="http://schemas.openxmlformats.org/drawingml/2006/main">
              <a:ext uri="{FF2B5EF4-FFF2-40B4-BE49-F238E27FC236}">
                <a16:creationId xmlns:a16="http://schemas.microsoft.com/office/drawing/2014/main" id="{B0F14030-16B0-4008-B736-5E747AEFF10B}"/>
              </a:ext>
            </a:extLst>
          </p:cNvPr>
          <p:cNvSpPr>
            <a:spLocks xmlns:a="http://schemas.openxmlformats.org/drawingml/2006/main" noGrp="1"/>
          </p:cNvSpPr>
          <p:nvPr/>
        </p:nvSpPr>
        <p:spPr>
          <a:xfrm xmlns:a="http://schemas.openxmlformats.org/drawingml/2006/main">
            <a:off x="4286250" y="2505075"/>
            <a:ext cx="3095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40 cores and 80 threads</a:t>
            </a:r>
          </a:p>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2.20 GHz base, 3.60 GHz turbo</a:t>
            </a:r>
          </a:p>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135 W per socket</a:t>
            </a:r>
          </a:p>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Same dual-socket processor family</a:t>
            </a:r>
          </a:p>
        </p:txBody>
      </p:sp>
      <p:sp>
        <p:nvSpPr>
          <p:cNvPr id="11" name="">
            <a:extLst xmlns:a="http://schemas.openxmlformats.org/drawingml/2006/main">
              <a:ext uri="{FF2B5EF4-FFF2-40B4-BE49-F238E27FC236}">
                <a16:creationId xmlns:a16="http://schemas.microsoft.com/office/drawing/2014/main" id="{CE12C0EF-85D2-4CD1-81BD-44B8058A19E8}"/>
              </a:ext>
            </a:extLst>
          </p:cNvPr>
          <p:cNvSpPr>
            <a:spLocks xmlns:a="http://schemas.openxmlformats.org/drawingml/2006/main" noGrp="1"/>
          </p:cNvSpPr>
          <p:nvPr/>
        </p:nvSpPr>
        <p:spPr>
          <a:xfrm xmlns:a="http://schemas.openxmlformats.org/drawingml/2006/main">
            <a:off x="7743825" y="1695450"/>
            <a:ext cx="14288" cy="3143250"/>
          </a:xfrm>
          <a:prstGeom xmlns:a="http://schemas.openxmlformats.org/drawingml/2006/main" prst="rect">
            <a:avLst/>
          </a:prstGeom>
          <a:solidFill xmlns:a="http://schemas.openxmlformats.org/drawingml/2006/main">
            <a:srgbClr val="29415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53675C0-158B-4CEB-A083-8A2EA20CA3B6}"/>
              </a:ext>
            </a:extLst>
          </p:cNvPr>
          <p:cNvSpPr>
            <a:spLocks xmlns:a="http://schemas.openxmlformats.org/drawingml/2006/main" noGrp="1"/>
          </p:cNvSpPr>
          <p:nvPr/>
        </p:nvSpPr>
        <p:spPr>
          <a:xfrm xmlns:a="http://schemas.openxmlformats.org/drawingml/2006/main">
            <a:off x="8153400" y="16954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125" b="1">
                <a:solidFill>
                  <a:srgbClr val="FFB85C"/>
                </a:solidFill>
                <a:latin typeface="Avenir Next"/>
                <a:ea typeface="Avenir Next"/>
                <a:cs typeface="Avenir Next"/>
              </a:defRPr>
            </a:pPr>
            <a:r>
              <a:rPr sz="1125" b="1">
                <a:solidFill>
                  <a:srgbClr val="FFB85C"/>
                </a:solidFill>
                <a:latin typeface="Avenir Next"/>
                <a:ea typeface="Avenir Next"/>
                <a:cs typeface="Avenir Next"/>
              </a:rPr>
              <a:t>GO OR NO-GO</a:t>
            </a:r>
          </a:p>
        </p:txBody>
      </p:sp>
      <p:sp>
        <p:nvSpPr>
          <p:cNvPr id="13" name="">
            <a:extLst xmlns:a="http://schemas.openxmlformats.org/drawingml/2006/main">
              <a:ext uri="{FF2B5EF4-FFF2-40B4-BE49-F238E27FC236}">
                <a16:creationId xmlns:a16="http://schemas.microsoft.com/office/drawing/2014/main" id="{0421BC06-4A1C-4AE6-A4DE-ECEDCC43BA4E}"/>
              </a:ext>
            </a:extLst>
          </p:cNvPr>
          <p:cNvSpPr>
            <a:spLocks xmlns:a="http://schemas.openxmlformats.org/drawingml/2006/main" noGrp="1"/>
          </p:cNvSpPr>
          <p:nvPr/>
        </p:nvSpPr>
        <p:spPr>
          <a:xfrm xmlns:a="http://schemas.openxmlformats.org/drawingml/2006/main">
            <a:off x="8153400" y="200025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2100" b="1">
                <a:solidFill>
                  <a:srgbClr val="F4F8FB"/>
                </a:solidFill>
                <a:latin typeface="Avenir Next"/>
                <a:ea typeface="Avenir Next"/>
                <a:cs typeface="Avenir Next"/>
              </a:defRPr>
            </a:pPr>
            <a:r>
              <a:rPr sz="2100" b="1">
                <a:solidFill>
                  <a:srgbClr val="F4F8FB"/>
                </a:solidFill>
                <a:latin typeface="Avenir Next"/>
                <a:ea typeface="Avenir Next"/>
                <a:cs typeface="Avenir Next"/>
              </a:rPr>
              <a:t>Verify the chassis</a:t>
            </a:r>
          </a:p>
        </p:txBody>
      </p:sp>
      <p:sp>
        <p:nvSpPr>
          <p:cNvPr id="14" name="">
            <a:extLst xmlns:a="http://schemas.openxmlformats.org/drawingml/2006/main">
              <a:ext uri="{FF2B5EF4-FFF2-40B4-BE49-F238E27FC236}">
                <a16:creationId xmlns:a16="http://schemas.microsoft.com/office/drawing/2014/main" id="{F482AF03-7DB3-43DD-BAF4-C72C22EB70E0}"/>
              </a:ext>
            </a:extLst>
          </p:cNvPr>
          <p:cNvSpPr>
            <a:spLocks xmlns:a="http://schemas.openxmlformats.org/drawingml/2006/main" noGrp="1"/>
          </p:cNvSpPr>
          <p:nvPr/>
        </p:nvSpPr>
        <p:spPr>
          <a:xfrm xmlns:a="http://schemas.openxmlformats.org/drawingml/2006/main">
            <a:off x="8153400" y="2505075"/>
            <a:ext cx="3143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Exact motherboard model</a:t>
            </a:r>
          </a:p>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Current BIOS and v4 CPU support</a:t>
            </a:r>
          </a:p>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Heatsinks, airflow, and PSU margin</a:t>
            </a:r>
          </a:p>
          <a:p xmlns:a="http://schemas.openxmlformats.org/drawingml/2006/main">
            <a:pPr algn="l">
              <a:buNone/>
              <a:defRPr sz="1575" b="0">
                <a:solidFill>
                  <a:srgbClr val="A9BAC8"/>
                </a:solidFill>
                <a:latin typeface="Avenir Next"/>
                <a:ea typeface="Avenir Next"/>
                <a:cs typeface="Avenir Next"/>
              </a:defRPr>
            </a:pPr>
            <a:r>
              <a:rPr sz="1575" b="0">
                <a:solidFill>
                  <a:srgbClr val="A9BAC8"/>
                </a:solidFill>
                <a:latin typeface="Avenir Next"/>
                <a:ea typeface="Avenir Next"/>
                <a:cs typeface="Avenir Next"/>
              </a:rPr>
              <a:t>Then repeat four- and eight-output gates</a:t>
            </a:r>
          </a:p>
        </p:txBody>
      </p:sp>
      <p:sp>
        <p:nvSpPr>
          <p:cNvPr id="15" name="">
            <a:extLst xmlns:a="http://schemas.openxmlformats.org/drawingml/2006/main">
              <a:ext uri="{FF2B5EF4-FFF2-40B4-BE49-F238E27FC236}">
                <a16:creationId xmlns:a16="http://schemas.microsoft.com/office/drawing/2014/main" id="{C5F06C74-E356-4ABE-8E9A-A47EA3E89155}"/>
              </a:ext>
            </a:extLst>
          </p:cNvPr>
          <p:cNvSpPr>
            <a:spLocks xmlns:a="http://schemas.openxmlformats.org/drawingml/2006/main" noGrp="1"/>
          </p:cNvSpPr>
          <p:nvPr/>
        </p:nvSpPr>
        <p:spPr>
          <a:xfrm xmlns:a="http://schemas.openxmlformats.org/drawingml/2006/main">
            <a:off x="685800" y="5086350"/>
            <a:ext cx="10839450" cy="781050"/>
          </a:xfrm>
          <a:prstGeom xmlns:a="http://schemas.openxmlformats.org/drawingml/2006/main" prst="roundRect">
            <a:avLst>
              <a:gd name="adj" fmla="val 9756"/>
            </a:avLst>
          </a:prstGeom>
          <a:solidFill xmlns:a="http://schemas.openxmlformats.org/drawingml/2006/main">
            <a:srgbClr val="10242F"/>
          </a:solidFill>
          <a:ln xmlns:a="http://schemas.openxmlformats.org/drawingml/2006/main" w="14288">
            <a:solidFill>
              <a:srgbClr val="36D4C5"/>
            </a:solidFill>
          </a:ln>
        </p:spPr>
      </p:sp>
      <p:sp>
        <p:nvSpPr>
          <p:cNvPr id="16" name="">
            <a:extLst xmlns:a="http://schemas.openxmlformats.org/drawingml/2006/main">
              <a:ext uri="{FF2B5EF4-FFF2-40B4-BE49-F238E27FC236}">
                <a16:creationId xmlns:a16="http://schemas.microsoft.com/office/drawing/2014/main" id="{C96E183B-6A14-464C-A1DA-69D3FC641D6C}"/>
              </a:ext>
            </a:extLst>
          </p:cNvPr>
          <p:cNvSpPr>
            <a:spLocks xmlns:a="http://schemas.openxmlformats.org/drawingml/2006/main" noGrp="1"/>
          </p:cNvSpPr>
          <p:nvPr/>
        </p:nvSpPr>
        <p:spPr>
          <a:xfrm xmlns:a="http://schemas.openxmlformats.org/drawingml/2006/main">
            <a:off x="914400" y="5181600"/>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650" b="1">
                <a:solidFill>
                  <a:srgbClr val="F4F8FB"/>
                </a:solidFill>
                <a:latin typeface="Avenir Next"/>
                <a:ea typeface="Avenir Next"/>
                <a:cs typeface="Avenir Next"/>
              </a:defRPr>
            </a:pPr>
            <a:r>
              <a:rPr sz="1650" b="1">
                <a:solidFill>
                  <a:srgbClr val="F4F8FB"/>
                </a:solidFill>
                <a:latin typeface="Avenir Next"/>
                <a:ea typeface="Avenir Next"/>
                <a:cs typeface="Avenir Next"/>
              </a:rPr>
              <a:t>Likely useful as a low-cost lab upgrade. Newer CPUs may still win when a workload depends on a few fast threads rather than total core count.</a:t>
            </a:r>
          </a:p>
        </p:txBody>
      </p:sp>
      <p:sp>
        <p:nvSpPr>
          <p:cNvPr id="17" name="">
            <a:extLst xmlns:a="http://schemas.openxmlformats.org/drawingml/2006/main">
              <a:ext uri="{FF2B5EF4-FFF2-40B4-BE49-F238E27FC236}">
                <a16:creationId xmlns:a16="http://schemas.microsoft.com/office/drawing/2014/main" id="{BA78E9C9-1BEF-47A1-8F95-58F70BD5A944}"/>
              </a:ext>
            </a:extLst>
          </p:cNvPr>
          <p:cNvSpPr>
            <a:spLocks xmlns:a="http://schemas.openxmlformats.org/drawingml/2006/main" noGrp="1"/>
          </p:cNvSpPr>
          <p:nvPr/>
        </p:nvSpPr>
        <p:spPr>
          <a:xfrm xmlns:a="http://schemas.openxmlformats.org/drawingml/2006/main">
            <a:off x="609600" y="64674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Conditional hardware recommendation</a:t>
            </a:r>
          </a:p>
        </p:txBody>
      </p:sp>
      <p:sp>
        <p:nvSpPr>
          <p:cNvPr id="18" name="">
            <a:extLst xmlns:a="http://schemas.openxmlformats.org/drawingml/2006/main">
              <a:ext uri="{FF2B5EF4-FFF2-40B4-BE49-F238E27FC236}">
                <a16:creationId xmlns:a16="http://schemas.microsoft.com/office/drawing/2014/main" id="{05AE2082-000E-4123-9EF9-13D104601863}"/>
              </a:ext>
            </a:extLst>
          </p:cNvPr>
          <p:cNvSpPr>
            <a:spLocks xmlns:a="http://schemas.openxmlformats.org/drawingml/2006/main" noGrp="1"/>
          </p:cNvSpPr>
          <p:nvPr/>
        </p:nvSpPr>
        <p:spPr>
          <a:xfrm xmlns:a="http://schemas.openxmlformats.org/drawingml/2006/main">
            <a:off x="11239500" y="6467475"/>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r">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17</a:t>
            </a:r>
          </a:p>
        </p:txBody>
      </p:sp>
    </p:spTree>
    <p:extLst>
      <p:ext uri="{BB962C8B-B14F-4D97-AF65-F5344CB8AC3E}">
        <p14:creationId xmlns:p14="http://schemas.microsoft.com/office/powerpoint/2010/main" val="1800819727"/>
      </p:ext>
    </p:extLst>
  </p:cSld>
</p:sld>
</file>

<file path=ppt/slides/slide18.xml><?xml version="1.0" encoding="utf-8"?>
<p:sld xmlns:p="http://schemas.openxmlformats.org/presentationml/2006/main">
  <p:cSld>
    <p:bg>
      <p:bgPr>
        <a:solidFill xmlns:a="http://schemas.openxmlformats.org/drawingml/2006/main">
          <a:srgbClr val="07101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F2912A8-26F9-400D-9901-4A959B5A37C6}"/>
              </a:ext>
            </a:extLst>
          </p:cNvPr>
          <p:cNvSpPr>
            <a:spLocks xmlns:a="http://schemas.openxmlformats.org/drawingml/2006/main" noGrp="1"/>
          </p:cNvSpPr>
          <p:nvPr/>
        </p:nvSpPr>
        <p:spPr>
          <a:xfrm xmlns:a="http://schemas.openxmlformats.org/drawingml/2006/main">
            <a:off x="609600" y="361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3150" b="1">
                <a:solidFill>
                  <a:srgbClr val="F4F8FB"/>
                </a:solidFill>
                <a:latin typeface="Avenir Next"/>
                <a:ea typeface="Avenir Next"/>
                <a:cs typeface="Avenir Next"/>
              </a:defRPr>
            </a:pPr>
            <a:r>
              <a:rPr sz="3150" b="1">
                <a:solidFill>
                  <a:srgbClr val="F4F8FB"/>
                </a:solidFill>
                <a:latin typeface="Avenir Next"/>
                <a:ea typeface="Avenir Next"/>
                <a:cs typeface="Avenir Next"/>
              </a:rPr>
              <a:t>One Program Master, many output adapters</a:t>
            </a:r>
          </a:p>
        </p:txBody>
      </p:sp>
      <p:sp>
        <p:nvSpPr>
          <p:cNvPr id="2" name="">
            <a:extLst xmlns:a="http://schemas.openxmlformats.org/drawingml/2006/main">
              <a:ext uri="{FF2B5EF4-FFF2-40B4-BE49-F238E27FC236}">
                <a16:creationId xmlns:a16="http://schemas.microsoft.com/office/drawing/2014/main" id="{DFD25A0D-3E03-48F7-BEAA-18B45EC8B3C9}"/>
              </a:ext>
            </a:extLst>
          </p:cNvPr>
          <p:cNvSpPr>
            <a:spLocks xmlns:a="http://schemas.openxmlformats.org/drawingml/2006/main" noGrp="1"/>
          </p:cNvSpPr>
          <p:nvPr/>
        </p:nvSpPr>
        <p:spPr>
          <a:xfrm xmlns:a="http://schemas.openxmlformats.org/drawingml/2006/main">
            <a:off x="628650" y="9525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00" b="0">
                <a:solidFill>
                  <a:srgbClr val="A9BAC8"/>
                </a:solidFill>
                <a:latin typeface="Avenir Next"/>
                <a:ea typeface="Avenir Next"/>
                <a:cs typeface="Avenir Next"/>
              </a:defRPr>
            </a:pPr>
            <a:r>
              <a:rPr sz="1500" b="0">
                <a:solidFill>
                  <a:srgbClr val="A9BAC8"/>
                </a:solidFill>
                <a:latin typeface="Avenir Next"/>
                <a:ea typeface="Avenir Next"/>
                <a:cs typeface="Avenir Next"/>
              </a:rPr>
              <a:t>Keep switching and composition native; convert only at the destination boundary</a:t>
            </a:r>
          </a:p>
        </p:txBody>
      </p:sp>
      <p:sp>
        <p:nvSpPr>
          <p:cNvPr id="3" name="">
            <a:extLst xmlns:a="http://schemas.openxmlformats.org/drawingml/2006/main">
              <a:ext uri="{FF2B5EF4-FFF2-40B4-BE49-F238E27FC236}">
                <a16:creationId xmlns:a16="http://schemas.microsoft.com/office/drawing/2014/main" id="{29581124-9BA4-402D-999E-262E69477AA5}"/>
              </a:ext>
            </a:extLst>
          </p:cNvPr>
          <p:cNvSpPr>
            <a:spLocks xmlns:a="http://schemas.openxmlformats.org/drawingml/2006/main" noGrp="1"/>
          </p:cNvSpPr>
          <p:nvPr/>
        </p:nvSpPr>
        <p:spPr>
          <a:xfrm xmlns:a="http://schemas.openxmlformats.org/drawingml/2006/main">
            <a:off x="609600" y="1362075"/>
            <a:ext cx="819150" cy="38100"/>
          </a:xfrm>
          <a:prstGeom xmlns:a="http://schemas.openxmlformats.org/drawingml/2006/main" prst="rect">
            <a:avLst/>
          </a:prstGeom>
          <a:solidFill xmlns:a="http://schemas.openxmlformats.org/drawingml/2006/main">
            <a:srgbClr val="36D4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EAC98E6-9F3B-4975-9F90-9B8EC89C34A0}"/>
              </a:ext>
            </a:extLst>
          </p:cNvPr>
          <p:cNvSpPr>
            <a:spLocks xmlns:a="http://schemas.openxmlformats.org/drawingml/2006/main" noGrp="1"/>
          </p:cNvSpPr>
          <p:nvPr/>
        </p:nvSpPr>
        <p:spPr>
          <a:xfrm xmlns:a="http://schemas.openxmlformats.org/drawingml/2006/main">
            <a:off x="4324350" y="2476500"/>
            <a:ext cx="3543300" cy="1562100"/>
          </a:xfrm>
          <a:prstGeom xmlns:a="http://schemas.openxmlformats.org/drawingml/2006/main" prst="roundRect">
            <a:avLst>
              <a:gd name="adj" fmla="val 4878"/>
            </a:avLst>
          </a:prstGeom>
          <a:solidFill xmlns:a="http://schemas.openxmlformats.org/drawingml/2006/main">
            <a:srgbClr val="10332E"/>
          </a:solidFill>
          <a:ln xmlns:a="http://schemas.openxmlformats.org/drawingml/2006/main" w="28575">
            <a:solidFill>
              <a:srgbClr val="36D4C5"/>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875" b="1">
                <a:solidFill>
                  <a:srgbClr val="F4F8FB"/>
                </a:solidFill>
                <a:latin typeface="Avenir Next"/>
                <a:ea typeface="Avenir Next"/>
                <a:cs typeface="Avenir Next"/>
              </a:defRPr>
            </a:pPr>
            <a:r>
              <a:rPr sz="1875" b="1">
                <a:solidFill>
                  <a:srgbClr val="F4F8FB"/>
                </a:solidFill>
                <a:latin typeface="Avenir Next"/>
                <a:ea typeface="Avenir Next"/>
                <a:cs typeface="Avenir Next"/>
              </a:rPr>
              <a:t>ONE MXL PRODUCTION NODE</a:t>
            </a:r>
          </a:p>
          <a:p xmlns:a="http://schemas.openxmlformats.org/drawingml/2006/main">
            <a:pPr algn="ctr">
              <a:buNone/>
              <a:defRPr sz="1875" b="1">
                <a:solidFill>
                  <a:srgbClr val="F4F8FB"/>
                </a:solidFill>
                <a:latin typeface="Avenir Next"/>
                <a:ea typeface="Avenir Next"/>
                <a:cs typeface="Avenir Next"/>
              </a:defRPr>
            </a:pPr>
            <a:r>
              <a:rPr sz="1875" b="1">
                <a:solidFill>
                  <a:srgbClr val="F4F8FB"/>
                </a:solidFill>
                <a:latin typeface="Avenir Next"/>
                <a:ea typeface="Avenir Next"/>
                <a:cs typeface="Avenir Next"/>
              </a:rPr>
              <a:t>8 inputs · Core · warm ME A/B · Program Master</a:t>
            </a:r>
          </a:p>
        </p:txBody>
      </p:sp>
      <p:sp>
        <p:nvSpPr>
          <p:cNvPr id="5" name="">
            <a:extLst xmlns:a="http://schemas.openxmlformats.org/drawingml/2006/main">
              <a:ext uri="{FF2B5EF4-FFF2-40B4-BE49-F238E27FC236}">
                <a16:creationId xmlns:a16="http://schemas.microsoft.com/office/drawing/2014/main" id="{89ED6A13-4389-4BE3-B67E-7BCD1F921A6E}"/>
              </a:ext>
            </a:extLst>
          </p:cNvPr>
          <p:cNvSpPr>
            <a:spLocks xmlns:a="http://schemas.openxmlformats.org/drawingml/2006/main" noGrp="1"/>
          </p:cNvSpPr>
          <p:nvPr/>
        </p:nvSpPr>
        <p:spPr>
          <a:xfrm xmlns:a="http://schemas.openxmlformats.org/drawingml/2006/main">
            <a:off x="857250" y="1647825"/>
            <a:ext cx="1790700" cy="723900"/>
          </a:xfrm>
          <a:prstGeom xmlns:a="http://schemas.openxmlformats.org/drawingml/2006/main" prst="roundRect">
            <a:avLst>
              <a:gd name="adj" fmla="val 10526"/>
            </a:avLst>
          </a:prstGeom>
          <a:solidFill xmlns:a="http://schemas.openxmlformats.org/drawingml/2006/main">
            <a:srgbClr val="152A38"/>
          </a:solidFill>
          <a:ln xmlns:a="http://schemas.openxmlformats.org/drawingml/2006/main" w="14288">
            <a:solidFill>
              <a:srgbClr val="48C7FF"/>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INPUT</a:t>
            </a:r>
          </a:p>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ZoomISO / NDI</a:t>
            </a:r>
          </a:p>
        </p:txBody>
      </p:sp>
      <p:sp>
        <p:nvSpPr>
          <p:cNvPr id="6" name="">
            <a:extLst xmlns:a="http://schemas.openxmlformats.org/drawingml/2006/main">
              <a:ext uri="{FF2B5EF4-FFF2-40B4-BE49-F238E27FC236}">
                <a16:creationId xmlns:a16="http://schemas.microsoft.com/office/drawing/2014/main" id="{E490BBCC-2B1A-4CFA-90C0-1616040FD630}"/>
              </a:ext>
            </a:extLst>
          </p:cNvPr>
          <p:cNvSpPr>
            <a:spLocks xmlns:a="http://schemas.openxmlformats.org/drawingml/2006/main" noGrp="1"/>
          </p:cNvSpPr>
          <p:nvPr/>
        </p:nvSpPr>
        <p:spPr>
          <a:xfrm xmlns:a="http://schemas.openxmlformats.org/drawingml/2006/main">
            <a:off x="857250" y="2781300"/>
            <a:ext cx="1790700" cy="723900"/>
          </a:xfrm>
          <a:prstGeom xmlns:a="http://schemas.openxmlformats.org/drawingml/2006/main" prst="roundRect">
            <a:avLst>
              <a:gd name="adj" fmla="val 10526"/>
            </a:avLst>
          </a:prstGeom>
          <a:solidFill xmlns:a="http://schemas.openxmlformats.org/drawingml/2006/main">
            <a:srgbClr val="152A38"/>
          </a:solidFill>
          <a:ln xmlns:a="http://schemas.openxmlformats.org/drawingml/2006/main" w="14288">
            <a:solidFill>
              <a:srgbClr val="48C7FF"/>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CORE</a:t>
            </a:r>
          </a:p>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PGM + PVW</a:t>
            </a:r>
          </a:p>
        </p:txBody>
      </p:sp>
      <p:sp>
        <p:nvSpPr>
          <p:cNvPr id="7" name="">
            <a:extLst xmlns:a="http://schemas.openxmlformats.org/drawingml/2006/main">
              <a:ext uri="{FF2B5EF4-FFF2-40B4-BE49-F238E27FC236}">
                <a16:creationId xmlns:a16="http://schemas.microsoft.com/office/drawing/2014/main" id="{CD8F3655-F2E2-4A7E-98F5-C569255495BC}"/>
              </a:ext>
            </a:extLst>
          </p:cNvPr>
          <p:cNvSpPr>
            <a:spLocks xmlns:a="http://schemas.openxmlformats.org/drawingml/2006/main" noGrp="1"/>
          </p:cNvSpPr>
          <p:nvPr/>
        </p:nvSpPr>
        <p:spPr>
          <a:xfrm xmlns:a="http://schemas.openxmlformats.org/drawingml/2006/main">
            <a:off x="857250" y="3914775"/>
            <a:ext cx="1790700" cy="723900"/>
          </a:xfrm>
          <a:prstGeom xmlns:a="http://schemas.openxmlformats.org/drawingml/2006/main" prst="roundRect">
            <a:avLst>
              <a:gd name="adj" fmla="val 10526"/>
            </a:avLst>
          </a:prstGeom>
          <a:solidFill xmlns:a="http://schemas.openxmlformats.org/drawingml/2006/main">
            <a:srgbClr val="152A38"/>
          </a:solidFill>
          <a:ln xmlns:a="http://schemas.openxmlformats.org/drawingml/2006/main" w="14288">
            <a:solidFill>
              <a:srgbClr val="48C7FF"/>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COMPOSE</a:t>
            </a:r>
          </a:p>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2-up to 8-up</a:t>
            </a:r>
          </a:p>
        </p:txBody>
      </p:sp>
      <p:sp>
        <p:nvSpPr>
          <p:cNvPr id="8" name="">
            <a:extLst xmlns:a="http://schemas.openxmlformats.org/drawingml/2006/main">
              <a:ext uri="{FF2B5EF4-FFF2-40B4-BE49-F238E27FC236}">
                <a16:creationId xmlns:a16="http://schemas.microsoft.com/office/drawing/2014/main" id="{B87D2932-EB70-407E-9F44-51517510E8C0}"/>
              </a:ext>
            </a:extLst>
          </p:cNvPr>
          <p:cNvSpPr>
            <a:spLocks xmlns:a="http://schemas.openxmlformats.org/drawingml/2006/main" noGrp="1"/>
          </p:cNvSpPr>
          <p:nvPr/>
        </p:nvSpPr>
        <p:spPr>
          <a:xfrm xmlns:a="http://schemas.openxmlformats.org/drawingml/2006/main">
            <a:off x="9544050" y="1466850"/>
            <a:ext cx="1809750" cy="895350"/>
          </a:xfrm>
          <a:prstGeom xmlns:a="http://schemas.openxmlformats.org/drawingml/2006/main" prst="roundRect">
            <a:avLst>
              <a:gd name="adj" fmla="val 8511"/>
            </a:avLst>
          </a:prstGeom>
          <a:solidFill xmlns:a="http://schemas.openxmlformats.org/drawingml/2006/main">
            <a:srgbClr val="2C2519"/>
          </a:solidFill>
          <a:ln xmlns:a="http://schemas.openxmlformats.org/drawingml/2006/main" w="14288">
            <a:solidFill>
              <a:srgbClr val="FFB85C"/>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Zoom meeting return</a:t>
            </a:r>
          </a:p>
        </p:txBody>
      </p:sp>
      <p:sp>
        <p:nvSpPr>
          <p:cNvPr id="9" name="">
            <a:extLst xmlns:a="http://schemas.openxmlformats.org/drawingml/2006/main">
              <a:ext uri="{FF2B5EF4-FFF2-40B4-BE49-F238E27FC236}">
                <a16:creationId xmlns:a16="http://schemas.microsoft.com/office/drawing/2014/main" id="{A90FA1A2-5639-4B28-A904-8760DCF0F915}"/>
              </a:ext>
            </a:extLst>
          </p:cNvPr>
          <p:cNvSpPr>
            <a:spLocks xmlns:a="http://schemas.openxmlformats.org/drawingml/2006/main" noGrp="1"/>
          </p:cNvSpPr>
          <p:nvPr/>
        </p:nvSpPr>
        <p:spPr>
          <a:xfrm xmlns:a="http://schemas.openxmlformats.org/drawingml/2006/main">
            <a:off x="9544050" y="2676525"/>
            <a:ext cx="1809750" cy="723900"/>
          </a:xfrm>
          <a:prstGeom xmlns:a="http://schemas.openxmlformats.org/drawingml/2006/main" prst="roundRect">
            <a:avLst>
              <a:gd name="adj" fmla="val 10526"/>
            </a:avLst>
          </a:prstGeom>
          <a:solidFill xmlns:a="http://schemas.openxmlformats.org/drawingml/2006/main">
            <a:srgbClr val="2C2519"/>
          </a:solidFill>
          <a:ln xmlns:a="http://schemas.openxmlformats.org/drawingml/2006/main" w="14288">
            <a:solidFill>
              <a:srgbClr val="FFB85C"/>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WebRTC confidence</a:t>
            </a:r>
          </a:p>
        </p:txBody>
      </p:sp>
      <p:sp>
        <p:nvSpPr>
          <p:cNvPr id="10" name="">
            <a:extLst xmlns:a="http://schemas.openxmlformats.org/drawingml/2006/main">
              <a:ext uri="{FF2B5EF4-FFF2-40B4-BE49-F238E27FC236}">
                <a16:creationId xmlns:a16="http://schemas.microsoft.com/office/drawing/2014/main" id="{0257CF9D-DC7C-4B10-B1AC-863BDE83C06F}"/>
              </a:ext>
            </a:extLst>
          </p:cNvPr>
          <p:cNvSpPr>
            <a:spLocks xmlns:a="http://schemas.openxmlformats.org/drawingml/2006/main" noGrp="1"/>
          </p:cNvSpPr>
          <p:nvPr/>
        </p:nvSpPr>
        <p:spPr>
          <a:xfrm xmlns:a="http://schemas.openxmlformats.org/drawingml/2006/main">
            <a:off x="9544050" y="3714750"/>
            <a:ext cx="1809750" cy="723900"/>
          </a:xfrm>
          <a:prstGeom xmlns:a="http://schemas.openxmlformats.org/drawingml/2006/main" prst="roundRect">
            <a:avLst>
              <a:gd name="adj" fmla="val 10526"/>
            </a:avLst>
          </a:prstGeom>
          <a:solidFill xmlns:a="http://schemas.openxmlformats.org/drawingml/2006/main">
            <a:srgbClr val="2C2519"/>
          </a:solidFill>
          <a:ln xmlns:a="http://schemas.openxmlformats.org/drawingml/2006/main" w="14288">
            <a:solidFill>
              <a:srgbClr val="FFB85C"/>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NDI · SRT · SDI</a:t>
            </a:r>
          </a:p>
        </p:txBody>
      </p:sp>
      <p:sp>
        <p:nvSpPr>
          <p:cNvPr id="11" name="">
            <a:extLst xmlns:a="http://schemas.openxmlformats.org/drawingml/2006/main">
              <a:ext uri="{FF2B5EF4-FFF2-40B4-BE49-F238E27FC236}">
                <a16:creationId xmlns:a16="http://schemas.microsoft.com/office/drawing/2014/main" id="{80083446-3FC0-4D7A-9C4C-8CFE4289B32A}"/>
              </a:ext>
            </a:extLst>
          </p:cNvPr>
          <p:cNvSpPr>
            <a:spLocks xmlns:a="http://schemas.openxmlformats.org/drawingml/2006/main" noGrp="1"/>
          </p:cNvSpPr>
          <p:nvPr/>
        </p:nvSpPr>
        <p:spPr>
          <a:xfrm xmlns:a="http://schemas.openxmlformats.org/drawingml/2006/main">
            <a:off x="9544050" y="4752975"/>
            <a:ext cx="1809750" cy="723900"/>
          </a:xfrm>
          <a:prstGeom xmlns:a="http://schemas.openxmlformats.org/drawingml/2006/main" prst="roundRect">
            <a:avLst>
              <a:gd name="adj" fmla="val 10526"/>
            </a:avLst>
          </a:prstGeom>
          <a:solidFill xmlns:a="http://schemas.openxmlformats.org/drawingml/2006/main">
            <a:srgbClr val="2C2519"/>
          </a:solidFill>
          <a:ln xmlns:a="http://schemas.openxmlformats.org/drawingml/2006/main" w="14288">
            <a:solidFill>
              <a:srgbClr val="FFB85C"/>
            </a:solid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425" b="1">
                <a:solidFill>
                  <a:srgbClr val="F4F8FB"/>
                </a:solidFill>
                <a:latin typeface="Avenir Next"/>
                <a:ea typeface="Avenir Next"/>
                <a:cs typeface="Avenir Next"/>
              </a:defRPr>
            </a:pPr>
            <a:r>
              <a:rPr sz="1425" b="1">
                <a:solidFill>
                  <a:srgbClr val="F4F8FB"/>
                </a:solidFill>
                <a:latin typeface="Avenir Next"/>
                <a:ea typeface="Avenir Next"/>
                <a:cs typeface="Avenir Next"/>
              </a:rPr>
              <a:t>RTMP · record</a:t>
            </a:r>
          </a:p>
        </p:txBody>
      </p:sp>
      <p:cxnSp>
        <p:nvCxnSpPr>
          <p:cNvPr id="90" name="">
            <a:extLst xmlns:a="http://schemas.openxmlformats.org/drawingml/2006/main">
              <a:ext uri="{FF2B5EF4-FFF2-40B4-BE49-F238E27FC236}">
                <a16:creationId xmlns:a16="http://schemas.microsoft.com/office/drawing/2014/main" id="{405D10BB-0959-4D59-A052-C3C80E006BD5}"/>
              </a:ext>
            </a:extLst>
          </p:cNvPr>
          <p:cNvCxnSpPr>
            <a:stCxn xmlns:a="http://schemas.openxmlformats.org/drawingml/2006/main" id="5" idx="3"/>
            <a:endCxn xmlns:a="http://schemas.openxmlformats.org/drawingml/2006/main" id="4" idx="1"/>
          </p:cNvCxnSpPr>
          <p:nvPr/>
        </p:nvCxnSpPr>
        <p:spPr>
          <a:xfrm xmlns:a="http://schemas.openxmlformats.org/drawingml/2006/main">
            <a:off x="2647950" y="2009775"/>
            <a:ext cx="1676400" cy="1247775"/>
          </a:xfrm>
          <a:prstGeom xmlns:a="http://schemas.openxmlformats.org/drawingml/2006/main" prst="straightConnector1">
            <a:avLst/>
          </a:prstGeom>
          <a:ln xmlns:a="http://schemas.openxmlformats.org/drawingml/2006/main" w="20955">
            <a:solidFill>
              <a:srgbClr val="48C7FF"/>
            </a:solidFill>
            <a:prstDash val="solid"/>
            <a:headEnd type="none" w="med" len="med"/>
            <a:tailEnd type="triangle" w="sm" len="sm"/>
          </a:ln>
        </p:spPr>
      </p:cxnSp>
      <p:cxnSp>
        <p:nvCxnSpPr>
          <p:cNvPr id="91" name="">
            <a:extLst xmlns:a="http://schemas.openxmlformats.org/drawingml/2006/main">
              <a:ext uri="{FF2B5EF4-FFF2-40B4-BE49-F238E27FC236}">
                <a16:creationId xmlns:a16="http://schemas.microsoft.com/office/drawing/2014/main" id="{08DE9483-9A84-48D3-99B0-401394C9450D}"/>
              </a:ext>
            </a:extLst>
          </p:cNvPr>
          <p:cNvCxnSpPr>
            <a:stCxn xmlns:a="http://schemas.openxmlformats.org/drawingml/2006/main" id="6" idx="3"/>
            <a:endCxn xmlns:a="http://schemas.openxmlformats.org/drawingml/2006/main" id="4" idx="1"/>
          </p:cNvCxnSpPr>
          <p:nvPr/>
        </p:nvCxnSpPr>
        <p:spPr>
          <a:xfrm xmlns:a="http://schemas.openxmlformats.org/drawingml/2006/main">
            <a:off x="2647950" y="3143250"/>
            <a:ext cx="1676400" cy="114300"/>
          </a:xfrm>
          <a:prstGeom xmlns:a="http://schemas.openxmlformats.org/drawingml/2006/main" prst="straightConnector1">
            <a:avLst/>
          </a:prstGeom>
          <a:ln xmlns:a="http://schemas.openxmlformats.org/drawingml/2006/main" w="20955">
            <a:solidFill>
              <a:srgbClr val="48C7FF"/>
            </a:solidFill>
            <a:prstDash val="solid"/>
            <a:headEnd type="none" w="med" len="med"/>
            <a:tailEnd type="triangle" w="sm" len="sm"/>
          </a:ln>
        </p:spPr>
      </p:cxnSp>
      <p:cxnSp>
        <p:nvCxnSpPr>
          <p:cNvPr id="92" name="">
            <a:extLst xmlns:a="http://schemas.openxmlformats.org/drawingml/2006/main">
              <a:ext uri="{FF2B5EF4-FFF2-40B4-BE49-F238E27FC236}">
                <a16:creationId xmlns:a16="http://schemas.microsoft.com/office/drawing/2014/main" id="{6E034D0D-44C6-4671-9EF6-4B2B1FB32590}"/>
              </a:ext>
            </a:extLst>
          </p:cNvPr>
          <p:cNvCxnSpPr>
            <a:stCxn xmlns:a="http://schemas.openxmlformats.org/drawingml/2006/main" id="7" idx="3"/>
            <a:endCxn xmlns:a="http://schemas.openxmlformats.org/drawingml/2006/main" id="4" idx="1"/>
          </p:cNvCxnSpPr>
          <p:nvPr/>
        </p:nvCxnSpPr>
        <p:spPr>
          <a:xfrm xmlns:a="http://schemas.openxmlformats.org/drawingml/2006/main" flipV="1">
            <a:off x="2647950" y="3257550"/>
            <a:ext cx="1676400" cy="1019175"/>
          </a:xfrm>
          <a:prstGeom xmlns:a="http://schemas.openxmlformats.org/drawingml/2006/main" prst="straightConnector1">
            <a:avLst/>
          </a:prstGeom>
          <a:ln xmlns:a="http://schemas.openxmlformats.org/drawingml/2006/main" w="20955">
            <a:solidFill>
              <a:srgbClr val="48C7FF"/>
            </a:solidFill>
            <a:prstDash val="solid"/>
            <a:headEnd type="none" w="med" len="med"/>
            <a:tailEnd type="triangle" w="sm" len="sm"/>
          </a:ln>
        </p:spPr>
      </p:cxnSp>
      <p:cxnSp>
        <p:nvCxnSpPr>
          <p:cNvPr id="93" name="">
            <a:extLst xmlns:a="http://schemas.openxmlformats.org/drawingml/2006/main">
              <a:ext uri="{FF2B5EF4-FFF2-40B4-BE49-F238E27FC236}">
                <a16:creationId xmlns:a16="http://schemas.microsoft.com/office/drawing/2014/main" id="{84A0BCF1-29E9-4C0C-A33C-A42C9CB53245}"/>
              </a:ext>
            </a:extLst>
          </p:cNvPr>
          <p:cNvCxnSpPr>
            <a:stCxn xmlns:a="http://schemas.openxmlformats.org/drawingml/2006/main" id="4" idx="3"/>
            <a:endCxn xmlns:a="http://schemas.openxmlformats.org/drawingml/2006/main" id="8" idx="1"/>
          </p:cNvCxnSpPr>
          <p:nvPr/>
        </p:nvCxnSpPr>
        <p:spPr>
          <a:xfrm xmlns:a="http://schemas.openxmlformats.org/drawingml/2006/main" flipV="1">
            <a:off x="7867650" y="1914525"/>
            <a:ext cx="1676400" cy="1343025"/>
          </a:xfrm>
          <a:prstGeom xmlns:a="http://schemas.openxmlformats.org/drawingml/2006/main" prst="straightConnector1">
            <a:avLst/>
          </a:prstGeom>
          <a:ln xmlns:a="http://schemas.openxmlformats.org/drawingml/2006/main" w="20955">
            <a:solidFill>
              <a:srgbClr val="FFB85C"/>
            </a:solidFill>
            <a:prstDash val="solid"/>
            <a:headEnd type="none" w="med" len="med"/>
            <a:tailEnd type="triangle" w="sm" len="sm"/>
          </a:ln>
        </p:spPr>
      </p:cxnSp>
      <p:cxnSp>
        <p:nvCxnSpPr>
          <p:cNvPr id="94" name="">
            <a:extLst xmlns:a="http://schemas.openxmlformats.org/drawingml/2006/main">
              <a:ext uri="{FF2B5EF4-FFF2-40B4-BE49-F238E27FC236}">
                <a16:creationId xmlns:a16="http://schemas.microsoft.com/office/drawing/2014/main" id="{E8016902-BA39-4EBF-857F-736E9BF42E7A}"/>
              </a:ext>
            </a:extLst>
          </p:cNvPr>
          <p:cNvCxnSpPr>
            <a:stCxn xmlns:a="http://schemas.openxmlformats.org/drawingml/2006/main" id="4" idx="3"/>
            <a:endCxn xmlns:a="http://schemas.openxmlformats.org/drawingml/2006/main" id="9" idx="1"/>
          </p:cNvCxnSpPr>
          <p:nvPr/>
        </p:nvCxnSpPr>
        <p:spPr>
          <a:xfrm xmlns:a="http://schemas.openxmlformats.org/drawingml/2006/main" flipV="1">
            <a:off x="7867650" y="3038475"/>
            <a:ext cx="1676400" cy="219075"/>
          </a:xfrm>
          <a:prstGeom xmlns:a="http://schemas.openxmlformats.org/drawingml/2006/main" prst="straightConnector1">
            <a:avLst/>
          </a:prstGeom>
          <a:ln xmlns:a="http://schemas.openxmlformats.org/drawingml/2006/main" w="20955">
            <a:solidFill>
              <a:srgbClr val="FFB85C"/>
            </a:solidFill>
            <a:prstDash val="solid"/>
            <a:headEnd type="none" w="med" len="med"/>
            <a:tailEnd type="triangle" w="sm" len="sm"/>
          </a:ln>
        </p:spPr>
      </p:cxnSp>
      <p:cxnSp>
        <p:nvCxnSpPr>
          <p:cNvPr id="95" name="">
            <a:extLst xmlns:a="http://schemas.openxmlformats.org/drawingml/2006/main">
              <a:ext uri="{FF2B5EF4-FFF2-40B4-BE49-F238E27FC236}">
                <a16:creationId xmlns:a16="http://schemas.microsoft.com/office/drawing/2014/main" id="{7D4D9AE0-BE63-4D36-B4E2-1E29D871C586}"/>
              </a:ext>
            </a:extLst>
          </p:cNvPr>
          <p:cNvCxnSpPr>
            <a:stCxn xmlns:a="http://schemas.openxmlformats.org/drawingml/2006/main" id="4" idx="3"/>
            <a:endCxn xmlns:a="http://schemas.openxmlformats.org/drawingml/2006/main" id="10" idx="1"/>
          </p:cNvCxnSpPr>
          <p:nvPr/>
        </p:nvCxnSpPr>
        <p:spPr>
          <a:xfrm xmlns:a="http://schemas.openxmlformats.org/drawingml/2006/main">
            <a:off x="7867650" y="3257550"/>
            <a:ext cx="1676400" cy="819150"/>
          </a:xfrm>
          <a:prstGeom xmlns:a="http://schemas.openxmlformats.org/drawingml/2006/main" prst="straightConnector1">
            <a:avLst/>
          </a:prstGeom>
          <a:ln xmlns:a="http://schemas.openxmlformats.org/drawingml/2006/main" w="20955">
            <a:solidFill>
              <a:srgbClr val="FFB85C"/>
            </a:solidFill>
            <a:prstDash val="solid"/>
            <a:headEnd type="none" w="med" len="med"/>
            <a:tailEnd type="triangle" w="sm" len="sm"/>
          </a:ln>
        </p:spPr>
      </p:cxnSp>
      <p:cxnSp>
        <p:nvCxnSpPr>
          <p:cNvPr id="96" name="">
            <a:extLst xmlns:a="http://schemas.openxmlformats.org/drawingml/2006/main">
              <a:ext uri="{FF2B5EF4-FFF2-40B4-BE49-F238E27FC236}">
                <a16:creationId xmlns:a16="http://schemas.microsoft.com/office/drawing/2014/main" id="{C07D61FE-BB95-4088-B7F3-90A9796ED3CE}"/>
              </a:ext>
            </a:extLst>
          </p:cNvPr>
          <p:cNvCxnSpPr>
            <a:stCxn xmlns:a="http://schemas.openxmlformats.org/drawingml/2006/main" id="4" idx="3"/>
            <a:endCxn xmlns:a="http://schemas.openxmlformats.org/drawingml/2006/main" id="11" idx="1"/>
          </p:cNvCxnSpPr>
          <p:nvPr/>
        </p:nvCxnSpPr>
        <p:spPr>
          <a:xfrm xmlns:a="http://schemas.openxmlformats.org/drawingml/2006/main">
            <a:off x="7867650" y="3257550"/>
            <a:ext cx="1676400" cy="1857375"/>
          </a:xfrm>
          <a:prstGeom xmlns:a="http://schemas.openxmlformats.org/drawingml/2006/main" prst="straightConnector1">
            <a:avLst/>
          </a:prstGeom>
          <a:ln xmlns:a="http://schemas.openxmlformats.org/drawingml/2006/main" w="20955">
            <a:solidFill>
              <a:srgbClr val="FFB85C"/>
            </a:solidFill>
            <a:prstDash val="solid"/>
            <a:headEnd type="none" w="med" len="med"/>
            <a:tailEnd type="triangle" w="sm" len="sm"/>
          </a:ln>
        </p:spPr>
      </p:cxnSp>
      <p:sp>
        <p:nvSpPr>
          <p:cNvPr id="19" name="">
            <a:extLst xmlns:a="http://schemas.openxmlformats.org/drawingml/2006/main">
              <a:ext uri="{FF2B5EF4-FFF2-40B4-BE49-F238E27FC236}">
                <a16:creationId xmlns:a16="http://schemas.microsoft.com/office/drawing/2014/main" id="{E9FDC15C-F2FB-4FF8-B048-115241567EB2}"/>
              </a:ext>
            </a:extLst>
          </p:cNvPr>
          <p:cNvSpPr>
            <a:spLocks xmlns:a="http://schemas.openxmlformats.org/drawingml/2006/main" noGrp="1"/>
          </p:cNvSpPr>
          <p:nvPr/>
        </p:nvSpPr>
        <p:spPr>
          <a:xfrm xmlns:a="http://schemas.openxmlformats.org/drawingml/2006/main">
            <a:off x="2790825" y="1885950"/>
            <a:ext cx="133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125" b="1">
                <a:solidFill>
                  <a:srgbClr val="48C7FF"/>
                </a:solidFill>
                <a:latin typeface="Avenir Next"/>
                <a:ea typeface="Avenir Next"/>
                <a:cs typeface="Avenir Next"/>
              </a:defRPr>
            </a:pPr>
            <a:r>
              <a:rPr sz="1125" b="1">
                <a:solidFill>
                  <a:srgbClr val="48C7FF"/>
                </a:solidFill>
                <a:latin typeface="Avenir Next"/>
                <a:ea typeface="Avenir Next"/>
                <a:cs typeface="Avenir Next"/>
              </a:rPr>
              <a:t>Stable Program identity</a:t>
            </a:r>
          </a:p>
        </p:txBody>
      </p:sp>
      <p:sp>
        <p:nvSpPr>
          <p:cNvPr id="20" name="">
            <a:extLst xmlns:a="http://schemas.openxmlformats.org/drawingml/2006/main">
              <a:ext uri="{FF2B5EF4-FFF2-40B4-BE49-F238E27FC236}">
                <a16:creationId xmlns:a16="http://schemas.microsoft.com/office/drawing/2014/main" id="{8547D657-356A-4AA8-9048-8A2A754B5115}"/>
              </a:ext>
            </a:extLst>
          </p:cNvPr>
          <p:cNvSpPr>
            <a:spLocks xmlns:a="http://schemas.openxmlformats.org/drawingml/2006/main" noGrp="1"/>
          </p:cNvSpPr>
          <p:nvPr/>
        </p:nvSpPr>
        <p:spPr>
          <a:xfrm xmlns:a="http://schemas.openxmlformats.org/drawingml/2006/main">
            <a:off x="7867650" y="1885950"/>
            <a:ext cx="1581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125" b="1">
                <a:solidFill>
                  <a:srgbClr val="FFB85C"/>
                </a:solidFill>
                <a:latin typeface="Avenir Next"/>
                <a:ea typeface="Avenir Next"/>
                <a:cs typeface="Avenir Next"/>
              </a:defRPr>
            </a:pPr>
            <a:r>
              <a:rPr sz="1125" b="1">
                <a:solidFill>
                  <a:srgbClr val="FFB85C"/>
                </a:solidFill>
                <a:latin typeface="Avenir Next"/>
                <a:ea typeface="Avenir Next"/>
                <a:cs typeface="Avenir Next"/>
              </a:rPr>
              <a:t>Isolated adapters</a:t>
            </a:r>
          </a:p>
        </p:txBody>
      </p:sp>
      <p:sp>
        <p:nvSpPr>
          <p:cNvPr id="21" name="">
            <a:extLst xmlns:a="http://schemas.openxmlformats.org/drawingml/2006/main">
              <a:ext uri="{FF2B5EF4-FFF2-40B4-BE49-F238E27FC236}">
                <a16:creationId xmlns:a16="http://schemas.microsoft.com/office/drawing/2014/main" id="{49E66019-3861-4C29-BF47-B3BF910C2CA5}"/>
              </a:ext>
            </a:extLst>
          </p:cNvPr>
          <p:cNvSpPr>
            <a:spLocks xmlns:a="http://schemas.openxmlformats.org/drawingml/2006/main" noGrp="1"/>
          </p:cNvSpPr>
          <p:nvPr/>
        </p:nvSpPr>
        <p:spPr>
          <a:xfrm xmlns:a="http://schemas.openxmlformats.org/drawingml/2006/main">
            <a:off x="3619500" y="4981575"/>
            <a:ext cx="4953000" cy="1009650"/>
          </a:xfrm>
          <a:prstGeom xmlns:a="http://schemas.openxmlformats.org/drawingml/2006/main" prst="roundRect">
            <a:avLst>
              <a:gd name="adj" fmla="val 7547"/>
            </a:avLst>
          </a:prstGeom>
          <a:solidFill xmlns:a="http://schemas.openxmlformats.org/drawingml/2006/main">
            <a:srgbClr val="101F2C"/>
          </a:solidFill>
          <a:ln xmlns:a="http://schemas.openxmlformats.org/drawingml/2006/main" w="9525">
            <a:solidFill>
              <a:srgbClr val="294151"/>
            </a:solidFill>
          </a:ln>
        </p:spPr>
      </p:sp>
      <p:sp>
        <p:nvSpPr>
          <p:cNvPr id="22" name="">
            <a:extLst xmlns:a="http://schemas.openxmlformats.org/drawingml/2006/main">
              <a:ext uri="{FF2B5EF4-FFF2-40B4-BE49-F238E27FC236}">
                <a16:creationId xmlns:a16="http://schemas.microsoft.com/office/drawing/2014/main" id="{E9D3A93E-9507-4E87-9A50-FD742277F869}"/>
              </a:ext>
            </a:extLst>
          </p:cNvPr>
          <p:cNvSpPr>
            <a:spLocks xmlns:a="http://schemas.openxmlformats.org/drawingml/2006/main" noGrp="1"/>
          </p:cNvSpPr>
          <p:nvPr/>
        </p:nvSpPr>
        <p:spPr>
          <a:xfrm xmlns:a="http://schemas.openxmlformats.org/drawingml/2006/main">
            <a:off x="3848100" y="5057775"/>
            <a:ext cx="4495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275" b="0">
                <a:solidFill>
                  <a:srgbClr val="A9BAC8"/>
                </a:solidFill>
                <a:latin typeface="Avenir Next"/>
                <a:ea typeface="Avenir Next"/>
                <a:cs typeface="Avenir Next"/>
              </a:defRPr>
            </a:pPr>
            <a:r>
              <a:rPr sz="1275" b="0">
                <a:solidFill>
                  <a:srgbClr val="A9BAC8"/>
                </a:solidFill>
                <a:latin typeface="Avenir Next"/>
                <a:ea typeface="Avenir Next"/>
                <a:cs typeface="Avenir Next"/>
              </a:rPr>
              <a:t>Each adapter owns its codec, transport, reconnect, and latency policy. A failed destination must not recreate Program or interrupt another output.</a:t>
            </a:r>
          </a:p>
        </p:txBody>
      </p:sp>
      <p:sp>
        <p:nvSpPr>
          <p:cNvPr id="23" name="">
            <a:extLst xmlns:a="http://schemas.openxmlformats.org/drawingml/2006/main">
              <a:ext uri="{FF2B5EF4-FFF2-40B4-BE49-F238E27FC236}">
                <a16:creationId xmlns:a16="http://schemas.microsoft.com/office/drawing/2014/main" id="{DFC82820-1410-474C-8854-5E14B5A59A87}"/>
              </a:ext>
            </a:extLst>
          </p:cNvPr>
          <p:cNvSpPr>
            <a:spLocks xmlns:a="http://schemas.openxmlformats.org/drawingml/2006/main" noGrp="1"/>
          </p:cNvSpPr>
          <p:nvPr/>
        </p:nvSpPr>
        <p:spPr>
          <a:xfrm xmlns:a="http://schemas.openxmlformats.org/drawingml/2006/main">
            <a:off x="609600" y="64674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Output architecture</a:t>
            </a:r>
          </a:p>
        </p:txBody>
      </p:sp>
      <p:sp>
        <p:nvSpPr>
          <p:cNvPr id="24" name="">
            <a:extLst xmlns:a="http://schemas.openxmlformats.org/drawingml/2006/main">
              <a:ext uri="{FF2B5EF4-FFF2-40B4-BE49-F238E27FC236}">
                <a16:creationId xmlns:a16="http://schemas.microsoft.com/office/drawing/2014/main" id="{9B9EF81B-9173-44E5-954A-A75669BB72F1}"/>
              </a:ext>
            </a:extLst>
          </p:cNvPr>
          <p:cNvSpPr>
            <a:spLocks xmlns:a="http://schemas.openxmlformats.org/drawingml/2006/main" noGrp="1"/>
          </p:cNvSpPr>
          <p:nvPr/>
        </p:nvSpPr>
        <p:spPr>
          <a:xfrm xmlns:a="http://schemas.openxmlformats.org/drawingml/2006/main">
            <a:off x="11239500" y="6467475"/>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r">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18</a:t>
            </a:r>
          </a:p>
        </p:txBody>
      </p:sp>
    </p:spTree>
    <p:extLst>
      <p:ext uri="{BB962C8B-B14F-4D97-AF65-F5344CB8AC3E}">
        <p14:creationId xmlns:p14="http://schemas.microsoft.com/office/powerpoint/2010/main" val="659381607"/>
      </p:ext>
    </p:extLst>
  </p:cSld>
</p:sld>
</file>

<file path=ppt/slides/slide19.xml><?xml version="1.0" encoding="utf-8"?>
<p:sld xmlns:p="http://schemas.openxmlformats.org/presentationml/2006/main">
  <p:cSld>
    <p:bg>
      <p:bgPr>
        <a:solidFill xmlns:a="http://schemas.openxmlformats.org/drawingml/2006/main">
          <a:srgbClr val="0C172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E8C074-A182-420F-A67F-0FBA7B1AB2DB}"/>
              </a:ext>
            </a:extLst>
          </p:cNvPr>
          <p:cNvSpPr>
            <a:spLocks xmlns:a="http://schemas.openxmlformats.org/drawingml/2006/main" noGrp="1"/>
          </p:cNvSpPr>
          <p:nvPr/>
        </p:nvSpPr>
        <p:spPr>
          <a:xfrm xmlns:a="http://schemas.openxmlformats.org/drawingml/2006/main">
            <a:off x="609600" y="361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3150" b="1">
                <a:solidFill>
                  <a:srgbClr val="F4F8FB"/>
                </a:solidFill>
                <a:latin typeface="Avenir Next"/>
                <a:ea typeface="Avenir Next"/>
                <a:cs typeface="Avenir Next"/>
              </a:defRPr>
            </a:pPr>
            <a:r>
              <a:rPr sz="3150" b="1">
                <a:solidFill>
                  <a:srgbClr val="F4F8FB"/>
                </a:solidFill>
                <a:latin typeface="Avenir Next"/>
                <a:ea typeface="Avenir Next"/>
                <a:cs typeface="Avenir Next"/>
              </a:rPr>
              <a:t>Tonight's demo ladder</a:t>
            </a:r>
          </a:p>
        </p:txBody>
      </p:sp>
      <p:sp>
        <p:nvSpPr>
          <p:cNvPr id="2" name="">
            <a:extLst xmlns:a="http://schemas.openxmlformats.org/drawingml/2006/main">
              <a:ext uri="{FF2B5EF4-FFF2-40B4-BE49-F238E27FC236}">
                <a16:creationId xmlns:a16="http://schemas.microsoft.com/office/drawing/2014/main" id="{CABD2C50-C4F2-4B54-BA70-9D2FA259DBE7}"/>
              </a:ext>
            </a:extLst>
          </p:cNvPr>
          <p:cNvSpPr>
            <a:spLocks xmlns:a="http://schemas.openxmlformats.org/drawingml/2006/main" noGrp="1"/>
          </p:cNvSpPr>
          <p:nvPr/>
        </p:nvSpPr>
        <p:spPr>
          <a:xfrm xmlns:a="http://schemas.openxmlformats.org/drawingml/2006/main">
            <a:off x="628650" y="9525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00" b="0">
                <a:solidFill>
                  <a:srgbClr val="A9BAC8"/>
                </a:solidFill>
                <a:latin typeface="Avenir Next"/>
                <a:ea typeface="Avenir Next"/>
                <a:cs typeface="Avenir Next"/>
              </a:defRPr>
            </a:pPr>
            <a:r>
              <a:rPr sz="1500" b="0">
                <a:solidFill>
                  <a:srgbClr val="A9BAC8"/>
                </a:solidFill>
                <a:latin typeface="Avenir Next"/>
                <a:ea typeface="Avenir Next"/>
                <a:cs typeface="Avenir Next"/>
              </a:rPr>
              <a:t>Each step proves one claim and has a no-drama fallback</a:t>
            </a:r>
          </a:p>
        </p:txBody>
      </p:sp>
      <p:sp>
        <p:nvSpPr>
          <p:cNvPr id="3" name="">
            <a:extLst xmlns:a="http://schemas.openxmlformats.org/drawingml/2006/main">
              <a:ext uri="{FF2B5EF4-FFF2-40B4-BE49-F238E27FC236}">
                <a16:creationId xmlns:a16="http://schemas.microsoft.com/office/drawing/2014/main" id="{5ED99397-6773-403D-B7F4-73555EED5678}"/>
              </a:ext>
            </a:extLst>
          </p:cNvPr>
          <p:cNvSpPr>
            <a:spLocks xmlns:a="http://schemas.openxmlformats.org/drawingml/2006/main" noGrp="1"/>
          </p:cNvSpPr>
          <p:nvPr/>
        </p:nvSpPr>
        <p:spPr>
          <a:xfrm xmlns:a="http://schemas.openxmlformats.org/drawingml/2006/main">
            <a:off x="609600" y="1362075"/>
            <a:ext cx="819150" cy="38100"/>
          </a:xfrm>
          <a:prstGeom xmlns:a="http://schemas.openxmlformats.org/drawingml/2006/main" prst="rect">
            <a:avLst/>
          </a:prstGeom>
          <a:solidFill xmlns:a="http://schemas.openxmlformats.org/drawingml/2006/main">
            <a:srgbClr val="36D4C5"/>
          </a:solidFill>
          <a:ln xmlns:a="http://schemas.openxmlformats.org/drawingml/2006/main" w="0">
            <a:noFill/>
          </a:ln>
        </p:spPr>
      </p:sp>
      <p:graphicFrame>
        <p:nvGraphicFramePr>
          <p:cNvPr id="13" name="">
            <a:extLst xmlns:a="http://schemas.openxmlformats.org/drawingml/2006/main">
              <a:ext uri="{FF2B5EF4-FFF2-40B4-BE49-F238E27FC236}">
                <a16:creationId xmlns:a16="http://schemas.microsoft.com/office/drawing/2014/main" id="{16101041-CBB3-4278-88B5-4A6F0C1B3199}"/>
              </a:ext>
            </a:extLst>
          </p:cNvPr>
          <p:cNvGraphicFramePr/>
          <p:nvPr/>
        </p:nvGraphicFramePr>
        <p:xfrm>
          <a:off xmlns:a="http://schemas.openxmlformats.org/drawingml/2006/main" x="609600" y="1657350"/>
          <a:ext xmlns:a="http://schemas.openxmlformats.org/drawingml/2006/main" cx="10972800" cy="3752850"/>
        </p:xfrm>
        <a:graphic xmlns:a="http://schemas.openxmlformats.org/drawingml/2006/main">
          <a:graphicData uri="http://schemas.openxmlformats.org/drawingml/2006/table">
            <a:tbl>
              <a:tblPr/>
              <a:tblGrid>
                <a:gridCol w="2524125"/>
                <a:gridCol w="3095625"/>
                <a:gridCol w="3238500"/>
                <a:gridCol w="2114550"/>
              </a:tblGrid>
              <a:tr h="750570">
                <a:tc>
                  <a:txBody>
                    <a:bodyPr/>
                    <a:lstStyle/>
                    <a:p>
                      <a:r>
                        <a:rPr sz="1125" b="1">
                          <a:solidFill>
                            <a:srgbClr val="48C7FF"/>
                          </a:solidFill>
                          <a:latin typeface="Avenir Next"/>
                          <a:ea typeface="Avenir Next"/>
                          <a:cs typeface="Avenir Next"/>
                        </a:rPr>
                        <a:t>STAGE</a:t>
                      </a:r>
                    </a:p>
                  </a:txBody>
                  <a:tcPr marL="133350" marR="114300" marT="95250" marB="76200">
                    <a:solidFill>
                      <a:srgbClr val="152A38"/>
                    </a:solidFill>
                  </a:tcPr>
                </a:tc>
                <a:tc>
                  <a:txBody>
                    <a:bodyPr/>
                    <a:lstStyle/>
                    <a:p>
                      <a:r>
                        <a:rPr sz="1125" b="1">
                          <a:solidFill>
                            <a:srgbClr val="48C7FF"/>
                          </a:solidFill>
                          <a:latin typeface="Avenir Next"/>
                          <a:ea typeface="Avenir Next"/>
                          <a:cs typeface="Avenir Next"/>
                        </a:rPr>
                        <a:t>SHOW IT</a:t>
                      </a:r>
                    </a:p>
                  </a:txBody>
                  <a:tcPr marL="133350" marR="114300" marT="95250" marB="76200">
                    <a:solidFill>
                      <a:srgbClr val="152A38"/>
                    </a:solidFill>
                  </a:tcPr>
                </a:tc>
                <a:tc>
                  <a:txBody>
                    <a:bodyPr/>
                    <a:lstStyle/>
                    <a:p>
                      <a:r>
                        <a:rPr sz="1125" b="1">
                          <a:solidFill>
                            <a:srgbClr val="48C7FF"/>
                          </a:solidFill>
                          <a:latin typeface="Avenir Next"/>
                          <a:ea typeface="Avenir Next"/>
                          <a:cs typeface="Avenir Next"/>
                        </a:rPr>
                        <a:t>PROOF</a:t>
                      </a:r>
                    </a:p>
                  </a:txBody>
                  <a:tcPr marL="133350" marR="114300" marT="95250" marB="76200">
                    <a:solidFill>
                      <a:srgbClr val="152A38"/>
                    </a:solidFill>
                  </a:tcPr>
                </a:tc>
                <a:tc>
                  <a:txBody>
                    <a:bodyPr/>
                    <a:lstStyle/>
                    <a:p>
                      <a:r>
                        <a:rPr sz="1125" b="1">
                          <a:solidFill>
                            <a:srgbClr val="48C7FF"/>
                          </a:solidFill>
                          <a:latin typeface="Avenir Next"/>
                          <a:ea typeface="Avenir Next"/>
                          <a:cs typeface="Avenir Next"/>
                        </a:rPr>
                        <a:t>FALLBACK</a:t>
                      </a:r>
                    </a:p>
                  </a:txBody>
                  <a:tcPr marL="133350" marR="114300" marT="95250" marB="76200">
                    <a:solidFill>
                      <a:srgbClr val="152A38"/>
                    </a:solidFill>
                  </a:tcPr>
                </a:tc>
              </a:tr>
              <a:tr h="750570">
                <a:tc>
                  <a:txBody>
                    <a:bodyPr/>
                    <a:lstStyle/>
                    <a:p>
                      <a:r>
                        <a:rPr sz="1275">
                          <a:solidFill>
                            <a:srgbClr val="F4F8FB"/>
                          </a:solidFill>
                          <a:latin typeface="Avenir Next"/>
                          <a:ea typeface="Avenir Next"/>
                          <a:cs typeface="Avenir Next"/>
                        </a:rPr>
                        <a:t>1</a:t>
                      </a:r>
                    </a:p>
                  </a:txBody>
                  <a:tcPr marL="133350" marR="114300" marT="114300" marB="95250">
                    <a:solidFill>
                      <a:srgbClr val="101F2C"/>
                    </a:solidFill>
                  </a:tcPr>
                </a:tc>
                <a:tc>
                  <a:txBody>
                    <a:bodyPr/>
                    <a:lstStyle/>
                    <a:p>
                      <a:r>
                        <a:rPr sz="1275">
                          <a:solidFill>
                            <a:srgbClr val="F4F8FB"/>
                          </a:solidFill>
                          <a:latin typeface="Avenir Next"/>
                          <a:ea typeface="Avenir Next"/>
                          <a:cs typeface="Avenir Next"/>
                        </a:rPr>
                        <a:t>Eight-source 4×2 multiview</a:t>
                      </a:r>
                    </a:p>
                  </a:txBody>
                  <a:tcPr marL="133350" marR="114300" marT="114300" marB="95250">
                    <a:solidFill>
                      <a:srgbClr val="101F2C"/>
                    </a:solidFill>
                  </a:tcPr>
                </a:tc>
                <a:tc>
                  <a:txBody>
                    <a:bodyPr/>
                    <a:lstStyle/>
                    <a:p>
                      <a:r>
                        <a:rPr sz="1275">
                          <a:solidFill>
                            <a:srgbClr val="F4F8FB"/>
                          </a:solidFill>
                          <a:latin typeface="Avenir Next"/>
                          <a:ea typeface="Avenir Next"/>
                          <a:cs typeface="Avenir Next"/>
                        </a:rPr>
                        <a:t>All inputs are live and independently selectable</a:t>
                      </a:r>
                    </a:p>
                  </a:txBody>
                  <a:tcPr marL="133350" marR="114300" marT="114300" marB="95250">
                    <a:solidFill>
                      <a:srgbClr val="101F2C"/>
                    </a:solidFill>
                  </a:tcPr>
                </a:tc>
                <a:tc>
                  <a:txBody>
                    <a:bodyPr/>
                    <a:lstStyle/>
                    <a:p>
                      <a:r>
                        <a:rPr sz="1275">
                          <a:solidFill>
                            <a:srgbClr val="F4F8FB"/>
                          </a:solidFill>
                          <a:latin typeface="Avenir Next"/>
                          <a:ea typeface="Avenir Next"/>
                          <a:cs typeface="Avenir Next"/>
                        </a:rPr>
                        <a:t>Cut directly to input 1</a:t>
                      </a:r>
                    </a:p>
                  </a:txBody>
                  <a:tcPr marL="133350" marR="114300" marT="114300" marB="95250">
                    <a:solidFill>
                      <a:srgbClr val="101F2C"/>
                    </a:solidFill>
                  </a:tcPr>
                </a:tc>
              </a:tr>
              <a:tr h="750570">
                <a:tc>
                  <a:txBody>
                    <a:bodyPr/>
                    <a:lstStyle/>
                    <a:p>
                      <a:r>
                        <a:rPr sz="1275">
                          <a:solidFill>
                            <a:srgbClr val="F4F8FB"/>
                          </a:solidFill>
                          <a:latin typeface="Avenir Next"/>
                          <a:ea typeface="Avenir Next"/>
                          <a:cs typeface="Avenir Next"/>
                        </a:rPr>
                        <a:t>2</a:t>
                      </a:r>
                    </a:p>
                  </a:txBody>
                  <a:tcPr marL="133350" marR="114300" marT="114300" marB="95250">
                    <a:solidFill>
                      <a:srgbClr val="101F2C"/>
                    </a:solidFill>
                  </a:tcPr>
                </a:tc>
                <a:tc>
                  <a:txBody>
                    <a:bodyPr/>
                    <a:lstStyle/>
                    <a:p>
                      <a:r>
                        <a:rPr sz="1275">
                          <a:solidFill>
                            <a:srgbClr val="F4F8FB"/>
                          </a:solidFill>
                          <a:latin typeface="Avenir Next"/>
                          <a:ea typeface="Avenir Next"/>
                          <a:cs typeface="Avenir Next"/>
                        </a:rPr>
                        <a:t>Preview 1–8, then CUT</a:t>
                      </a:r>
                    </a:p>
                  </a:txBody>
                  <a:tcPr marL="133350" marR="114300" marT="114300" marB="95250">
                    <a:solidFill>
                      <a:srgbClr val="101F2C"/>
                    </a:solidFill>
                  </a:tcPr>
                </a:tc>
                <a:tc>
                  <a:txBody>
                    <a:bodyPr/>
                    <a:lstStyle/>
                    <a:p>
                      <a:r>
                        <a:rPr sz="1275">
                          <a:solidFill>
                            <a:srgbClr val="F4F8FB"/>
                          </a:solidFill>
                          <a:latin typeface="Avenir Next"/>
                          <a:ea typeface="Avenir Next"/>
                          <a:cs typeface="Avenir Next"/>
                        </a:rPr>
                        <a:t>Stable PGM/PVW plus browser and Companion tally</a:t>
                      </a:r>
                    </a:p>
                  </a:txBody>
                  <a:tcPr marL="133350" marR="114300" marT="114300" marB="95250">
                    <a:solidFill>
                      <a:srgbClr val="101F2C"/>
                    </a:solidFill>
                  </a:tcPr>
                </a:tc>
                <a:tc>
                  <a:txBody>
                    <a:bodyPr/>
                    <a:lstStyle/>
                    <a:p>
                      <a:r>
                        <a:rPr sz="1275">
                          <a:solidFill>
                            <a:srgbClr val="F4F8FB"/>
                          </a:solidFill>
                          <a:latin typeface="Avenir Next"/>
                          <a:ea typeface="Avenir Next"/>
                          <a:cs typeface="Avenir Next"/>
                        </a:rPr>
                        <a:t>Operate only from Companion</a:t>
                      </a:r>
                    </a:p>
                  </a:txBody>
                  <a:tcPr marL="133350" marR="114300" marT="114300" marB="95250">
                    <a:solidFill>
                      <a:srgbClr val="101F2C"/>
                    </a:solidFill>
                  </a:tcPr>
                </a:tc>
              </a:tr>
              <a:tr h="750570">
                <a:tc>
                  <a:txBody>
                    <a:bodyPr/>
                    <a:lstStyle/>
                    <a:p>
                      <a:r>
                        <a:rPr sz="1275">
                          <a:solidFill>
                            <a:srgbClr val="F4F8FB"/>
                          </a:solidFill>
                          <a:latin typeface="Avenir Next"/>
                          <a:ea typeface="Avenir Next"/>
                          <a:cs typeface="Avenir Next"/>
                        </a:rPr>
                        <a:t>3</a:t>
                      </a:r>
                    </a:p>
                  </a:txBody>
                  <a:tcPr marL="133350" marR="114300" marT="114300" marB="95250">
                    <a:solidFill>
                      <a:srgbClr val="101F2C"/>
                    </a:solidFill>
                  </a:tcPr>
                </a:tc>
                <a:tc>
                  <a:txBody>
                    <a:bodyPr/>
                    <a:lstStyle/>
                    <a:p>
                      <a:r>
                        <a:rPr sz="1275">
                          <a:solidFill>
                            <a:srgbClr val="F4F8FB"/>
                          </a:solidFill>
                          <a:latin typeface="Avenir Next"/>
                          <a:ea typeface="Avenir Next"/>
                          <a:cs typeface="Avenir Next"/>
                        </a:rPr>
                        <a:t>2-up, 4-up, then 8-up</a:t>
                      </a:r>
                    </a:p>
                  </a:txBody>
                  <a:tcPr marL="133350" marR="114300" marT="114300" marB="95250">
                    <a:solidFill>
                      <a:srgbClr val="101F2C"/>
                    </a:solidFill>
                  </a:tcPr>
                </a:tc>
                <a:tc>
                  <a:txBody>
                    <a:bodyPr/>
                    <a:lstStyle/>
                    <a:p>
                      <a:r>
                        <a:rPr sz="1275">
                          <a:solidFill>
                            <a:srgbClr val="F4F8FB"/>
                          </a:solidFill>
                          <a:latin typeface="Avenir Next"/>
                          <a:ea typeface="Avenir Next"/>
                          <a:cs typeface="Avenir Next"/>
                        </a:rPr>
                        <a:t>Off-air ME preparation and immediate bank CUT</a:t>
                      </a:r>
                    </a:p>
                  </a:txBody>
                  <a:tcPr marL="133350" marR="114300" marT="114300" marB="95250">
                    <a:solidFill>
                      <a:srgbClr val="101F2C"/>
                    </a:solidFill>
                  </a:tcPr>
                </a:tc>
                <a:tc>
                  <a:txBody>
                    <a:bodyPr/>
                    <a:lstStyle/>
                    <a:p>
                      <a:r>
                        <a:rPr sz="1275">
                          <a:solidFill>
                            <a:srgbClr val="F4F8FB"/>
                          </a:solidFill>
                          <a:latin typeface="Avenir Next"/>
                          <a:ea typeface="Avenir Next"/>
                          <a:cs typeface="Avenir Next"/>
                        </a:rPr>
                        <a:t>Return to known-good 2-up</a:t>
                      </a:r>
                    </a:p>
                  </a:txBody>
                  <a:tcPr marL="133350" marR="114300" marT="114300" marB="95250">
                    <a:solidFill>
                      <a:srgbClr val="101F2C"/>
                    </a:solidFill>
                  </a:tcPr>
                </a:tc>
              </a:tr>
              <a:tr h="750570">
                <a:tc>
                  <a:txBody>
                    <a:bodyPr/>
                    <a:lstStyle/>
                    <a:p>
                      <a:r>
                        <a:rPr sz="1275">
                          <a:solidFill>
                            <a:srgbClr val="F4F8FB"/>
                          </a:solidFill>
                          <a:latin typeface="Avenir Next"/>
                          <a:ea typeface="Avenir Next"/>
                          <a:cs typeface="Avenir Next"/>
                        </a:rPr>
                        <a:t>4</a:t>
                      </a:r>
                    </a:p>
                  </a:txBody>
                  <a:tcPr marL="133350" marR="114300" marT="114300" marB="95250">
                    <a:solidFill>
                      <a:srgbClr val="10332E"/>
                    </a:solidFill>
                  </a:tcPr>
                </a:tc>
                <a:tc>
                  <a:txBody>
                    <a:bodyPr/>
                    <a:lstStyle/>
                    <a:p>
                      <a:r>
                        <a:rPr sz="1275">
                          <a:solidFill>
                            <a:srgbClr val="F4F8FB"/>
                          </a:solidFill>
                          <a:latin typeface="Avenir Next"/>
                          <a:ea typeface="Avenir Next"/>
                          <a:cs typeface="Avenir Next"/>
                        </a:rPr>
                        <a:t>Program confidence and VU meters</a:t>
                      </a:r>
                    </a:p>
                  </a:txBody>
                  <a:tcPr marL="133350" marR="114300" marT="114300" marB="95250">
                    <a:solidFill>
                      <a:srgbClr val="10332E"/>
                    </a:solidFill>
                  </a:tcPr>
                </a:tc>
                <a:tc>
                  <a:txBody>
                    <a:bodyPr/>
                    <a:lstStyle/>
                    <a:p>
                      <a:r>
                        <a:rPr sz="1275">
                          <a:solidFill>
                            <a:srgbClr val="F4F8FB"/>
                          </a:solidFill>
                          <a:latin typeface="Avenir Next"/>
                          <a:ea typeface="Avenir Next"/>
                          <a:cs typeface="Avenir Next"/>
                        </a:rPr>
                        <a:t>Visible output plus native audio presence</a:t>
                      </a:r>
                    </a:p>
                  </a:txBody>
                  <a:tcPr marL="133350" marR="114300" marT="114300" marB="95250">
                    <a:solidFill>
                      <a:srgbClr val="10332E"/>
                    </a:solidFill>
                  </a:tcPr>
                </a:tc>
                <a:tc>
                  <a:txBody>
                    <a:bodyPr/>
                    <a:lstStyle/>
                    <a:p>
                      <a:r>
                        <a:rPr sz="1350" b="1">
                          <a:solidFill>
                            <a:srgbClr val="83E28E"/>
                          </a:solidFill>
                          <a:latin typeface="Avenir Next"/>
                          <a:ea typeface="Avenir Next"/>
                          <a:cs typeface="Avenir Next"/>
                        </a:rPr>
                        <a:t>Mute browser audio; explain next gate</a:t>
                      </a:r>
                    </a:p>
                  </a:txBody>
                  <a:tcPr marL="133350" marR="114300" marT="114300" marB="95250">
                    <a:solidFill>
                      <a:srgbClr val="10332E"/>
                    </a:solidFill>
                  </a:tcPr>
                </a:tc>
              </a:tr>
            </a:tbl>
          </a:graphicData>
        </a:graphic>
      </p:graphicFrame>
      <p:sp>
        <p:nvSpPr>
          <p:cNvPr id="5" name="">
            <a:extLst xmlns:a="http://schemas.openxmlformats.org/drawingml/2006/main">
              <a:ext uri="{FF2B5EF4-FFF2-40B4-BE49-F238E27FC236}">
                <a16:creationId xmlns:a16="http://schemas.microsoft.com/office/drawing/2014/main" id="{CDDA24A7-15D6-4DA6-B63D-68D4304307B9}"/>
              </a:ext>
            </a:extLst>
          </p:cNvPr>
          <p:cNvSpPr>
            <a:spLocks xmlns:a="http://schemas.openxmlformats.org/drawingml/2006/main" noGrp="1"/>
          </p:cNvSpPr>
          <p:nvPr/>
        </p:nvSpPr>
        <p:spPr>
          <a:xfrm xmlns:a="http://schemas.openxmlformats.org/drawingml/2006/main">
            <a:off x="838200" y="5715000"/>
            <a:ext cx="10515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875" b="1">
                <a:solidFill>
                  <a:srgbClr val="F4F8FB"/>
                </a:solidFill>
                <a:latin typeface="Avenir Next"/>
                <a:ea typeface="Avenir Next"/>
                <a:cs typeface="Avenir Next"/>
              </a:defRPr>
            </a:pPr>
            <a:r>
              <a:rPr sz="1875" b="1">
                <a:solidFill>
                  <a:srgbClr val="F4F8FB"/>
                </a:solidFill>
                <a:latin typeface="Avenir Next"/>
                <a:ea typeface="Avenir Next"/>
                <a:cs typeface="Avenir Next"/>
              </a:rPr>
              <a:t>End on a direct source in Program and a prepared composition in Preview. Do not restart ZoomISO, Core, or a live ME bank during the session.</a:t>
            </a:r>
          </a:p>
        </p:txBody>
      </p:sp>
      <p:sp>
        <p:nvSpPr>
          <p:cNvPr id="6" name="">
            <a:extLst xmlns:a="http://schemas.openxmlformats.org/drawingml/2006/main">
              <a:ext uri="{FF2B5EF4-FFF2-40B4-BE49-F238E27FC236}">
                <a16:creationId xmlns:a16="http://schemas.microsoft.com/office/drawing/2014/main" id="{5B871C6F-A15B-45B6-A463-01E588894B89}"/>
              </a:ext>
            </a:extLst>
          </p:cNvPr>
          <p:cNvSpPr>
            <a:spLocks xmlns:a="http://schemas.openxmlformats.org/drawingml/2006/main" noGrp="1"/>
          </p:cNvSpPr>
          <p:nvPr/>
        </p:nvSpPr>
        <p:spPr>
          <a:xfrm xmlns:a="http://schemas.openxmlformats.org/drawingml/2006/main">
            <a:off x="609600" y="64674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Eight-to-ten-minute run of show</a:t>
            </a:r>
          </a:p>
        </p:txBody>
      </p:sp>
      <p:sp>
        <p:nvSpPr>
          <p:cNvPr id="7" name="">
            <a:extLst xmlns:a="http://schemas.openxmlformats.org/drawingml/2006/main">
              <a:ext uri="{FF2B5EF4-FFF2-40B4-BE49-F238E27FC236}">
                <a16:creationId xmlns:a16="http://schemas.microsoft.com/office/drawing/2014/main" id="{480B7CA5-5B5B-493D-9BCB-AFDF7878CD29}"/>
              </a:ext>
            </a:extLst>
          </p:cNvPr>
          <p:cNvSpPr>
            <a:spLocks xmlns:a="http://schemas.openxmlformats.org/drawingml/2006/main" noGrp="1"/>
          </p:cNvSpPr>
          <p:nvPr/>
        </p:nvSpPr>
        <p:spPr>
          <a:xfrm xmlns:a="http://schemas.openxmlformats.org/drawingml/2006/main">
            <a:off x="11239500" y="6467475"/>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r">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19</a:t>
            </a:r>
          </a:p>
        </p:txBody>
      </p:sp>
    </p:spTree>
    <p:extLst>
      <p:ext uri="{BB962C8B-B14F-4D97-AF65-F5344CB8AC3E}">
        <p14:creationId xmlns:p14="http://schemas.microsoft.com/office/powerpoint/2010/main" val="1144726209"/>
      </p:ext>
    </p:extLst>
  </p:cSld>
</p:sld>
</file>

<file path=ppt/slides/slide20.xml><?xml version="1.0" encoding="utf-8"?>
<p:sld xmlns:p="http://schemas.openxmlformats.org/presentationml/2006/main">
  <p:cSld>
    <p:bg>
      <p:bgPr>
        <a:solidFill xmlns:a="http://schemas.openxmlformats.org/drawingml/2006/main">
          <a:srgbClr val="071018"/>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EEFA9155-4688-4AEC-A0D2-C210172DA421}"/>
              </a:ext>
            </a:extLst>
          </p:cNvPr>
          <p:cNvSpPr>
            <a:spLocks xmlns:a="http://schemas.openxmlformats.org/drawingml/2006/main" noGrp="1"/>
          </p:cNvSpPr>
          <p:nvPr/>
        </p:nvSpPr>
        <p:spPr>
          <a:xfrm xmlns:a="http://schemas.openxmlformats.org/drawingml/2006/main">
            <a:off x="609600" y="3619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4F8FB"/>
                </a:solidFill>
                <a:latin typeface="Avenir Next"/>
                <a:ea typeface="Avenir Next"/>
                <a:cs typeface="Avenir Next"/>
              </a:defRPr>
            </a:defPPr>
          </a:lstStyle>
          <a:p xmlns:a="http://schemas.openxmlformats.org/drawingml/2006/main">
            <a:pPr algn="l">
              <a:buNone/>
              <a:defRPr sz="3150" b="1">
                <a:solidFill>
                  <a:srgbClr val="F4F8FB"/>
                </a:solidFill>
                <a:latin typeface="Avenir Next"/>
                <a:ea typeface="Avenir Next"/>
                <a:cs typeface="Avenir Next"/>
              </a:defRPr>
            </a:pPr>
            <a:r>
              <a:rPr sz="3150" b="1">
                <a:solidFill>
                  <a:srgbClr val="F4F8FB"/>
                </a:solidFill>
                <a:latin typeface="Avenir Next"/>
                <a:ea typeface="Avenir Next"/>
                <a:cs typeface="Avenir Next"/>
              </a:rPr>
              <a:t>Seven- and eight-picture looks</a:t>
            </a:r>
          </a:p>
        </p:txBody>
      </p:sp>
      <p:sp>
        <p:nvSpPr>
          <p:cNvPr id="2" name="">
            <a:extLst xmlns:a="http://schemas.openxmlformats.org/drawingml/2006/main">
              <a:ext uri="{FF2B5EF4-FFF2-40B4-BE49-F238E27FC236}">
                <a16:creationId xmlns:a16="http://schemas.microsoft.com/office/drawing/2014/main" id="{995D45C1-705C-4E43-9BBA-5015B80A8D09}"/>
              </a:ext>
            </a:extLst>
          </p:cNvPr>
          <p:cNvSpPr>
            <a:spLocks xmlns:a="http://schemas.openxmlformats.org/drawingml/2006/main" noGrp="1"/>
          </p:cNvSpPr>
          <p:nvPr/>
        </p:nvSpPr>
        <p:spPr>
          <a:xfrm xmlns:a="http://schemas.openxmlformats.org/drawingml/2006/main">
            <a:off x="628650" y="9525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A9BAC8"/>
                </a:solidFill>
                <a:latin typeface="Avenir Next"/>
                <a:ea typeface="Avenir Next"/>
                <a:cs typeface="Avenir Next"/>
              </a:defRPr>
            </a:defPPr>
          </a:lstStyle>
          <a:p xmlns:a="http://schemas.openxmlformats.org/drawingml/2006/main">
            <a:pPr algn="l">
              <a:buNone/>
              <a:defRPr sz="1500" b="0">
                <a:solidFill>
                  <a:srgbClr val="A9BAC8"/>
                </a:solidFill>
                <a:latin typeface="Avenir Next"/>
                <a:ea typeface="Avenir Next"/>
                <a:cs typeface="Avenir Next"/>
              </a:defRPr>
            </a:pPr>
            <a:r>
              <a:rPr sz="1500" b="0">
                <a:solidFill>
                  <a:srgbClr val="A9BAC8"/>
                </a:solidFill>
                <a:latin typeface="Avenir Next"/>
                <a:ea typeface="Avenir Next"/>
                <a:cs typeface="Avenir Next"/>
              </a:rPr>
              <a:t>Side-by-side PiPs stay visually simple while each source keeps an attached graphics strip</a:t>
            </a:r>
          </a:p>
        </p:txBody>
      </p:sp>
      <p:sp>
        <p:nvSpPr>
          <p:cNvPr id="3" name="">
            <a:extLst xmlns:a="http://schemas.openxmlformats.org/drawingml/2006/main">
              <a:ext uri="{FF2B5EF4-FFF2-40B4-BE49-F238E27FC236}">
                <a16:creationId xmlns:a16="http://schemas.microsoft.com/office/drawing/2014/main" id="{1E20ECB9-8ABC-4994-AADF-702EA7AEF81F}"/>
              </a:ext>
            </a:extLst>
          </p:cNvPr>
          <p:cNvSpPr>
            <a:spLocks xmlns:a="http://schemas.openxmlformats.org/drawingml/2006/main" noGrp="1"/>
          </p:cNvSpPr>
          <p:nvPr/>
        </p:nvSpPr>
        <p:spPr>
          <a:xfrm xmlns:a="http://schemas.openxmlformats.org/drawingml/2006/main">
            <a:off x="609600" y="1362075"/>
            <a:ext cx="819150" cy="38100"/>
          </a:xfrm>
          <a:prstGeom xmlns:a="http://schemas.openxmlformats.org/drawingml/2006/main" prst="rect">
            <a:avLst/>
          </a:prstGeom>
          <a:solidFill xmlns:a="http://schemas.openxmlformats.org/drawingml/2006/main">
            <a:srgbClr val="36D4C5"/>
          </a:solidFill>
          <a:ln xmlns:a="http://schemas.openxmlformats.org/drawingml/2006/main" w="0">
            <a:noFill/>
            <a:prstDash val="solid"/>
          </a:ln>
        </p:spPr>
        <p:txBody>
          <a:bodyPr xmlns:a="http://schemas.openxmlformats.org/drawingml/2006/main"/>
          <a:lstStyle xmlns:a="http://schemas.openxmlformats.org/drawingml/2006/main">
            <a:defPPr algn="l">
              <a:defRPr sz="1350" b="0">
                <a:solidFill>
                  <a:srgbClr val="F4F8FB"/>
                </a:solidFill>
                <a:latin typeface="Avenir Next"/>
                <a:ea typeface="Avenir Next"/>
                <a:cs typeface="Avenir Next"/>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950C644B-1596-4115-BC47-879CC90860CC}"/>
              </a:ext>
            </a:extLst>
          </p:cNvPr>
          <p:cNvSpPr>
            <a:spLocks xmlns:a="http://schemas.openxmlformats.org/drawingml/2006/main" noGrp="1"/>
          </p:cNvSpPr>
          <p:nvPr/>
        </p:nvSpPr>
        <p:spPr>
          <a:xfrm xmlns:a="http://schemas.openxmlformats.org/drawingml/2006/main">
            <a:off x="609600" y="1657350"/>
            <a:ext cx="525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a:solidFill>
                  <a:srgbClr val="FFB85C"/>
                </a:solidFill>
                <a:latin typeface="Avenir Next"/>
                <a:ea typeface="Avenir Next"/>
                <a:cs typeface="Avenir Next"/>
              </a:defRPr>
            </a:defPPr>
          </a:lstStyle>
          <a:p xmlns:a="http://schemas.openxmlformats.org/drawingml/2006/main">
            <a:pPr algn="l">
              <a:buNone/>
              <a:defRPr sz="1350" b="1">
                <a:solidFill>
                  <a:srgbClr val="FFB85C"/>
                </a:solidFill>
                <a:latin typeface="Avenir Next"/>
                <a:ea typeface="Avenir Next"/>
                <a:cs typeface="Avenir Next"/>
              </a:defRPr>
            </a:pPr>
            <a:r>
              <a:rPr sz="1350" b="1">
                <a:solidFill>
                  <a:srgbClr val="FFB85C"/>
                </a:solidFill>
                <a:latin typeface="Avenir Next"/>
                <a:ea typeface="Avenir Next"/>
                <a:cs typeface="Avenir Next"/>
              </a:rPr>
              <a:t>7-UP LOOK · FOUR PLUS THREE</a:t>
            </a:r>
          </a:p>
        </p:txBody>
      </p:sp>
      <p:sp>
        <p:nvSpPr>
          <p:cNvPr id="5" name="">
            <a:extLst xmlns:a="http://schemas.openxmlformats.org/drawingml/2006/main">
              <a:ext uri="{FF2B5EF4-FFF2-40B4-BE49-F238E27FC236}">
                <a16:creationId xmlns:a16="http://schemas.microsoft.com/office/drawing/2014/main" id="{8E31E9F4-C749-4B31-88A5-8E931702B359}"/>
              </a:ext>
            </a:extLst>
          </p:cNvPr>
          <p:cNvSpPr>
            <a:spLocks xmlns:a="http://schemas.openxmlformats.org/drawingml/2006/main" noGrp="1"/>
          </p:cNvSpPr>
          <p:nvPr/>
        </p:nvSpPr>
        <p:spPr>
          <a:xfrm xmlns:a="http://schemas.openxmlformats.org/drawingml/2006/main">
            <a:off x="609600" y="2019300"/>
            <a:ext cx="5257800" cy="3162300"/>
          </a:xfrm>
          <a:prstGeom xmlns:a="http://schemas.openxmlformats.org/drawingml/2006/main" prst="roundRect">
            <a:avLst>
              <a:gd name="adj" fmla="val 2410"/>
            </a:avLst>
          </a:prstGeom>
          <a:solidFill xmlns:a="http://schemas.openxmlformats.org/drawingml/2006/main">
            <a:srgbClr val="101F2C"/>
          </a:solidFill>
          <a:ln xmlns:a="http://schemas.openxmlformats.org/drawingml/2006/main" w="14288">
            <a:solidFill>
              <a:srgbClr val="294151"/>
            </a:solidFill>
            <a:prstDash val="solid"/>
          </a:ln>
        </p:spPr>
        <p:txBody>
          <a:bodyPr xmlns:a="http://schemas.openxmlformats.org/drawingml/2006/main"/>
          <a:lstStyle xmlns:a="http://schemas.openxmlformats.org/drawingml/2006/main">
            <a:defPPr algn="l">
              <a:defRPr sz="1350" b="0">
                <a:solidFill>
                  <a:srgbClr val="F4F8FB"/>
                </a:solidFill>
                <a:latin typeface="Avenir Next"/>
                <a:ea typeface="Avenir Next"/>
                <a:cs typeface="Avenir Next"/>
              </a:defRPr>
            </a:defPPr>
          </a:lstStyle>
          <a:p xmlns:a="http://schemas.openxmlformats.org/drawingml/2006/main">
            <a:r>
              <a:t/>
            </a:r>
          </a:p>
        </p:txBody>
      </p:sp>
      <p:sp>
        <p:nvSpPr>
          <p:cNvPr id="6" name="">
            <a:extLst xmlns:a="http://schemas.openxmlformats.org/drawingml/2006/main">
              <a:ext uri="{FF2B5EF4-FFF2-40B4-BE49-F238E27FC236}">
                <a16:creationId xmlns:a16="http://schemas.microsoft.com/office/drawing/2014/main" id="{89B4E3FC-F2C4-4BF3-A394-59DACA694C5F}"/>
              </a:ext>
            </a:extLst>
          </p:cNvPr>
          <p:cNvSpPr>
            <a:spLocks xmlns:a="http://schemas.openxmlformats.org/drawingml/2006/main" noGrp="1"/>
          </p:cNvSpPr>
          <p:nvPr/>
        </p:nvSpPr>
        <p:spPr>
          <a:xfrm xmlns:a="http://schemas.openxmlformats.org/drawingml/2006/main">
            <a:off x="885825" y="2247900"/>
            <a:ext cx="1104900" cy="876300"/>
          </a:xfrm>
          <a:prstGeom xmlns:a="http://schemas.openxmlformats.org/drawingml/2006/main" prst="rect">
            <a:avLst/>
          </a:prstGeom>
          <a:solidFill xmlns:a="http://schemas.openxmlformats.org/drawingml/2006/main">
            <a:srgbClr val="152A38"/>
          </a:solidFill>
          <a:ln xmlns:a="http://schemas.openxmlformats.org/drawingml/2006/main" w="11430">
            <a:solidFill>
              <a:srgbClr val="48C7FF"/>
            </a:solidFill>
            <a:prstDash val="solid"/>
          </a:ln>
        </p:spPr>
        <p:txBody>
          <a:bodyPr xmlns:a="http://schemas.openxmlformats.org/drawingml/2006/main"/>
          <a:lstStyle xmlns:a="http://schemas.openxmlformats.org/drawingml/2006/main">
            <a:defPPr algn="ctr">
              <a:defRPr sz="1200" b="1">
                <a:solidFill>
                  <a:srgbClr val="F4F8FB"/>
                </a:solidFill>
                <a:latin typeface="Avenir Next"/>
                <a:ea typeface="Avenir Next"/>
                <a:cs typeface="Avenir Next"/>
              </a:defRPr>
            </a:defPPr>
          </a:lstStyle>
          <a:p xmlns:a="http://schemas.openxmlformats.org/drawingml/2006/main">
            <a:pPr algn="ctr">
              <a:buNone/>
              <a:defRPr sz="1200" b="1">
                <a:solidFill>
                  <a:srgbClr val="F4F8FB"/>
                </a:solidFill>
                <a:latin typeface="Avenir Next"/>
                <a:ea typeface="Avenir Next"/>
                <a:cs typeface="Avenir Next"/>
              </a:defRPr>
            </a:pPr>
            <a:r>
              <a:rPr sz="1200" b="1">
                <a:solidFill>
                  <a:srgbClr val="F4F8FB"/>
                </a:solidFill>
                <a:latin typeface="Avenir Next"/>
                <a:ea typeface="Avenir Next"/>
                <a:cs typeface="Avenir Next"/>
              </a:rPr>
              <a:t>CAM 1</a:t>
            </a:r>
          </a:p>
        </p:txBody>
      </p:sp>
      <p:sp>
        <p:nvSpPr>
          <p:cNvPr id="7" name="">
            <a:extLst xmlns:a="http://schemas.openxmlformats.org/drawingml/2006/main">
              <a:ext uri="{FF2B5EF4-FFF2-40B4-BE49-F238E27FC236}">
                <a16:creationId xmlns:a16="http://schemas.microsoft.com/office/drawing/2014/main" id="{E0E7555B-4EC9-479E-9878-6F880A5A3335}"/>
              </a:ext>
            </a:extLst>
          </p:cNvPr>
          <p:cNvSpPr>
            <a:spLocks xmlns:a="http://schemas.openxmlformats.org/drawingml/2006/main" noGrp="1"/>
          </p:cNvSpPr>
          <p:nvPr/>
        </p:nvSpPr>
        <p:spPr>
          <a:xfrm xmlns:a="http://schemas.openxmlformats.org/drawingml/2006/main">
            <a:off x="885825" y="3124200"/>
            <a:ext cx="1104900" cy="190500"/>
          </a:xfrm>
          <a:prstGeom xmlns:a="http://schemas.openxmlformats.org/drawingml/2006/main" prst="rect">
            <a:avLst/>
          </a:prstGeom>
          <a:solidFill xmlns:a="http://schemas.openxmlformats.org/drawingml/2006/main">
            <a:srgbClr val="36D4C5"/>
          </a:solidFill>
          <a:ln xmlns:a="http://schemas.openxmlformats.org/drawingml/2006/main" w="0">
            <a:solidFill>
              <a:srgbClr val="36D4C5"/>
            </a:solidFill>
            <a:prstDash val="solid"/>
          </a:ln>
        </p:spPr>
        <p:txBody>
          <a:bodyPr xmlns:a="http://schemas.openxmlformats.org/drawingml/2006/main"/>
          <a:lstStyle xmlns:a="http://schemas.openxmlformats.org/drawingml/2006/main">
            <a:defPPr algn="ctr">
              <a:defRPr sz="750" b="1">
                <a:solidFill>
                  <a:srgbClr val="071018"/>
                </a:solidFill>
                <a:latin typeface="Avenir Next"/>
                <a:ea typeface="Avenir Next"/>
                <a:cs typeface="Avenir Next"/>
              </a:defRPr>
            </a:defPPr>
          </a:lstStyle>
          <a:p xmlns:a="http://schemas.openxmlformats.org/drawingml/2006/main">
            <a:pPr algn="ctr">
              <a:buNone/>
              <a:defRPr sz="750" b="1">
                <a:solidFill>
                  <a:srgbClr val="071018"/>
                </a:solidFill>
                <a:latin typeface="Avenir Next"/>
                <a:ea typeface="Avenir Next"/>
                <a:cs typeface="Avenir Next"/>
              </a:defRPr>
            </a:pPr>
            <a:r>
              <a:rPr sz="750" b="1">
                <a:solidFill>
                  <a:srgbClr val="071018"/>
                </a:solidFill>
                <a:latin typeface="Avenir Next"/>
                <a:ea typeface="Avenir Next"/>
                <a:cs typeface="Avenir Next"/>
              </a:rPr>
              <a:t>NAME 1</a:t>
            </a:r>
          </a:p>
        </p:txBody>
      </p:sp>
      <p:sp>
        <p:nvSpPr>
          <p:cNvPr id="8" name="">
            <a:extLst xmlns:a="http://schemas.openxmlformats.org/drawingml/2006/main">
              <a:ext uri="{FF2B5EF4-FFF2-40B4-BE49-F238E27FC236}">
                <a16:creationId xmlns:a16="http://schemas.microsoft.com/office/drawing/2014/main" id="{3E507EEA-606D-4A3D-AAF1-A1081721FFE5}"/>
              </a:ext>
            </a:extLst>
          </p:cNvPr>
          <p:cNvSpPr>
            <a:spLocks xmlns:a="http://schemas.openxmlformats.org/drawingml/2006/main" noGrp="1"/>
          </p:cNvSpPr>
          <p:nvPr/>
        </p:nvSpPr>
        <p:spPr>
          <a:xfrm xmlns:a="http://schemas.openxmlformats.org/drawingml/2006/main">
            <a:off x="2085975" y="2247900"/>
            <a:ext cx="1104900" cy="876300"/>
          </a:xfrm>
          <a:prstGeom xmlns:a="http://schemas.openxmlformats.org/drawingml/2006/main" prst="rect">
            <a:avLst/>
          </a:prstGeom>
          <a:solidFill xmlns:a="http://schemas.openxmlformats.org/drawingml/2006/main">
            <a:srgbClr val="152A38"/>
          </a:solidFill>
          <a:ln xmlns:a="http://schemas.openxmlformats.org/drawingml/2006/main" w="11430">
            <a:solidFill>
              <a:srgbClr val="48C7FF"/>
            </a:solidFill>
            <a:prstDash val="solid"/>
          </a:ln>
        </p:spPr>
        <p:txBody>
          <a:bodyPr xmlns:a="http://schemas.openxmlformats.org/drawingml/2006/main"/>
          <a:lstStyle xmlns:a="http://schemas.openxmlformats.org/drawingml/2006/main">
            <a:defPPr algn="ctr">
              <a:defRPr sz="1200" b="1">
                <a:solidFill>
                  <a:srgbClr val="F4F8FB"/>
                </a:solidFill>
                <a:latin typeface="Avenir Next"/>
                <a:ea typeface="Avenir Next"/>
                <a:cs typeface="Avenir Next"/>
              </a:defRPr>
            </a:defPPr>
          </a:lstStyle>
          <a:p xmlns:a="http://schemas.openxmlformats.org/drawingml/2006/main">
            <a:pPr algn="ctr">
              <a:buNone/>
              <a:defRPr sz="1200" b="1">
                <a:solidFill>
                  <a:srgbClr val="F4F8FB"/>
                </a:solidFill>
                <a:latin typeface="Avenir Next"/>
                <a:ea typeface="Avenir Next"/>
                <a:cs typeface="Avenir Next"/>
              </a:defRPr>
            </a:pPr>
            <a:r>
              <a:rPr sz="1200" b="1">
                <a:solidFill>
                  <a:srgbClr val="F4F8FB"/>
                </a:solidFill>
                <a:latin typeface="Avenir Next"/>
                <a:ea typeface="Avenir Next"/>
                <a:cs typeface="Avenir Next"/>
              </a:rPr>
              <a:t>CAM 2</a:t>
            </a:r>
          </a:p>
        </p:txBody>
      </p:sp>
      <p:sp>
        <p:nvSpPr>
          <p:cNvPr id="9" name="">
            <a:extLst xmlns:a="http://schemas.openxmlformats.org/drawingml/2006/main">
              <a:ext uri="{FF2B5EF4-FFF2-40B4-BE49-F238E27FC236}">
                <a16:creationId xmlns:a16="http://schemas.microsoft.com/office/drawing/2014/main" id="{60E65BB6-F3ED-4659-911B-DDDA2DBCF15C}"/>
              </a:ext>
            </a:extLst>
          </p:cNvPr>
          <p:cNvSpPr>
            <a:spLocks xmlns:a="http://schemas.openxmlformats.org/drawingml/2006/main" noGrp="1"/>
          </p:cNvSpPr>
          <p:nvPr/>
        </p:nvSpPr>
        <p:spPr>
          <a:xfrm xmlns:a="http://schemas.openxmlformats.org/drawingml/2006/main">
            <a:off x="2085975" y="3124200"/>
            <a:ext cx="1104900" cy="190500"/>
          </a:xfrm>
          <a:prstGeom xmlns:a="http://schemas.openxmlformats.org/drawingml/2006/main" prst="rect">
            <a:avLst/>
          </a:prstGeom>
          <a:solidFill xmlns:a="http://schemas.openxmlformats.org/drawingml/2006/main">
            <a:srgbClr val="36D4C5"/>
          </a:solidFill>
          <a:ln xmlns:a="http://schemas.openxmlformats.org/drawingml/2006/main" w="0">
            <a:solidFill>
              <a:srgbClr val="36D4C5"/>
            </a:solidFill>
            <a:prstDash val="solid"/>
          </a:ln>
        </p:spPr>
        <p:txBody>
          <a:bodyPr xmlns:a="http://schemas.openxmlformats.org/drawingml/2006/main"/>
          <a:lstStyle xmlns:a="http://schemas.openxmlformats.org/drawingml/2006/main">
            <a:defPPr algn="ctr">
              <a:defRPr sz="750" b="1">
                <a:solidFill>
                  <a:srgbClr val="071018"/>
                </a:solidFill>
                <a:latin typeface="Avenir Next"/>
                <a:ea typeface="Avenir Next"/>
                <a:cs typeface="Avenir Next"/>
              </a:defRPr>
            </a:defPPr>
          </a:lstStyle>
          <a:p xmlns:a="http://schemas.openxmlformats.org/drawingml/2006/main">
            <a:pPr algn="ctr">
              <a:buNone/>
              <a:defRPr sz="750" b="1">
                <a:solidFill>
                  <a:srgbClr val="071018"/>
                </a:solidFill>
                <a:latin typeface="Avenir Next"/>
                <a:ea typeface="Avenir Next"/>
                <a:cs typeface="Avenir Next"/>
              </a:defRPr>
            </a:pPr>
            <a:r>
              <a:rPr sz="750" b="1">
                <a:solidFill>
                  <a:srgbClr val="071018"/>
                </a:solidFill>
                <a:latin typeface="Avenir Next"/>
                <a:ea typeface="Avenir Next"/>
                <a:cs typeface="Avenir Next"/>
              </a:rPr>
              <a:t>NAME 2</a:t>
            </a:r>
          </a:p>
        </p:txBody>
      </p:sp>
      <p:sp>
        <p:nvSpPr>
          <p:cNvPr id="10" name="">
            <a:extLst xmlns:a="http://schemas.openxmlformats.org/drawingml/2006/main">
              <a:ext uri="{FF2B5EF4-FFF2-40B4-BE49-F238E27FC236}">
                <a16:creationId xmlns:a16="http://schemas.microsoft.com/office/drawing/2014/main" id="{524ACF7C-8FD6-4594-ADF0-CE79D8576F09}"/>
              </a:ext>
            </a:extLst>
          </p:cNvPr>
          <p:cNvSpPr>
            <a:spLocks xmlns:a="http://schemas.openxmlformats.org/drawingml/2006/main" noGrp="1"/>
          </p:cNvSpPr>
          <p:nvPr/>
        </p:nvSpPr>
        <p:spPr>
          <a:xfrm xmlns:a="http://schemas.openxmlformats.org/drawingml/2006/main">
            <a:off x="3286125" y="2247900"/>
            <a:ext cx="1104900" cy="876300"/>
          </a:xfrm>
          <a:prstGeom xmlns:a="http://schemas.openxmlformats.org/drawingml/2006/main" prst="rect">
            <a:avLst/>
          </a:prstGeom>
          <a:solidFill xmlns:a="http://schemas.openxmlformats.org/drawingml/2006/main">
            <a:srgbClr val="152A38"/>
          </a:solidFill>
          <a:ln xmlns:a="http://schemas.openxmlformats.org/drawingml/2006/main" w="11430">
            <a:solidFill>
              <a:srgbClr val="48C7FF"/>
            </a:solidFill>
            <a:prstDash val="solid"/>
          </a:ln>
        </p:spPr>
        <p:txBody>
          <a:bodyPr xmlns:a="http://schemas.openxmlformats.org/drawingml/2006/main"/>
          <a:lstStyle xmlns:a="http://schemas.openxmlformats.org/drawingml/2006/main">
            <a:defPPr algn="ctr">
              <a:defRPr sz="1200" b="1">
                <a:solidFill>
                  <a:srgbClr val="F4F8FB"/>
                </a:solidFill>
                <a:latin typeface="Avenir Next"/>
                <a:ea typeface="Avenir Next"/>
                <a:cs typeface="Avenir Next"/>
              </a:defRPr>
            </a:defPPr>
          </a:lstStyle>
          <a:p xmlns:a="http://schemas.openxmlformats.org/drawingml/2006/main">
            <a:pPr algn="ctr">
              <a:buNone/>
              <a:defRPr sz="1200" b="1">
                <a:solidFill>
                  <a:srgbClr val="F4F8FB"/>
                </a:solidFill>
                <a:latin typeface="Avenir Next"/>
                <a:ea typeface="Avenir Next"/>
                <a:cs typeface="Avenir Next"/>
              </a:defRPr>
            </a:pPr>
            <a:r>
              <a:rPr sz="1200" b="1">
                <a:solidFill>
                  <a:srgbClr val="F4F8FB"/>
                </a:solidFill>
                <a:latin typeface="Avenir Next"/>
                <a:ea typeface="Avenir Next"/>
                <a:cs typeface="Avenir Next"/>
              </a:rPr>
              <a:t>CAM 3</a:t>
            </a:r>
          </a:p>
        </p:txBody>
      </p:sp>
      <p:sp>
        <p:nvSpPr>
          <p:cNvPr id="11" name="">
            <a:extLst xmlns:a="http://schemas.openxmlformats.org/drawingml/2006/main">
              <a:ext uri="{FF2B5EF4-FFF2-40B4-BE49-F238E27FC236}">
                <a16:creationId xmlns:a16="http://schemas.microsoft.com/office/drawing/2014/main" id="{D49086D6-B9F3-4C23-9558-70F87A345435}"/>
              </a:ext>
            </a:extLst>
          </p:cNvPr>
          <p:cNvSpPr>
            <a:spLocks xmlns:a="http://schemas.openxmlformats.org/drawingml/2006/main" noGrp="1"/>
          </p:cNvSpPr>
          <p:nvPr/>
        </p:nvSpPr>
        <p:spPr>
          <a:xfrm xmlns:a="http://schemas.openxmlformats.org/drawingml/2006/main">
            <a:off x="3286125" y="3124200"/>
            <a:ext cx="1104900" cy="190500"/>
          </a:xfrm>
          <a:prstGeom xmlns:a="http://schemas.openxmlformats.org/drawingml/2006/main" prst="rect">
            <a:avLst/>
          </a:prstGeom>
          <a:solidFill xmlns:a="http://schemas.openxmlformats.org/drawingml/2006/main">
            <a:srgbClr val="36D4C5"/>
          </a:solidFill>
          <a:ln xmlns:a="http://schemas.openxmlformats.org/drawingml/2006/main" w="0">
            <a:solidFill>
              <a:srgbClr val="36D4C5"/>
            </a:solidFill>
            <a:prstDash val="solid"/>
          </a:ln>
        </p:spPr>
        <p:txBody>
          <a:bodyPr xmlns:a="http://schemas.openxmlformats.org/drawingml/2006/main"/>
          <a:lstStyle xmlns:a="http://schemas.openxmlformats.org/drawingml/2006/main">
            <a:defPPr algn="ctr">
              <a:defRPr sz="750" b="1">
                <a:solidFill>
                  <a:srgbClr val="071018"/>
                </a:solidFill>
                <a:latin typeface="Avenir Next"/>
                <a:ea typeface="Avenir Next"/>
                <a:cs typeface="Avenir Next"/>
              </a:defRPr>
            </a:defPPr>
          </a:lstStyle>
          <a:p xmlns:a="http://schemas.openxmlformats.org/drawingml/2006/main">
            <a:pPr algn="ctr">
              <a:buNone/>
              <a:defRPr sz="750" b="1">
                <a:solidFill>
                  <a:srgbClr val="071018"/>
                </a:solidFill>
                <a:latin typeface="Avenir Next"/>
                <a:ea typeface="Avenir Next"/>
                <a:cs typeface="Avenir Next"/>
              </a:defRPr>
            </a:pPr>
            <a:r>
              <a:rPr sz="750" b="1">
                <a:solidFill>
                  <a:srgbClr val="071018"/>
                </a:solidFill>
                <a:latin typeface="Avenir Next"/>
                <a:ea typeface="Avenir Next"/>
                <a:cs typeface="Avenir Next"/>
              </a:rPr>
              <a:t>NAME 3</a:t>
            </a:r>
          </a:p>
        </p:txBody>
      </p:sp>
      <p:sp>
        <p:nvSpPr>
          <p:cNvPr id="12" name="">
            <a:extLst xmlns:a="http://schemas.openxmlformats.org/drawingml/2006/main">
              <a:ext uri="{FF2B5EF4-FFF2-40B4-BE49-F238E27FC236}">
                <a16:creationId xmlns:a16="http://schemas.microsoft.com/office/drawing/2014/main" id="{9F85E273-30C1-40F0-BF17-DFE58F8541BA}"/>
              </a:ext>
            </a:extLst>
          </p:cNvPr>
          <p:cNvSpPr>
            <a:spLocks xmlns:a="http://schemas.openxmlformats.org/drawingml/2006/main" noGrp="1"/>
          </p:cNvSpPr>
          <p:nvPr/>
        </p:nvSpPr>
        <p:spPr>
          <a:xfrm xmlns:a="http://schemas.openxmlformats.org/drawingml/2006/main">
            <a:off x="4486275" y="2247900"/>
            <a:ext cx="1104900" cy="876300"/>
          </a:xfrm>
          <a:prstGeom xmlns:a="http://schemas.openxmlformats.org/drawingml/2006/main" prst="rect">
            <a:avLst/>
          </a:prstGeom>
          <a:solidFill xmlns:a="http://schemas.openxmlformats.org/drawingml/2006/main">
            <a:srgbClr val="152A38"/>
          </a:solidFill>
          <a:ln xmlns:a="http://schemas.openxmlformats.org/drawingml/2006/main" w="11430">
            <a:solidFill>
              <a:srgbClr val="48C7FF"/>
            </a:solidFill>
            <a:prstDash val="solid"/>
          </a:ln>
        </p:spPr>
        <p:txBody>
          <a:bodyPr xmlns:a="http://schemas.openxmlformats.org/drawingml/2006/main"/>
          <a:lstStyle xmlns:a="http://schemas.openxmlformats.org/drawingml/2006/main">
            <a:defPPr algn="ctr">
              <a:defRPr sz="1200" b="1">
                <a:solidFill>
                  <a:srgbClr val="F4F8FB"/>
                </a:solidFill>
                <a:latin typeface="Avenir Next"/>
                <a:ea typeface="Avenir Next"/>
                <a:cs typeface="Avenir Next"/>
              </a:defRPr>
            </a:defPPr>
          </a:lstStyle>
          <a:p xmlns:a="http://schemas.openxmlformats.org/drawingml/2006/main">
            <a:pPr algn="ctr">
              <a:buNone/>
              <a:defRPr sz="1200" b="1">
                <a:solidFill>
                  <a:srgbClr val="F4F8FB"/>
                </a:solidFill>
                <a:latin typeface="Avenir Next"/>
                <a:ea typeface="Avenir Next"/>
                <a:cs typeface="Avenir Next"/>
              </a:defRPr>
            </a:pPr>
            <a:r>
              <a:rPr sz="1200" b="1">
                <a:solidFill>
                  <a:srgbClr val="F4F8FB"/>
                </a:solidFill>
                <a:latin typeface="Avenir Next"/>
                <a:ea typeface="Avenir Next"/>
                <a:cs typeface="Avenir Next"/>
              </a:rPr>
              <a:t>CAM 4</a:t>
            </a:r>
          </a:p>
        </p:txBody>
      </p:sp>
      <p:sp>
        <p:nvSpPr>
          <p:cNvPr id="13" name="">
            <a:extLst xmlns:a="http://schemas.openxmlformats.org/drawingml/2006/main">
              <a:ext uri="{FF2B5EF4-FFF2-40B4-BE49-F238E27FC236}">
                <a16:creationId xmlns:a16="http://schemas.microsoft.com/office/drawing/2014/main" id="{A7614484-2FAC-4301-9F4E-D890A5130A39}"/>
              </a:ext>
            </a:extLst>
          </p:cNvPr>
          <p:cNvSpPr>
            <a:spLocks xmlns:a="http://schemas.openxmlformats.org/drawingml/2006/main" noGrp="1"/>
          </p:cNvSpPr>
          <p:nvPr/>
        </p:nvSpPr>
        <p:spPr>
          <a:xfrm xmlns:a="http://schemas.openxmlformats.org/drawingml/2006/main">
            <a:off x="4486275" y="3124200"/>
            <a:ext cx="1104900" cy="190500"/>
          </a:xfrm>
          <a:prstGeom xmlns:a="http://schemas.openxmlformats.org/drawingml/2006/main" prst="rect">
            <a:avLst/>
          </a:prstGeom>
          <a:solidFill xmlns:a="http://schemas.openxmlformats.org/drawingml/2006/main">
            <a:srgbClr val="36D4C5"/>
          </a:solidFill>
          <a:ln xmlns:a="http://schemas.openxmlformats.org/drawingml/2006/main" w="0">
            <a:solidFill>
              <a:srgbClr val="36D4C5"/>
            </a:solidFill>
            <a:prstDash val="solid"/>
          </a:ln>
        </p:spPr>
        <p:txBody>
          <a:bodyPr xmlns:a="http://schemas.openxmlformats.org/drawingml/2006/main"/>
          <a:lstStyle xmlns:a="http://schemas.openxmlformats.org/drawingml/2006/main">
            <a:defPPr algn="ctr">
              <a:defRPr sz="750" b="1">
                <a:solidFill>
                  <a:srgbClr val="071018"/>
                </a:solidFill>
                <a:latin typeface="Avenir Next"/>
                <a:ea typeface="Avenir Next"/>
                <a:cs typeface="Avenir Next"/>
              </a:defRPr>
            </a:defPPr>
          </a:lstStyle>
          <a:p xmlns:a="http://schemas.openxmlformats.org/drawingml/2006/main">
            <a:pPr algn="ctr">
              <a:buNone/>
              <a:defRPr sz="750" b="1">
                <a:solidFill>
                  <a:srgbClr val="071018"/>
                </a:solidFill>
                <a:latin typeface="Avenir Next"/>
                <a:ea typeface="Avenir Next"/>
                <a:cs typeface="Avenir Next"/>
              </a:defRPr>
            </a:pPr>
            <a:r>
              <a:rPr sz="750" b="1">
                <a:solidFill>
                  <a:srgbClr val="071018"/>
                </a:solidFill>
                <a:latin typeface="Avenir Next"/>
                <a:ea typeface="Avenir Next"/>
                <a:cs typeface="Avenir Next"/>
              </a:rPr>
              <a:t>NAME 4</a:t>
            </a:r>
          </a:p>
        </p:txBody>
      </p:sp>
      <p:sp>
        <p:nvSpPr>
          <p:cNvPr id="14" name="">
            <a:extLst xmlns:a="http://schemas.openxmlformats.org/drawingml/2006/main">
              <a:ext uri="{FF2B5EF4-FFF2-40B4-BE49-F238E27FC236}">
                <a16:creationId xmlns:a16="http://schemas.microsoft.com/office/drawing/2014/main" id="{C31DA804-721E-445C-B972-0195049E80BA}"/>
              </a:ext>
            </a:extLst>
          </p:cNvPr>
          <p:cNvSpPr>
            <a:spLocks xmlns:a="http://schemas.openxmlformats.org/drawingml/2006/main" noGrp="1"/>
          </p:cNvSpPr>
          <p:nvPr/>
        </p:nvSpPr>
        <p:spPr>
          <a:xfrm xmlns:a="http://schemas.openxmlformats.org/drawingml/2006/main">
            <a:off x="1485900" y="3486150"/>
            <a:ext cx="1104900" cy="876300"/>
          </a:xfrm>
          <a:prstGeom xmlns:a="http://schemas.openxmlformats.org/drawingml/2006/main" prst="rect">
            <a:avLst/>
          </a:prstGeom>
          <a:solidFill xmlns:a="http://schemas.openxmlformats.org/drawingml/2006/main">
            <a:srgbClr val="152A38"/>
          </a:solidFill>
          <a:ln xmlns:a="http://schemas.openxmlformats.org/drawingml/2006/main" w="11430">
            <a:solidFill>
              <a:srgbClr val="48C7FF"/>
            </a:solidFill>
            <a:prstDash val="solid"/>
          </a:ln>
        </p:spPr>
        <p:txBody>
          <a:bodyPr xmlns:a="http://schemas.openxmlformats.org/drawingml/2006/main"/>
          <a:lstStyle xmlns:a="http://schemas.openxmlformats.org/drawingml/2006/main">
            <a:defPPr algn="ctr">
              <a:defRPr sz="1200" b="1">
                <a:solidFill>
                  <a:srgbClr val="F4F8FB"/>
                </a:solidFill>
                <a:latin typeface="Avenir Next"/>
                <a:ea typeface="Avenir Next"/>
                <a:cs typeface="Avenir Next"/>
              </a:defRPr>
            </a:defPPr>
          </a:lstStyle>
          <a:p xmlns:a="http://schemas.openxmlformats.org/drawingml/2006/main">
            <a:pPr algn="ctr">
              <a:buNone/>
              <a:defRPr sz="1200" b="1">
                <a:solidFill>
                  <a:srgbClr val="F4F8FB"/>
                </a:solidFill>
                <a:latin typeface="Avenir Next"/>
                <a:ea typeface="Avenir Next"/>
                <a:cs typeface="Avenir Next"/>
              </a:defRPr>
            </a:pPr>
            <a:r>
              <a:rPr sz="1200" b="1">
                <a:solidFill>
                  <a:srgbClr val="F4F8FB"/>
                </a:solidFill>
                <a:latin typeface="Avenir Next"/>
                <a:ea typeface="Avenir Next"/>
                <a:cs typeface="Avenir Next"/>
              </a:rPr>
              <a:t>CAM 5</a:t>
            </a:r>
          </a:p>
        </p:txBody>
      </p:sp>
      <p:sp>
        <p:nvSpPr>
          <p:cNvPr id="15" name="">
            <a:extLst xmlns:a="http://schemas.openxmlformats.org/drawingml/2006/main">
              <a:ext uri="{FF2B5EF4-FFF2-40B4-BE49-F238E27FC236}">
                <a16:creationId xmlns:a16="http://schemas.microsoft.com/office/drawing/2014/main" id="{DAEE0C08-3FE8-46CE-A037-CF2CC75F380C}"/>
              </a:ext>
            </a:extLst>
          </p:cNvPr>
          <p:cNvSpPr>
            <a:spLocks xmlns:a="http://schemas.openxmlformats.org/drawingml/2006/main" noGrp="1"/>
          </p:cNvSpPr>
          <p:nvPr/>
        </p:nvSpPr>
        <p:spPr>
          <a:xfrm xmlns:a="http://schemas.openxmlformats.org/drawingml/2006/main">
            <a:off x="1485900" y="4362450"/>
            <a:ext cx="1104900" cy="190500"/>
          </a:xfrm>
          <a:prstGeom xmlns:a="http://schemas.openxmlformats.org/drawingml/2006/main" prst="rect">
            <a:avLst/>
          </a:prstGeom>
          <a:solidFill xmlns:a="http://schemas.openxmlformats.org/drawingml/2006/main">
            <a:srgbClr val="36D4C5"/>
          </a:solidFill>
          <a:ln xmlns:a="http://schemas.openxmlformats.org/drawingml/2006/main" w="0">
            <a:solidFill>
              <a:srgbClr val="36D4C5"/>
            </a:solidFill>
            <a:prstDash val="solid"/>
          </a:ln>
        </p:spPr>
        <p:txBody>
          <a:bodyPr xmlns:a="http://schemas.openxmlformats.org/drawingml/2006/main"/>
          <a:lstStyle xmlns:a="http://schemas.openxmlformats.org/drawingml/2006/main">
            <a:defPPr algn="ctr">
              <a:defRPr sz="750" b="1">
                <a:solidFill>
                  <a:srgbClr val="071018"/>
                </a:solidFill>
                <a:latin typeface="Avenir Next"/>
                <a:ea typeface="Avenir Next"/>
                <a:cs typeface="Avenir Next"/>
              </a:defRPr>
            </a:defPPr>
          </a:lstStyle>
          <a:p xmlns:a="http://schemas.openxmlformats.org/drawingml/2006/main">
            <a:pPr algn="ctr">
              <a:buNone/>
              <a:defRPr sz="750" b="1">
                <a:solidFill>
                  <a:srgbClr val="071018"/>
                </a:solidFill>
                <a:latin typeface="Avenir Next"/>
                <a:ea typeface="Avenir Next"/>
                <a:cs typeface="Avenir Next"/>
              </a:defRPr>
            </a:pPr>
            <a:r>
              <a:rPr sz="750" b="1">
                <a:solidFill>
                  <a:srgbClr val="071018"/>
                </a:solidFill>
                <a:latin typeface="Avenir Next"/>
                <a:ea typeface="Avenir Next"/>
                <a:cs typeface="Avenir Next"/>
              </a:rPr>
              <a:t>NAME 5</a:t>
            </a:r>
          </a:p>
        </p:txBody>
      </p:sp>
      <p:sp>
        <p:nvSpPr>
          <p:cNvPr id="16" name="">
            <a:extLst xmlns:a="http://schemas.openxmlformats.org/drawingml/2006/main">
              <a:ext uri="{FF2B5EF4-FFF2-40B4-BE49-F238E27FC236}">
                <a16:creationId xmlns:a16="http://schemas.microsoft.com/office/drawing/2014/main" id="{C02972E1-968B-46D6-9228-338CEAA454A4}"/>
              </a:ext>
            </a:extLst>
          </p:cNvPr>
          <p:cNvSpPr>
            <a:spLocks xmlns:a="http://schemas.openxmlformats.org/drawingml/2006/main" noGrp="1"/>
          </p:cNvSpPr>
          <p:nvPr/>
        </p:nvSpPr>
        <p:spPr>
          <a:xfrm xmlns:a="http://schemas.openxmlformats.org/drawingml/2006/main">
            <a:off x="2686050" y="3486150"/>
            <a:ext cx="1104900" cy="876300"/>
          </a:xfrm>
          <a:prstGeom xmlns:a="http://schemas.openxmlformats.org/drawingml/2006/main" prst="rect">
            <a:avLst/>
          </a:prstGeom>
          <a:solidFill xmlns:a="http://schemas.openxmlformats.org/drawingml/2006/main">
            <a:srgbClr val="152A38"/>
          </a:solidFill>
          <a:ln xmlns:a="http://schemas.openxmlformats.org/drawingml/2006/main" w="11430">
            <a:solidFill>
              <a:srgbClr val="48C7FF"/>
            </a:solidFill>
            <a:prstDash val="solid"/>
          </a:ln>
        </p:spPr>
        <p:txBody>
          <a:bodyPr xmlns:a="http://schemas.openxmlformats.org/drawingml/2006/main"/>
          <a:lstStyle xmlns:a="http://schemas.openxmlformats.org/drawingml/2006/main">
            <a:defPPr algn="ctr">
              <a:defRPr sz="1200" b="1">
                <a:solidFill>
                  <a:srgbClr val="F4F8FB"/>
                </a:solidFill>
                <a:latin typeface="Avenir Next"/>
                <a:ea typeface="Avenir Next"/>
                <a:cs typeface="Avenir Next"/>
              </a:defRPr>
            </a:defPPr>
          </a:lstStyle>
          <a:p xmlns:a="http://schemas.openxmlformats.org/drawingml/2006/main">
            <a:pPr algn="ctr">
              <a:buNone/>
              <a:defRPr sz="1200" b="1">
                <a:solidFill>
                  <a:srgbClr val="F4F8FB"/>
                </a:solidFill>
                <a:latin typeface="Avenir Next"/>
                <a:ea typeface="Avenir Next"/>
                <a:cs typeface="Avenir Next"/>
              </a:defRPr>
            </a:pPr>
            <a:r>
              <a:rPr sz="1200" b="1">
                <a:solidFill>
                  <a:srgbClr val="F4F8FB"/>
                </a:solidFill>
                <a:latin typeface="Avenir Next"/>
                <a:ea typeface="Avenir Next"/>
                <a:cs typeface="Avenir Next"/>
              </a:rPr>
              <a:t>CAM 6</a:t>
            </a:r>
          </a:p>
        </p:txBody>
      </p:sp>
      <p:sp>
        <p:nvSpPr>
          <p:cNvPr id="17" name="">
            <a:extLst xmlns:a="http://schemas.openxmlformats.org/drawingml/2006/main">
              <a:ext uri="{FF2B5EF4-FFF2-40B4-BE49-F238E27FC236}">
                <a16:creationId xmlns:a16="http://schemas.microsoft.com/office/drawing/2014/main" id="{1F6405D2-A285-4481-803F-7613DD3FB882}"/>
              </a:ext>
            </a:extLst>
          </p:cNvPr>
          <p:cNvSpPr>
            <a:spLocks xmlns:a="http://schemas.openxmlformats.org/drawingml/2006/main" noGrp="1"/>
          </p:cNvSpPr>
          <p:nvPr/>
        </p:nvSpPr>
        <p:spPr>
          <a:xfrm xmlns:a="http://schemas.openxmlformats.org/drawingml/2006/main">
            <a:off x="2686050" y="4362450"/>
            <a:ext cx="1104900" cy="190500"/>
          </a:xfrm>
          <a:prstGeom xmlns:a="http://schemas.openxmlformats.org/drawingml/2006/main" prst="rect">
            <a:avLst/>
          </a:prstGeom>
          <a:solidFill xmlns:a="http://schemas.openxmlformats.org/drawingml/2006/main">
            <a:srgbClr val="36D4C5"/>
          </a:solidFill>
          <a:ln xmlns:a="http://schemas.openxmlformats.org/drawingml/2006/main" w="0">
            <a:solidFill>
              <a:srgbClr val="36D4C5"/>
            </a:solidFill>
            <a:prstDash val="solid"/>
          </a:ln>
        </p:spPr>
        <p:txBody>
          <a:bodyPr xmlns:a="http://schemas.openxmlformats.org/drawingml/2006/main"/>
          <a:lstStyle xmlns:a="http://schemas.openxmlformats.org/drawingml/2006/main">
            <a:defPPr algn="ctr">
              <a:defRPr sz="750" b="1">
                <a:solidFill>
                  <a:srgbClr val="071018"/>
                </a:solidFill>
                <a:latin typeface="Avenir Next"/>
                <a:ea typeface="Avenir Next"/>
                <a:cs typeface="Avenir Next"/>
              </a:defRPr>
            </a:defPPr>
          </a:lstStyle>
          <a:p xmlns:a="http://schemas.openxmlformats.org/drawingml/2006/main">
            <a:pPr algn="ctr">
              <a:buNone/>
              <a:defRPr sz="750" b="1">
                <a:solidFill>
                  <a:srgbClr val="071018"/>
                </a:solidFill>
                <a:latin typeface="Avenir Next"/>
                <a:ea typeface="Avenir Next"/>
                <a:cs typeface="Avenir Next"/>
              </a:defRPr>
            </a:pPr>
            <a:r>
              <a:rPr sz="750" b="1">
                <a:solidFill>
                  <a:srgbClr val="071018"/>
                </a:solidFill>
                <a:latin typeface="Avenir Next"/>
                <a:ea typeface="Avenir Next"/>
                <a:cs typeface="Avenir Next"/>
              </a:rPr>
              <a:t>NAME 6</a:t>
            </a:r>
          </a:p>
        </p:txBody>
      </p:sp>
      <p:sp>
        <p:nvSpPr>
          <p:cNvPr id="18" name="">
            <a:extLst xmlns:a="http://schemas.openxmlformats.org/drawingml/2006/main">
              <a:ext uri="{FF2B5EF4-FFF2-40B4-BE49-F238E27FC236}">
                <a16:creationId xmlns:a16="http://schemas.microsoft.com/office/drawing/2014/main" id="{9788759F-4C4D-45C2-9A0A-8A75A73238C8}"/>
              </a:ext>
            </a:extLst>
          </p:cNvPr>
          <p:cNvSpPr>
            <a:spLocks xmlns:a="http://schemas.openxmlformats.org/drawingml/2006/main" noGrp="1"/>
          </p:cNvSpPr>
          <p:nvPr/>
        </p:nvSpPr>
        <p:spPr>
          <a:xfrm xmlns:a="http://schemas.openxmlformats.org/drawingml/2006/main">
            <a:off x="3886200" y="3486150"/>
            <a:ext cx="1104900" cy="876300"/>
          </a:xfrm>
          <a:prstGeom xmlns:a="http://schemas.openxmlformats.org/drawingml/2006/main" prst="rect">
            <a:avLst/>
          </a:prstGeom>
          <a:solidFill xmlns:a="http://schemas.openxmlformats.org/drawingml/2006/main">
            <a:srgbClr val="152A38"/>
          </a:solidFill>
          <a:ln xmlns:a="http://schemas.openxmlformats.org/drawingml/2006/main" w="11430">
            <a:solidFill>
              <a:srgbClr val="48C7FF"/>
            </a:solidFill>
            <a:prstDash val="solid"/>
          </a:ln>
        </p:spPr>
        <p:txBody>
          <a:bodyPr xmlns:a="http://schemas.openxmlformats.org/drawingml/2006/main"/>
          <a:lstStyle xmlns:a="http://schemas.openxmlformats.org/drawingml/2006/main">
            <a:defPPr algn="ctr">
              <a:defRPr sz="1200" b="1">
                <a:solidFill>
                  <a:srgbClr val="F4F8FB"/>
                </a:solidFill>
                <a:latin typeface="Avenir Next"/>
                <a:ea typeface="Avenir Next"/>
                <a:cs typeface="Avenir Next"/>
              </a:defRPr>
            </a:defPPr>
          </a:lstStyle>
          <a:p xmlns:a="http://schemas.openxmlformats.org/drawingml/2006/main">
            <a:pPr algn="ctr">
              <a:buNone/>
              <a:defRPr sz="1200" b="1">
                <a:solidFill>
                  <a:srgbClr val="F4F8FB"/>
                </a:solidFill>
                <a:latin typeface="Avenir Next"/>
                <a:ea typeface="Avenir Next"/>
                <a:cs typeface="Avenir Next"/>
              </a:defRPr>
            </a:pPr>
            <a:r>
              <a:rPr sz="1200" b="1">
                <a:solidFill>
                  <a:srgbClr val="F4F8FB"/>
                </a:solidFill>
                <a:latin typeface="Avenir Next"/>
                <a:ea typeface="Avenir Next"/>
                <a:cs typeface="Avenir Next"/>
              </a:rPr>
              <a:t>CAM 7</a:t>
            </a:r>
          </a:p>
        </p:txBody>
      </p:sp>
      <p:sp>
        <p:nvSpPr>
          <p:cNvPr id="19" name="">
            <a:extLst xmlns:a="http://schemas.openxmlformats.org/drawingml/2006/main">
              <a:ext uri="{FF2B5EF4-FFF2-40B4-BE49-F238E27FC236}">
                <a16:creationId xmlns:a16="http://schemas.microsoft.com/office/drawing/2014/main" id="{22DFFD1D-2413-4B04-9E4E-0ECF90C2C5F3}"/>
              </a:ext>
            </a:extLst>
          </p:cNvPr>
          <p:cNvSpPr>
            <a:spLocks xmlns:a="http://schemas.openxmlformats.org/drawingml/2006/main" noGrp="1"/>
          </p:cNvSpPr>
          <p:nvPr/>
        </p:nvSpPr>
        <p:spPr>
          <a:xfrm xmlns:a="http://schemas.openxmlformats.org/drawingml/2006/main">
            <a:off x="3886200" y="4362450"/>
            <a:ext cx="1104900" cy="190500"/>
          </a:xfrm>
          <a:prstGeom xmlns:a="http://schemas.openxmlformats.org/drawingml/2006/main" prst="rect">
            <a:avLst/>
          </a:prstGeom>
          <a:solidFill xmlns:a="http://schemas.openxmlformats.org/drawingml/2006/main">
            <a:srgbClr val="36D4C5"/>
          </a:solidFill>
          <a:ln xmlns:a="http://schemas.openxmlformats.org/drawingml/2006/main" w="0">
            <a:solidFill>
              <a:srgbClr val="36D4C5"/>
            </a:solidFill>
            <a:prstDash val="solid"/>
          </a:ln>
        </p:spPr>
        <p:txBody>
          <a:bodyPr xmlns:a="http://schemas.openxmlformats.org/drawingml/2006/main"/>
          <a:lstStyle xmlns:a="http://schemas.openxmlformats.org/drawingml/2006/main">
            <a:defPPr algn="ctr">
              <a:defRPr sz="750" b="1">
                <a:solidFill>
                  <a:srgbClr val="071018"/>
                </a:solidFill>
                <a:latin typeface="Avenir Next"/>
                <a:ea typeface="Avenir Next"/>
                <a:cs typeface="Avenir Next"/>
              </a:defRPr>
            </a:defPPr>
          </a:lstStyle>
          <a:p xmlns:a="http://schemas.openxmlformats.org/drawingml/2006/main">
            <a:pPr algn="ctr">
              <a:buNone/>
              <a:defRPr sz="750" b="1">
                <a:solidFill>
                  <a:srgbClr val="071018"/>
                </a:solidFill>
                <a:latin typeface="Avenir Next"/>
                <a:ea typeface="Avenir Next"/>
                <a:cs typeface="Avenir Next"/>
              </a:defRPr>
            </a:pPr>
            <a:r>
              <a:rPr sz="750" b="1">
                <a:solidFill>
                  <a:srgbClr val="071018"/>
                </a:solidFill>
                <a:latin typeface="Avenir Next"/>
                <a:ea typeface="Avenir Next"/>
                <a:cs typeface="Avenir Next"/>
              </a:rPr>
              <a:t>NAME 7</a:t>
            </a:r>
          </a:p>
        </p:txBody>
      </p:sp>
      <p:sp>
        <p:nvSpPr>
          <p:cNvPr id="20" name="">
            <a:extLst xmlns:a="http://schemas.openxmlformats.org/drawingml/2006/main">
              <a:ext uri="{FF2B5EF4-FFF2-40B4-BE49-F238E27FC236}">
                <a16:creationId xmlns:a16="http://schemas.microsoft.com/office/drawing/2014/main" id="{D89425F0-8EAB-46C5-BCD9-9C40D8F1149D}"/>
              </a:ext>
            </a:extLst>
          </p:cNvPr>
          <p:cNvSpPr>
            <a:spLocks xmlns:a="http://schemas.openxmlformats.org/drawingml/2006/main" noGrp="1"/>
          </p:cNvSpPr>
          <p:nvPr/>
        </p:nvSpPr>
        <p:spPr>
          <a:xfrm xmlns:a="http://schemas.openxmlformats.org/drawingml/2006/main">
            <a:off x="6324600" y="1657350"/>
            <a:ext cx="525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a:solidFill>
                  <a:srgbClr val="FFB85C"/>
                </a:solidFill>
                <a:latin typeface="Avenir Next"/>
                <a:ea typeface="Avenir Next"/>
                <a:cs typeface="Avenir Next"/>
              </a:defRPr>
            </a:defPPr>
          </a:lstStyle>
          <a:p xmlns:a="http://schemas.openxmlformats.org/drawingml/2006/main">
            <a:pPr algn="l">
              <a:buNone/>
              <a:defRPr sz="1350" b="1">
                <a:solidFill>
                  <a:srgbClr val="FFB85C"/>
                </a:solidFill>
                <a:latin typeface="Avenir Next"/>
                <a:ea typeface="Avenir Next"/>
                <a:cs typeface="Avenir Next"/>
              </a:defRPr>
            </a:pPr>
            <a:r>
              <a:rPr sz="1350" b="1">
                <a:solidFill>
                  <a:srgbClr val="FFB85C"/>
                </a:solidFill>
                <a:latin typeface="Avenir Next"/>
                <a:ea typeface="Avenir Next"/>
                <a:cs typeface="Avenir Next"/>
              </a:rPr>
              <a:t>8-UP LOOK · FOUR BY TWO</a:t>
            </a:r>
          </a:p>
        </p:txBody>
      </p:sp>
      <p:sp>
        <p:nvSpPr>
          <p:cNvPr id="21" name="">
            <a:extLst xmlns:a="http://schemas.openxmlformats.org/drawingml/2006/main">
              <a:ext uri="{FF2B5EF4-FFF2-40B4-BE49-F238E27FC236}">
                <a16:creationId xmlns:a16="http://schemas.microsoft.com/office/drawing/2014/main" id="{33966A14-0A12-4B05-8F81-4B3825711656}"/>
              </a:ext>
            </a:extLst>
          </p:cNvPr>
          <p:cNvSpPr>
            <a:spLocks xmlns:a="http://schemas.openxmlformats.org/drawingml/2006/main" noGrp="1"/>
          </p:cNvSpPr>
          <p:nvPr/>
        </p:nvSpPr>
        <p:spPr>
          <a:xfrm xmlns:a="http://schemas.openxmlformats.org/drawingml/2006/main">
            <a:off x="6324600" y="2019300"/>
            <a:ext cx="5257800" cy="3162300"/>
          </a:xfrm>
          <a:prstGeom xmlns:a="http://schemas.openxmlformats.org/drawingml/2006/main" prst="roundRect">
            <a:avLst>
              <a:gd name="adj" fmla="val 2410"/>
            </a:avLst>
          </a:prstGeom>
          <a:solidFill xmlns:a="http://schemas.openxmlformats.org/drawingml/2006/main">
            <a:srgbClr val="101F2C"/>
          </a:solidFill>
          <a:ln xmlns:a="http://schemas.openxmlformats.org/drawingml/2006/main" w="14288">
            <a:solidFill>
              <a:srgbClr val="294151"/>
            </a:solidFill>
            <a:prstDash val="solid"/>
          </a:ln>
        </p:spPr>
        <p:txBody>
          <a:bodyPr xmlns:a="http://schemas.openxmlformats.org/drawingml/2006/main"/>
          <a:lstStyle xmlns:a="http://schemas.openxmlformats.org/drawingml/2006/main">
            <a:defPPr algn="l">
              <a:defRPr sz="1350" b="0">
                <a:solidFill>
                  <a:srgbClr val="F4F8FB"/>
                </a:solidFill>
                <a:latin typeface="Avenir Next"/>
                <a:ea typeface="Avenir Next"/>
                <a:cs typeface="Avenir Next"/>
              </a:defRPr>
            </a:defPPr>
          </a:lstStyle>
          <a:p xmlns:a="http://schemas.openxmlformats.org/drawingml/2006/main">
            <a:r>
              <a:t/>
            </a:r>
          </a:p>
        </p:txBody>
      </p:sp>
      <p:sp>
        <p:nvSpPr>
          <p:cNvPr id="22" name="">
            <a:extLst xmlns:a="http://schemas.openxmlformats.org/drawingml/2006/main">
              <a:ext uri="{FF2B5EF4-FFF2-40B4-BE49-F238E27FC236}">
                <a16:creationId xmlns:a16="http://schemas.microsoft.com/office/drawing/2014/main" id="{A651D0E6-EE55-43AF-8A9E-595BD3583264}"/>
              </a:ext>
            </a:extLst>
          </p:cNvPr>
          <p:cNvSpPr>
            <a:spLocks xmlns:a="http://schemas.openxmlformats.org/drawingml/2006/main" noGrp="1"/>
          </p:cNvSpPr>
          <p:nvPr/>
        </p:nvSpPr>
        <p:spPr>
          <a:xfrm xmlns:a="http://schemas.openxmlformats.org/drawingml/2006/main">
            <a:off x="6600825" y="2247900"/>
            <a:ext cx="1104900" cy="876300"/>
          </a:xfrm>
          <a:prstGeom xmlns:a="http://schemas.openxmlformats.org/drawingml/2006/main" prst="rect">
            <a:avLst/>
          </a:prstGeom>
          <a:solidFill xmlns:a="http://schemas.openxmlformats.org/drawingml/2006/main">
            <a:srgbClr val="152A38"/>
          </a:solidFill>
          <a:ln xmlns:a="http://schemas.openxmlformats.org/drawingml/2006/main" w="11430">
            <a:solidFill>
              <a:srgbClr val="48C7FF"/>
            </a:solidFill>
            <a:prstDash val="solid"/>
          </a:ln>
        </p:spPr>
        <p:txBody>
          <a:bodyPr xmlns:a="http://schemas.openxmlformats.org/drawingml/2006/main"/>
          <a:lstStyle xmlns:a="http://schemas.openxmlformats.org/drawingml/2006/main">
            <a:defPPr algn="ctr">
              <a:defRPr sz="1200" b="1">
                <a:solidFill>
                  <a:srgbClr val="F4F8FB"/>
                </a:solidFill>
                <a:latin typeface="Avenir Next"/>
                <a:ea typeface="Avenir Next"/>
                <a:cs typeface="Avenir Next"/>
              </a:defRPr>
            </a:defPPr>
          </a:lstStyle>
          <a:p xmlns:a="http://schemas.openxmlformats.org/drawingml/2006/main">
            <a:pPr algn="ctr">
              <a:buNone/>
              <a:defRPr sz="1200" b="1">
                <a:solidFill>
                  <a:srgbClr val="F4F8FB"/>
                </a:solidFill>
                <a:latin typeface="Avenir Next"/>
                <a:ea typeface="Avenir Next"/>
                <a:cs typeface="Avenir Next"/>
              </a:defRPr>
            </a:pPr>
            <a:r>
              <a:rPr sz="1200" b="1">
                <a:solidFill>
                  <a:srgbClr val="F4F8FB"/>
                </a:solidFill>
                <a:latin typeface="Avenir Next"/>
                <a:ea typeface="Avenir Next"/>
                <a:cs typeface="Avenir Next"/>
              </a:rPr>
              <a:t>CAM 1</a:t>
            </a:r>
          </a:p>
        </p:txBody>
      </p:sp>
      <p:sp>
        <p:nvSpPr>
          <p:cNvPr id="23" name="">
            <a:extLst xmlns:a="http://schemas.openxmlformats.org/drawingml/2006/main">
              <a:ext uri="{FF2B5EF4-FFF2-40B4-BE49-F238E27FC236}">
                <a16:creationId xmlns:a16="http://schemas.microsoft.com/office/drawing/2014/main" id="{434EF48F-88B6-4641-84BD-B5772796D70D}"/>
              </a:ext>
            </a:extLst>
          </p:cNvPr>
          <p:cNvSpPr>
            <a:spLocks xmlns:a="http://schemas.openxmlformats.org/drawingml/2006/main" noGrp="1"/>
          </p:cNvSpPr>
          <p:nvPr/>
        </p:nvSpPr>
        <p:spPr>
          <a:xfrm xmlns:a="http://schemas.openxmlformats.org/drawingml/2006/main">
            <a:off x="6600825" y="3124200"/>
            <a:ext cx="1104900" cy="190500"/>
          </a:xfrm>
          <a:prstGeom xmlns:a="http://schemas.openxmlformats.org/drawingml/2006/main" prst="rect">
            <a:avLst/>
          </a:prstGeom>
          <a:solidFill xmlns:a="http://schemas.openxmlformats.org/drawingml/2006/main">
            <a:srgbClr val="36D4C5"/>
          </a:solidFill>
          <a:ln xmlns:a="http://schemas.openxmlformats.org/drawingml/2006/main" w="0">
            <a:solidFill>
              <a:srgbClr val="36D4C5"/>
            </a:solidFill>
            <a:prstDash val="solid"/>
          </a:ln>
        </p:spPr>
        <p:txBody>
          <a:bodyPr xmlns:a="http://schemas.openxmlformats.org/drawingml/2006/main"/>
          <a:lstStyle xmlns:a="http://schemas.openxmlformats.org/drawingml/2006/main">
            <a:defPPr algn="ctr">
              <a:defRPr sz="750" b="1">
                <a:solidFill>
                  <a:srgbClr val="071018"/>
                </a:solidFill>
                <a:latin typeface="Avenir Next"/>
                <a:ea typeface="Avenir Next"/>
                <a:cs typeface="Avenir Next"/>
              </a:defRPr>
            </a:defPPr>
          </a:lstStyle>
          <a:p xmlns:a="http://schemas.openxmlformats.org/drawingml/2006/main">
            <a:pPr algn="ctr">
              <a:buNone/>
              <a:defRPr sz="750" b="1">
                <a:solidFill>
                  <a:srgbClr val="071018"/>
                </a:solidFill>
                <a:latin typeface="Avenir Next"/>
                <a:ea typeface="Avenir Next"/>
                <a:cs typeface="Avenir Next"/>
              </a:defRPr>
            </a:pPr>
            <a:r>
              <a:rPr sz="750" b="1">
                <a:solidFill>
                  <a:srgbClr val="071018"/>
                </a:solidFill>
                <a:latin typeface="Avenir Next"/>
                <a:ea typeface="Avenir Next"/>
                <a:cs typeface="Avenir Next"/>
              </a:rPr>
              <a:t>NAME 1</a:t>
            </a:r>
          </a:p>
        </p:txBody>
      </p:sp>
      <p:sp>
        <p:nvSpPr>
          <p:cNvPr id="24" name="">
            <a:extLst xmlns:a="http://schemas.openxmlformats.org/drawingml/2006/main">
              <a:ext uri="{FF2B5EF4-FFF2-40B4-BE49-F238E27FC236}">
                <a16:creationId xmlns:a16="http://schemas.microsoft.com/office/drawing/2014/main" id="{96FDF8F4-19CD-4D63-AB42-9322A41CCDD2}"/>
              </a:ext>
            </a:extLst>
          </p:cNvPr>
          <p:cNvSpPr>
            <a:spLocks xmlns:a="http://schemas.openxmlformats.org/drawingml/2006/main" noGrp="1"/>
          </p:cNvSpPr>
          <p:nvPr/>
        </p:nvSpPr>
        <p:spPr>
          <a:xfrm xmlns:a="http://schemas.openxmlformats.org/drawingml/2006/main">
            <a:off x="7800975" y="2247900"/>
            <a:ext cx="1104900" cy="876300"/>
          </a:xfrm>
          <a:prstGeom xmlns:a="http://schemas.openxmlformats.org/drawingml/2006/main" prst="rect">
            <a:avLst/>
          </a:prstGeom>
          <a:solidFill xmlns:a="http://schemas.openxmlformats.org/drawingml/2006/main">
            <a:srgbClr val="152A38"/>
          </a:solidFill>
          <a:ln xmlns:a="http://schemas.openxmlformats.org/drawingml/2006/main" w="11430">
            <a:solidFill>
              <a:srgbClr val="48C7FF"/>
            </a:solidFill>
            <a:prstDash val="solid"/>
          </a:ln>
        </p:spPr>
        <p:txBody>
          <a:bodyPr xmlns:a="http://schemas.openxmlformats.org/drawingml/2006/main"/>
          <a:lstStyle xmlns:a="http://schemas.openxmlformats.org/drawingml/2006/main">
            <a:defPPr algn="ctr">
              <a:defRPr sz="1200" b="1">
                <a:solidFill>
                  <a:srgbClr val="F4F8FB"/>
                </a:solidFill>
                <a:latin typeface="Avenir Next"/>
                <a:ea typeface="Avenir Next"/>
                <a:cs typeface="Avenir Next"/>
              </a:defRPr>
            </a:defPPr>
          </a:lstStyle>
          <a:p xmlns:a="http://schemas.openxmlformats.org/drawingml/2006/main">
            <a:pPr algn="ctr">
              <a:buNone/>
              <a:defRPr sz="1200" b="1">
                <a:solidFill>
                  <a:srgbClr val="F4F8FB"/>
                </a:solidFill>
                <a:latin typeface="Avenir Next"/>
                <a:ea typeface="Avenir Next"/>
                <a:cs typeface="Avenir Next"/>
              </a:defRPr>
            </a:pPr>
            <a:r>
              <a:rPr sz="1200" b="1">
                <a:solidFill>
                  <a:srgbClr val="F4F8FB"/>
                </a:solidFill>
                <a:latin typeface="Avenir Next"/>
                <a:ea typeface="Avenir Next"/>
                <a:cs typeface="Avenir Next"/>
              </a:rPr>
              <a:t>CAM 2</a:t>
            </a:r>
          </a:p>
        </p:txBody>
      </p:sp>
      <p:sp>
        <p:nvSpPr>
          <p:cNvPr id="25" name="">
            <a:extLst xmlns:a="http://schemas.openxmlformats.org/drawingml/2006/main">
              <a:ext uri="{FF2B5EF4-FFF2-40B4-BE49-F238E27FC236}">
                <a16:creationId xmlns:a16="http://schemas.microsoft.com/office/drawing/2014/main" id="{AAB25993-34F2-4939-9F48-9C35120F0C5B}"/>
              </a:ext>
            </a:extLst>
          </p:cNvPr>
          <p:cNvSpPr>
            <a:spLocks xmlns:a="http://schemas.openxmlformats.org/drawingml/2006/main" noGrp="1"/>
          </p:cNvSpPr>
          <p:nvPr/>
        </p:nvSpPr>
        <p:spPr>
          <a:xfrm xmlns:a="http://schemas.openxmlformats.org/drawingml/2006/main">
            <a:off x="7800975" y="3124200"/>
            <a:ext cx="1104900" cy="190500"/>
          </a:xfrm>
          <a:prstGeom xmlns:a="http://schemas.openxmlformats.org/drawingml/2006/main" prst="rect">
            <a:avLst/>
          </a:prstGeom>
          <a:solidFill xmlns:a="http://schemas.openxmlformats.org/drawingml/2006/main">
            <a:srgbClr val="36D4C5"/>
          </a:solidFill>
          <a:ln xmlns:a="http://schemas.openxmlformats.org/drawingml/2006/main" w="0">
            <a:solidFill>
              <a:srgbClr val="36D4C5"/>
            </a:solidFill>
            <a:prstDash val="solid"/>
          </a:ln>
        </p:spPr>
        <p:txBody>
          <a:bodyPr xmlns:a="http://schemas.openxmlformats.org/drawingml/2006/main"/>
          <a:lstStyle xmlns:a="http://schemas.openxmlformats.org/drawingml/2006/main">
            <a:defPPr algn="ctr">
              <a:defRPr sz="750" b="1">
                <a:solidFill>
                  <a:srgbClr val="071018"/>
                </a:solidFill>
                <a:latin typeface="Avenir Next"/>
                <a:ea typeface="Avenir Next"/>
                <a:cs typeface="Avenir Next"/>
              </a:defRPr>
            </a:defPPr>
          </a:lstStyle>
          <a:p xmlns:a="http://schemas.openxmlformats.org/drawingml/2006/main">
            <a:pPr algn="ctr">
              <a:buNone/>
              <a:defRPr sz="750" b="1">
                <a:solidFill>
                  <a:srgbClr val="071018"/>
                </a:solidFill>
                <a:latin typeface="Avenir Next"/>
                <a:ea typeface="Avenir Next"/>
                <a:cs typeface="Avenir Next"/>
              </a:defRPr>
            </a:pPr>
            <a:r>
              <a:rPr sz="750" b="1">
                <a:solidFill>
                  <a:srgbClr val="071018"/>
                </a:solidFill>
                <a:latin typeface="Avenir Next"/>
                <a:ea typeface="Avenir Next"/>
                <a:cs typeface="Avenir Next"/>
              </a:rPr>
              <a:t>NAME 2</a:t>
            </a:r>
          </a:p>
        </p:txBody>
      </p:sp>
      <p:sp>
        <p:nvSpPr>
          <p:cNvPr id="26" name="">
            <a:extLst xmlns:a="http://schemas.openxmlformats.org/drawingml/2006/main">
              <a:ext uri="{FF2B5EF4-FFF2-40B4-BE49-F238E27FC236}">
                <a16:creationId xmlns:a16="http://schemas.microsoft.com/office/drawing/2014/main" id="{9A4A1837-8BBE-4030-8B6E-16B2CEA30E9C}"/>
              </a:ext>
            </a:extLst>
          </p:cNvPr>
          <p:cNvSpPr>
            <a:spLocks xmlns:a="http://schemas.openxmlformats.org/drawingml/2006/main" noGrp="1"/>
          </p:cNvSpPr>
          <p:nvPr/>
        </p:nvSpPr>
        <p:spPr>
          <a:xfrm xmlns:a="http://schemas.openxmlformats.org/drawingml/2006/main">
            <a:off x="9001125" y="2247900"/>
            <a:ext cx="1104900" cy="876300"/>
          </a:xfrm>
          <a:prstGeom xmlns:a="http://schemas.openxmlformats.org/drawingml/2006/main" prst="rect">
            <a:avLst/>
          </a:prstGeom>
          <a:solidFill xmlns:a="http://schemas.openxmlformats.org/drawingml/2006/main">
            <a:srgbClr val="152A38"/>
          </a:solidFill>
          <a:ln xmlns:a="http://schemas.openxmlformats.org/drawingml/2006/main" w="11430">
            <a:solidFill>
              <a:srgbClr val="48C7FF"/>
            </a:solidFill>
            <a:prstDash val="solid"/>
          </a:ln>
        </p:spPr>
        <p:txBody>
          <a:bodyPr xmlns:a="http://schemas.openxmlformats.org/drawingml/2006/main"/>
          <a:lstStyle xmlns:a="http://schemas.openxmlformats.org/drawingml/2006/main">
            <a:defPPr algn="ctr">
              <a:defRPr sz="1200" b="1">
                <a:solidFill>
                  <a:srgbClr val="F4F8FB"/>
                </a:solidFill>
                <a:latin typeface="Avenir Next"/>
                <a:ea typeface="Avenir Next"/>
                <a:cs typeface="Avenir Next"/>
              </a:defRPr>
            </a:defPPr>
          </a:lstStyle>
          <a:p xmlns:a="http://schemas.openxmlformats.org/drawingml/2006/main">
            <a:pPr algn="ctr">
              <a:buNone/>
              <a:defRPr sz="1200" b="1">
                <a:solidFill>
                  <a:srgbClr val="F4F8FB"/>
                </a:solidFill>
                <a:latin typeface="Avenir Next"/>
                <a:ea typeface="Avenir Next"/>
                <a:cs typeface="Avenir Next"/>
              </a:defRPr>
            </a:pPr>
            <a:r>
              <a:rPr sz="1200" b="1">
                <a:solidFill>
                  <a:srgbClr val="F4F8FB"/>
                </a:solidFill>
                <a:latin typeface="Avenir Next"/>
                <a:ea typeface="Avenir Next"/>
                <a:cs typeface="Avenir Next"/>
              </a:rPr>
              <a:t>CAM 3</a:t>
            </a:r>
          </a:p>
        </p:txBody>
      </p:sp>
      <p:sp>
        <p:nvSpPr>
          <p:cNvPr id="27" name="">
            <a:extLst xmlns:a="http://schemas.openxmlformats.org/drawingml/2006/main">
              <a:ext uri="{FF2B5EF4-FFF2-40B4-BE49-F238E27FC236}">
                <a16:creationId xmlns:a16="http://schemas.microsoft.com/office/drawing/2014/main" id="{F30A48A2-2424-483A-BA43-2B3E42310D8F}"/>
              </a:ext>
            </a:extLst>
          </p:cNvPr>
          <p:cNvSpPr>
            <a:spLocks xmlns:a="http://schemas.openxmlformats.org/drawingml/2006/main" noGrp="1"/>
          </p:cNvSpPr>
          <p:nvPr/>
        </p:nvSpPr>
        <p:spPr>
          <a:xfrm xmlns:a="http://schemas.openxmlformats.org/drawingml/2006/main">
            <a:off x="9001125" y="3124200"/>
            <a:ext cx="1104900" cy="190500"/>
          </a:xfrm>
          <a:prstGeom xmlns:a="http://schemas.openxmlformats.org/drawingml/2006/main" prst="rect">
            <a:avLst/>
          </a:prstGeom>
          <a:solidFill xmlns:a="http://schemas.openxmlformats.org/drawingml/2006/main">
            <a:srgbClr val="36D4C5"/>
          </a:solidFill>
          <a:ln xmlns:a="http://schemas.openxmlformats.org/drawingml/2006/main" w="0">
            <a:solidFill>
              <a:srgbClr val="36D4C5"/>
            </a:solidFill>
            <a:prstDash val="solid"/>
          </a:ln>
        </p:spPr>
        <p:txBody>
          <a:bodyPr xmlns:a="http://schemas.openxmlformats.org/drawingml/2006/main"/>
          <a:lstStyle xmlns:a="http://schemas.openxmlformats.org/drawingml/2006/main">
            <a:defPPr algn="ctr">
              <a:defRPr sz="750" b="1">
                <a:solidFill>
                  <a:srgbClr val="071018"/>
                </a:solidFill>
                <a:latin typeface="Avenir Next"/>
                <a:ea typeface="Avenir Next"/>
                <a:cs typeface="Avenir Next"/>
              </a:defRPr>
            </a:defPPr>
          </a:lstStyle>
          <a:p xmlns:a="http://schemas.openxmlformats.org/drawingml/2006/main">
            <a:pPr algn="ctr">
              <a:buNone/>
              <a:defRPr sz="750" b="1">
                <a:solidFill>
                  <a:srgbClr val="071018"/>
                </a:solidFill>
                <a:latin typeface="Avenir Next"/>
                <a:ea typeface="Avenir Next"/>
                <a:cs typeface="Avenir Next"/>
              </a:defRPr>
            </a:pPr>
            <a:r>
              <a:rPr sz="750" b="1">
                <a:solidFill>
                  <a:srgbClr val="071018"/>
                </a:solidFill>
                <a:latin typeface="Avenir Next"/>
                <a:ea typeface="Avenir Next"/>
                <a:cs typeface="Avenir Next"/>
              </a:rPr>
              <a:t>NAME 3</a:t>
            </a:r>
          </a:p>
        </p:txBody>
      </p:sp>
      <p:sp>
        <p:nvSpPr>
          <p:cNvPr id="28" name="">
            <a:extLst xmlns:a="http://schemas.openxmlformats.org/drawingml/2006/main">
              <a:ext uri="{FF2B5EF4-FFF2-40B4-BE49-F238E27FC236}">
                <a16:creationId xmlns:a16="http://schemas.microsoft.com/office/drawing/2014/main" id="{7978F5B1-9190-4B4E-A517-873EE326B182}"/>
              </a:ext>
            </a:extLst>
          </p:cNvPr>
          <p:cNvSpPr>
            <a:spLocks xmlns:a="http://schemas.openxmlformats.org/drawingml/2006/main" noGrp="1"/>
          </p:cNvSpPr>
          <p:nvPr/>
        </p:nvSpPr>
        <p:spPr>
          <a:xfrm xmlns:a="http://schemas.openxmlformats.org/drawingml/2006/main">
            <a:off x="10201275" y="2247900"/>
            <a:ext cx="1104900" cy="876300"/>
          </a:xfrm>
          <a:prstGeom xmlns:a="http://schemas.openxmlformats.org/drawingml/2006/main" prst="rect">
            <a:avLst/>
          </a:prstGeom>
          <a:solidFill xmlns:a="http://schemas.openxmlformats.org/drawingml/2006/main">
            <a:srgbClr val="152A38"/>
          </a:solidFill>
          <a:ln xmlns:a="http://schemas.openxmlformats.org/drawingml/2006/main" w="11430">
            <a:solidFill>
              <a:srgbClr val="48C7FF"/>
            </a:solidFill>
            <a:prstDash val="solid"/>
          </a:ln>
        </p:spPr>
        <p:txBody>
          <a:bodyPr xmlns:a="http://schemas.openxmlformats.org/drawingml/2006/main"/>
          <a:lstStyle xmlns:a="http://schemas.openxmlformats.org/drawingml/2006/main">
            <a:defPPr algn="ctr">
              <a:defRPr sz="1200" b="1">
                <a:solidFill>
                  <a:srgbClr val="F4F8FB"/>
                </a:solidFill>
                <a:latin typeface="Avenir Next"/>
                <a:ea typeface="Avenir Next"/>
                <a:cs typeface="Avenir Next"/>
              </a:defRPr>
            </a:defPPr>
          </a:lstStyle>
          <a:p xmlns:a="http://schemas.openxmlformats.org/drawingml/2006/main">
            <a:pPr algn="ctr">
              <a:buNone/>
              <a:defRPr sz="1200" b="1">
                <a:solidFill>
                  <a:srgbClr val="F4F8FB"/>
                </a:solidFill>
                <a:latin typeface="Avenir Next"/>
                <a:ea typeface="Avenir Next"/>
                <a:cs typeface="Avenir Next"/>
              </a:defRPr>
            </a:pPr>
            <a:r>
              <a:rPr sz="1200" b="1">
                <a:solidFill>
                  <a:srgbClr val="F4F8FB"/>
                </a:solidFill>
                <a:latin typeface="Avenir Next"/>
                <a:ea typeface="Avenir Next"/>
                <a:cs typeface="Avenir Next"/>
              </a:rPr>
              <a:t>CAM 4</a:t>
            </a:r>
          </a:p>
        </p:txBody>
      </p:sp>
      <p:sp>
        <p:nvSpPr>
          <p:cNvPr id="29" name="">
            <a:extLst xmlns:a="http://schemas.openxmlformats.org/drawingml/2006/main">
              <a:ext uri="{FF2B5EF4-FFF2-40B4-BE49-F238E27FC236}">
                <a16:creationId xmlns:a16="http://schemas.microsoft.com/office/drawing/2014/main" id="{F714D9C6-2C99-4692-9D06-002C3AC518BA}"/>
              </a:ext>
            </a:extLst>
          </p:cNvPr>
          <p:cNvSpPr>
            <a:spLocks xmlns:a="http://schemas.openxmlformats.org/drawingml/2006/main" noGrp="1"/>
          </p:cNvSpPr>
          <p:nvPr/>
        </p:nvSpPr>
        <p:spPr>
          <a:xfrm xmlns:a="http://schemas.openxmlformats.org/drawingml/2006/main">
            <a:off x="10201275" y="3124200"/>
            <a:ext cx="1104900" cy="190500"/>
          </a:xfrm>
          <a:prstGeom xmlns:a="http://schemas.openxmlformats.org/drawingml/2006/main" prst="rect">
            <a:avLst/>
          </a:prstGeom>
          <a:solidFill xmlns:a="http://schemas.openxmlformats.org/drawingml/2006/main">
            <a:srgbClr val="36D4C5"/>
          </a:solidFill>
          <a:ln xmlns:a="http://schemas.openxmlformats.org/drawingml/2006/main" w="0">
            <a:solidFill>
              <a:srgbClr val="36D4C5"/>
            </a:solidFill>
            <a:prstDash val="solid"/>
          </a:ln>
        </p:spPr>
        <p:txBody>
          <a:bodyPr xmlns:a="http://schemas.openxmlformats.org/drawingml/2006/main"/>
          <a:lstStyle xmlns:a="http://schemas.openxmlformats.org/drawingml/2006/main">
            <a:defPPr algn="ctr">
              <a:defRPr sz="750" b="1">
                <a:solidFill>
                  <a:srgbClr val="071018"/>
                </a:solidFill>
                <a:latin typeface="Avenir Next"/>
                <a:ea typeface="Avenir Next"/>
                <a:cs typeface="Avenir Next"/>
              </a:defRPr>
            </a:defPPr>
          </a:lstStyle>
          <a:p xmlns:a="http://schemas.openxmlformats.org/drawingml/2006/main">
            <a:pPr algn="ctr">
              <a:buNone/>
              <a:defRPr sz="750" b="1">
                <a:solidFill>
                  <a:srgbClr val="071018"/>
                </a:solidFill>
                <a:latin typeface="Avenir Next"/>
                <a:ea typeface="Avenir Next"/>
                <a:cs typeface="Avenir Next"/>
              </a:defRPr>
            </a:pPr>
            <a:r>
              <a:rPr sz="750" b="1">
                <a:solidFill>
                  <a:srgbClr val="071018"/>
                </a:solidFill>
                <a:latin typeface="Avenir Next"/>
                <a:ea typeface="Avenir Next"/>
                <a:cs typeface="Avenir Next"/>
              </a:rPr>
              <a:t>NAME 4</a:t>
            </a:r>
          </a:p>
        </p:txBody>
      </p:sp>
      <p:sp>
        <p:nvSpPr>
          <p:cNvPr id="30" name="">
            <a:extLst xmlns:a="http://schemas.openxmlformats.org/drawingml/2006/main">
              <a:ext uri="{FF2B5EF4-FFF2-40B4-BE49-F238E27FC236}">
                <a16:creationId xmlns:a16="http://schemas.microsoft.com/office/drawing/2014/main" id="{8E10FABE-33F9-4527-8A90-1C9354034AAD}"/>
              </a:ext>
            </a:extLst>
          </p:cNvPr>
          <p:cNvSpPr>
            <a:spLocks xmlns:a="http://schemas.openxmlformats.org/drawingml/2006/main" noGrp="1"/>
          </p:cNvSpPr>
          <p:nvPr/>
        </p:nvSpPr>
        <p:spPr>
          <a:xfrm xmlns:a="http://schemas.openxmlformats.org/drawingml/2006/main">
            <a:off x="6600825" y="3486150"/>
            <a:ext cx="1104900" cy="876300"/>
          </a:xfrm>
          <a:prstGeom xmlns:a="http://schemas.openxmlformats.org/drawingml/2006/main" prst="rect">
            <a:avLst/>
          </a:prstGeom>
          <a:solidFill xmlns:a="http://schemas.openxmlformats.org/drawingml/2006/main">
            <a:srgbClr val="152A38"/>
          </a:solidFill>
          <a:ln xmlns:a="http://schemas.openxmlformats.org/drawingml/2006/main" w="11430">
            <a:solidFill>
              <a:srgbClr val="48C7FF"/>
            </a:solidFill>
            <a:prstDash val="solid"/>
          </a:ln>
        </p:spPr>
        <p:txBody>
          <a:bodyPr xmlns:a="http://schemas.openxmlformats.org/drawingml/2006/main"/>
          <a:lstStyle xmlns:a="http://schemas.openxmlformats.org/drawingml/2006/main">
            <a:defPPr algn="ctr">
              <a:defRPr sz="1200" b="1">
                <a:solidFill>
                  <a:srgbClr val="F4F8FB"/>
                </a:solidFill>
                <a:latin typeface="Avenir Next"/>
                <a:ea typeface="Avenir Next"/>
                <a:cs typeface="Avenir Next"/>
              </a:defRPr>
            </a:defPPr>
          </a:lstStyle>
          <a:p xmlns:a="http://schemas.openxmlformats.org/drawingml/2006/main">
            <a:pPr algn="ctr">
              <a:buNone/>
              <a:defRPr sz="1200" b="1">
                <a:solidFill>
                  <a:srgbClr val="F4F8FB"/>
                </a:solidFill>
                <a:latin typeface="Avenir Next"/>
                <a:ea typeface="Avenir Next"/>
                <a:cs typeface="Avenir Next"/>
              </a:defRPr>
            </a:pPr>
            <a:r>
              <a:rPr sz="1200" b="1">
                <a:solidFill>
                  <a:srgbClr val="F4F8FB"/>
                </a:solidFill>
                <a:latin typeface="Avenir Next"/>
                <a:ea typeface="Avenir Next"/>
                <a:cs typeface="Avenir Next"/>
              </a:rPr>
              <a:t>CAM 5</a:t>
            </a:r>
          </a:p>
        </p:txBody>
      </p:sp>
      <p:sp>
        <p:nvSpPr>
          <p:cNvPr id="31" name="">
            <a:extLst xmlns:a="http://schemas.openxmlformats.org/drawingml/2006/main">
              <a:ext uri="{FF2B5EF4-FFF2-40B4-BE49-F238E27FC236}">
                <a16:creationId xmlns:a16="http://schemas.microsoft.com/office/drawing/2014/main" id="{32FCBA39-84F1-4E69-B868-1295886E8F89}"/>
              </a:ext>
            </a:extLst>
          </p:cNvPr>
          <p:cNvSpPr>
            <a:spLocks xmlns:a="http://schemas.openxmlformats.org/drawingml/2006/main" noGrp="1"/>
          </p:cNvSpPr>
          <p:nvPr/>
        </p:nvSpPr>
        <p:spPr>
          <a:xfrm xmlns:a="http://schemas.openxmlformats.org/drawingml/2006/main">
            <a:off x="6600825" y="4362450"/>
            <a:ext cx="1104900" cy="190500"/>
          </a:xfrm>
          <a:prstGeom xmlns:a="http://schemas.openxmlformats.org/drawingml/2006/main" prst="rect">
            <a:avLst/>
          </a:prstGeom>
          <a:solidFill xmlns:a="http://schemas.openxmlformats.org/drawingml/2006/main">
            <a:srgbClr val="36D4C5"/>
          </a:solidFill>
          <a:ln xmlns:a="http://schemas.openxmlformats.org/drawingml/2006/main" w="0">
            <a:solidFill>
              <a:srgbClr val="36D4C5"/>
            </a:solidFill>
            <a:prstDash val="solid"/>
          </a:ln>
        </p:spPr>
        <p:txBody>
          <a:bodyPr xmlns:a="http://schemas.openxmlformats.org/drawingml/2006/main"/>
          <a:lstStyle xmlns:a="http://schemas.openxmlformats.org/drawingml/2006/main">
            <a:defPPr algn="ctr">
              <a:defRPr sz="750" b="1">
                <a:solidFill>
                  <a:srgbClr val="071018"/>
                </a:solidFill>
                <a:latin typeface="Avenir Next"/>
                <a:ea typeface="Avenir Next"/>
                <a:cs typeface="Avenir Next"/>
              </a:defRPr>
            </a:defPPr>
          </a:lstStyle>
          <a:p xmlns:a="http://schemas.openxmlformats.org/drawingml/2006/main">
            <a:pPr algn="ctr">
              <a:buNone/>
              <a:defRPr sz="750" b="1">
                <a:solidFill>
                  <a:srgbClr val="071018"/>
                </a:solidFill>
                <a:latin typeface="Avenir Next"/>
                <a:ea typeface="Avenir Next"/>
                <a:cs typeface="Avenir Next"/>
              </a:defRPr>
            </a:pPr>
            <a:r>
              <a:rPr sz="750" b="1">
                <a:solidFill>
                  <a:srgbClr val="071018"/>
                </a:solidFill>
                <a:latin typeface="Avenir Next"/>
                <a:ea typeface="Avenir Next"/>
                <a:cs typeface="Avenir Next"/>
              </a:rPr>
              <a:t>NAME 5</a:t>
            </a:r>
          </a:p>
        </p:txBody>
      </p:sp>
      <p:sp>
        <p:nvSpPr>
          <p:cNvPr id="32" name="">
            <a:extLst xmlns:a="http://schemas.openxmlformats.org/drawingml/2006/main">
              <a:ext uri="{FF2B5EF4-FFF2-40B4-BE49-F238E27FC236}">
                <a16:creationId xmlns:a16="http://schemas.microsoft.com/office/drawing/2014/main" id="{A693DC8C-5E5E-4ACB-BBBB-8C48AA3F22D9}"/>
              </a:ext>
            </a:extLst>
          </p:cNvPr>
          <p:cNvSpPr>
            <a:spLocks xmlns:a="http://schemas.openxmlformats.org/drawingml/2006/main" noGrp="1"/>
          </p:cNvSpPr>
          <p:nvPr/>
        </p:nvSpPr>
        <p:spPr>
          <a:xfrm xmlns:a="http://schemas.openxmlformats.org/drawingml/2006/main">
            <a:off x="7800975" y="3486150"/>
            <a:ext cx="1104900" cy="876300"/>
          </a:xfrm>
          <a:prstGeom xmlns:a="http://schemas.openxmlformats.org/drawingml/2006/main" prst="rect">
            <a:avLst/>
          </a:prstGeom>
          <a:solidFill xmlns:a="http://schemas.openxmlformats.org/drawingml/2006/main">
            <a:srgbClr val="152A38"/>
          </a:solidFill>
          <a:ln xmlns:a="http://schemas.openxmlformats.org/drawingml/2006/main" w="11430">
            <a:solidFill>
              <a:srgbClr val="48C7FF"/>
            </a:solidFill>
            <a:prstDash val="solid"/>
          </a:ln>
        </p:spPr>
        <p:txBody>
          <a:bodyPr xmlns:a="http://schemas.openxmlformats.org/drawingml/2006/main"/>
          <a:lstStyle xmlns:a="http://schemas.openxmlformats.org/drawingml/2006/main">
            <a:defPPr algn="ctr">
              <a:defRPr sz="1200" b="1">
                <a:solidFill>
                  <a:srgbClr val="F4F8FB"/>
                </a:solidFill>
                <a:latin typeface="Avenir Next"/>
                <a:ea typeface="Avenir Next"/>
                <a:cs typeface="Avenir Next"/>
              </a:defRPr>
            </a:defPPr>
          </a:lstStyle>
          <a:p xmlns:a="http://schemas.openxmlformats.org/drawingml/2006/main">
            <a:pPr algn="ctr">
              <a:buNone/>
              <a:defRPr sz="1200" b="1">
                <a:solidFill>
                  <a:srgbClr val="F4F8FB"/>
                </a:solidFill>
                <a:latin typeface="Avenir Next"/>
                <a:ea typeface="Avenir Next"/>
                <a:cs typeface="Avenir Next"/>
              </a:defRPr>
            </a:pPr>
            <a:r>
              <a:rPr sz="1200" b="1">
                <a:solidFill>
                  <a:srgbClr val="F4F8FB"/>
                </a:solidFill>
                <a:latin typeface="Avenir Next"/>
                <a:ea typeface="Avenir Next"/>
                <a:cs typeface="Avenir Next"/>
              </a:rPr>
              <a:t>CAM 6</a:t>
            </a:r>
          </a:p>
        </p:txBody>
      </p:sp>
      <p:sp>
        <p:nvSpPr>
          <p:cNvPr id="33" name="">
            <a:extLst xmlns:a="http://schemas.openxmlformats.org/drawingml/2006/main">
              <a:ext uri="{FF2B5EF4-FFF2-40B4-BE49-F238E27FC236}">
                <a16:creationId xmlns:a16="http://schemas.microsoft.com/office/drawing/2014/main" id="{80E7DCE6-EF2E-4207-8175-C0E78FCE1C04}"/>
              </a:ext>
            </a:extLst>
          </p:cNvPr>
          <p:cNvSpPr>
            <a:spLocks xmlns:a="http://schemas.openxmlformats.org/drawingml/2006/main" noGrp="1"/>
          </p:cNvSpPr>
          <p:nvPr/>
        </p:nvSpPr>
        <p:spPr>
          <a:xfrm xmlns:a="http://schemas.openxmlformats.org/drawingml/2006/main">
            <a:off x="7800975" y="4362450"/>
            <a:ext cx="1104900" cy="190500"/>
          </a:xfrm>
          <a:prstGeom xmlns:a="http://schemas.openxmlformats.org/drawingml/2006/main" prst="rect">
            <a:avLst/>
          </a:prstGeom>
          <a:solidFill xmlns:a="http://schemas.openxmlformats.org/drawingml/2006/main">
            <a:srgbClr val="36D4C5"/>
          </a:solidFill>
          <a:ln xmlns:a="http://schemas.openxmlformats.org/drawingml/2006/main" w="0">
            <a:solidFill>
              <a:srgbClr val="36D4C5"/>
            </a:solidFill>
            <a:prstDash val="solid"/>
          </a:ln>
        </p:spPr>
        <p:txBody>
          <a:bodyPr xmlns:a="http://schemas.openxmlformats.org/drawingml/2006/main"/>
          <a:lstStyle xmlns:a="http://schemas.openxmlformats.org/drawingml/2006/main">
            <a:defPPr algn="ctr">
              <a:defRPr sz="750" b="1">
                <a:solidFill>
                  <a:srgbClr val="071018"/>
                </a:solidFill>
                <a:latin typeface="Avenir Next"/>
                <a:ea typeface="Avenir Next"/>
                <a:cs typeface="Avenir Next"/>
              </a:defRPr>
            </a:defPPr>
          </a:lstStyle>
          <a:p xmlns:a="http://schemas.openxmlformats.org/drawingml/2006/main">
            <a:pPr algn="ctr">
              <a:buNone/>
              <a:defRPr sz="750" b="1">
                <a:solidFill>
                  <a:srgbClr val="071018"/>
                </a:solidFill>
                <a:latin typeface="Avenir Next"/>
                <a:ea typeface="Avenir Next"/>
                <a:cs typeface="Avenir Next"/>
              </a:defRPr>
            </a:pPr>
            <a:r>
              <a:rPr sz="750" b="1">
                <a:solidFill>
                  <a:srgbClr val="071018"/>
                </a:solidFill>
                <a:latin typeface="Avenir Next"/>
                <a:ea typeface="Avenir Next"/>
                <a:cs typeface="Avenir Next"/>
              </a:rPr>
              <a:t>NAME 6</a:t>
            </a:r>
          </a:p>
        </p:txBody>
      </p:sp>
      <p:sp>
        <p:nvSpPr>
          <p:cNvPr id="34" name="">
            <a:extLst xmlns:a="http://schemas.openxmlformats.org/drawingml/2006/main">
              <a:ext uri="{FF2B5EF4-FFF2-40B4-BE49-F238E27FC236}">
                <a16:creationId xmlns:a16="http://schemas.microsoft.com/office/drawing/2014/main" id="{0174FCDC-1993-4468-AA2E-8576D6CB896B}"/>
              </a:ext>
            </a:extLst>
          </p:cNvPr>
          <p:cNvSpPr>
            <a:spLocks xmlns:a="http://schemas.openxmlformats.org/drawingml/2006/main" noGrp="1"/>
          </p:cNvSpPr>
          <p:nvPr/>
        </p:nvSpPr>
        <p:spPr>
          <a:xfrm xmlns:a="http://schemas.openxmlformats.org/drawingml/2006/main">
            <a:off x="9001125" y="3486150"/>
            <a:ext cx="1104900" cy="876300"/>
          </a:xfrm>
          <a:prstGeom xmlns:a="http://schemas.openxmlformats.org/drawingml/2006/main" prst="rect">
            <a:avLst/>
          </a:prstGeom>
          <a:solidFill xmlns:a="http://schemas.openxmlformats.org/drawingml/2006/main">
            <a:srgbClr val="152A38"/>
          </a:solidFill>
          <a:ln xmlns:a="http://schemas.openxmlformats.org/drawingml/2006/main" w="11430">
            <a:solidFill>
              <a:srgbClr val="48C7FF"/>
            </a:solidFill>
            <a:prstDash val="solid"/>
          </a:ln>
        </p:spPr>
        <p:txBody>
          <a:bodyPr xmlns:a="http://schemas.openxmlformats.org/drawingml/2006/main"/>
          <a:lstStyle xmlns:a="http://schemas.openxmlformats.org/drawingml/2006/main">
            <a:defPPr algn="ctr">
              <a:defRPr sz="1200" b="1">
                <a:solidFill>
                  <a:srgbClr val="F4F8FB"/>
                </a:solidFill>
                <a:latin typeface="Avenir Next"/>
                <a:ea typeface="Avenir Next"/>
                <a:cs typeface="Avenir Next"/>
              </a:defRPr>
            </a:defPPr>
          </a:lstStyle>
          <a:p xmlns:a="http://schemas.openxmlformats.org/drawingml/2006/main">
            <a:pPr algn="ctr">
              <a:buNone/>
              <a:defRPr sz="1200" b="1">
                <a:solidFill>
                  <a:srgbClr val="F4F8FB"/>
                </a:solidFill>
                <a:latin typeface="Avenir Next"/>
                <a:ea typeface="Avenir Next"/>
                <a:cs typeface="Avenir Next"/>
              </a:defRPr>
            </a:pPr>
            <a:r>
              <a:rPr sz="1200" b="1">
                <a:solidFill>
                  <a:srgbClr val="F4F8FB"/>
                </a:solidFill>
                <a:latin typeface="Avenir Next"/>
                <a:ea typeface="Avenir Next"/>
                <a:cs typeface="Avenir Next"/>
              </a:rPr>
              <a:t>CAM 7</a:t>
            </a:r>
          </a:p>
        </p:txBody>
      </p:sp>
      <p:sp>
        <p:nvSpPr>
          <p:cNvPr id="35" name="">
            <a:extLst xmlns:a="http://schemas.openxmlformats.org/drawingml/2006/main">
              <a:ext uri="{FF2B5EF4-FFF2-40B4-BE49-F238E27FC236}">
                <a16:creationId xmlns:a16="http://schemas.microsoft.com/office/drawing/2014/main" id="{5C8860F6-82F5-44E6-A7E4-B0EFC1C14D45}"/>
              </a:ext>
            </a:extLst>
          </p:cNvPr>
          <p:cNvSpPr>
            <a:spLocks xmlns:a="http://schemas.openxmlformats.org/drawingml/2006/main" noGrp="1"/>
          </p:cNvSpPr>
          <p:nvPr/>
        </p:nvSpPr>
        <p:spPr>
          <a:xfrm xmlns:a="http://schemas.openxmlformats.org/drawingml/2006/main">
            <a:off x="9001125" y="4362450"/>
            <a:ext cx="1104900" cy="190500"/>
          </a:xfrm>
          <a:prstGeom xmlns:a="http://schemas.openxmlformats.org/drawingml/2006/main" prst="rect">
            <a:avLst/>
          </a:prstGeom>
          <a:solidFill xmlns:a="http://schemas.openxmlformats.org/drawingml/2006/main">
            <a:srgbClr val="36D4C5"/>
          </a:solidFill>
          <a:ln xmlns:a="http://schemas.openxmlformats.org/drawingml/2006/main" w="0">
            <a:solidFill>
              <a:srgbClr val="36D4C5"/>
            </a:solidFill>
            <a:prstDash val="solid"/>
          </a:ln>
        </p:spPr>
        <p:txBody>
          <a:bodyPr xmlns:a="http://schemas.openxmlformats.org/drawingml/2006/main"/>
          <a:lstStyle xmlns:a="http://schemas.openxmlformats.org/drawingml/2006/main">
            <a:defPPr algn="ctr">
              <a:defRPr sz="750" b="1">
                <a:solidFill>
                  <a:srgbClr val="071018"/>
                </a:solidFill>
                <a:latin typeface="Avenir Next"/>
                <a:ea typeface="Avenir Next"/>
                <a:cs typeface="Avenir Next"/>
              </a:defRPr>
            </a:defPPr>
          </a:lstStyle>
          <a:p xmlns:a="http://schemas.openxmlformats.org/drawingml/2006/main">
            <a:pPr algn="ctr">
              <a:buNone/>
              <a:defRPr sz="750" b="1">
                <a:solidFill>
                  <a:srgbClr val="071018"/>
                </a:solidFill>
                <a:latin typeface="Avenir Next"/>
                <a:ea typeface="Avenir Next"/>
                <a:cs typeface="Avenir Next"/>
              </a:defRPr>
            </a:pPr>
            <a:r>
              <a:rPr sz="750" b="1">
                <a:solidFill>
                  <a:srgbClr val="071018"/>
                </a:solidFill>
                <a:latin typeface="Avenir Next"/>
                <a:ea typeface="Avenir Next"/>
                <a:cs typeface="Avenir Next"/>
              </a:rPr>
              <a:t>NAME 7</a:t>
            </a:r>
          </a:p>
        </p:txBody>
      </p:sp>
      <p:sp>
        <p:nvSpPr>
          <p:cNvPr id="36" name="">
            <a:extLst xmlns:a="http://schemas.openxmlformats.org/drawingml/2006/main">
              <a:ext uri="{FF2B5EF4-FFF2-40B4-BE49-F238E27FC236}">
                <a16:creationId xmlns:a16="http://schemas.microsoft.com/office/drawing/2014/main" id="{E95EF8A0-CA15-4E64-B031-DBC99CD46D30}"/>
              </a:ext>
            </a:extLst>
          </p:cNvPr>
          <p:cNvSpPr>
            <a:spLocks xmlns:a="http://schemas.openxmlformats.org/drawingml/2006/main" noGrp="1"/>
          </p:cNvSpPr>
          <p:nvPr/>
        </p:nvSpPr>
        <p:spPr>
          <a:xfrm xmlns:a="http://schemas.openxmlformats.org/drawingml/2006/main">
            <a:off x="10201275" y="3486150"/>
            <a:ext cx="1104900" cy="876300"/>
          </a:xfrm>
          <a:prstGeom xmlns:a="http://schemas.openxmlformats.org/drawingml/2006/main" prst="rect">
            <a:avLst/>
          </a:prstGeom>
          <a:solidFill xmlns:a="http://schemas.openxmlformats.org/drawingml/2006/main">
            <a:srgbClr val="152A38"/>
          </a:solidFill>
          <a:ln xmlns:a="http://schemas.openxmlformats.org/drawingml/2006/main" w="11430">
            <a:solidFill>
              <a:srgbClr val="48C7FF"/>
            </a:solidFill>
            <a:prstDash val="solid"/>
          </a:ln>
        </p:spPr>
        <p:txBody>
          <a:bodyPr xmlns:a="http://schemas.openxmlformats.org/drawingml/2006/main"/>
          <a:lstStyle xmlns:a="http://schemas.openxmlformats.org/drawingml/2006/main">
            <a:defPPr algn="ctr">
              <a:defRPr sz="1200" b="1">
                <a:solidFill>
                  <a:srgbClr val="F4F8FB"/>
                </a:solidFill>
                <a:latin typeface="Avenir Next"/>
                <a:ea typeface="Avenir Next"/>
                <a:cs typeface="Avenir Next"/>
              </a:defRPr>
            </a:defPPr>
          </a:lstStyle>
          <a:p xmlns:a="http://schemas.openxmlformats.org/drawingml/2006/main">
            <a:pPr algn="ctr">
              <a:buNone/>
              <a:defRPr sz="1200" b="1">
                <a:solidFill>
                  <a:srgbClr val="F4F8FB"/>
                </a:solidFill>
                <a:latin typeface="Avenir Next"/>
                <a:ea typeface="Avenir Next"/>
                <a:cs typeface="Avenir Next"/>
              </a:defRPr>
            </a:pPr>
            <a:r>
              <a:rPr sz="1200" b="1">
                <a:solidFill>
                  <a:srgbClr val="F4F8FB"/>
                </a:solidFill>
                <a:latin typeface="Avenir Next"/>
                <a:ea typeface="Avenir Next"/>
                <a:cs typeface="Avenir Next"/>
              </a:rPr>
              <a:t>CAM 8</a:t>
            </a:r>
          </a:p>
        </p:txBody>
      </p:sp>
      <p:sp>
        <p:nvSpPr>
          <p:cNvPr id="37" name="">
            <a:extLst xmlns:a="http://schemas.openxmlformats.org/drawingml/2006/main">
              <a:ext uri="{FF2B5EF4-FFF2-40B4-BE49-F238E27FC236}">
                <a16:creationId xmlns:a16="http://schemas.microsoft.com/office/drawing/2014/main" id="{6C57E3BA-054E-42D7-BC08-855385E19744}"/>
              </a:ext>
            </a:extLst>
          </p:cNvPr>
          <p:cNvSpPr>
            <a:spLocks xmlns:a="http://schemas.openxmlformats.org/drawingml/2006/main" noGrp="1"/>
          </p:cNvSpPr>
          <p:nvPr/>
        </p:nvSpPr>
        <p:spPr>
          <a:xfrm xmlns:a="http://schemas.openxmlformats.org/drawingml/2006/main">
            <a:off x="10201275" y="4362450"/>
            <a:ext cx="1104900" cy="190500"/>
          </a:xfrm>
          <a:prstGeom xmlns:a="http://schemas.openxmlformats.org/drawingml/2006/main" prst="rect">
            <a:avLst/>
          </a:prstGeom>
          <a:solidFill xmlns:a="http://schemas.openxmlformats.org/drawingml/2006/main">
            <a:srgbClr val="36D4C5"/>
          </a:solidFill>
          <a:ln xmlns:a="http://schemas.openxmlformats.org/drawingml/2006/main" w="0">
            <a:solidFill>
              <a:srgbClr val="36D4C5"/>
            </a:solidFill>
            <a:prstDash val="solid"/>
          </a:ln>
        </p:spPr>
        <p:txBody>
          <a:bodyPr xmlns:a="http://schemas.openxmlformats.org/drawingml/2006/main"/>
          <a:lstStyle xmlns:a="http://schemas.openxmlformats.org/drawingml/2006/main">
            <a:defPPr algn="ctr">
              <a:defRPr sz="750" b="1">
                <a:solidFill>
                  <a:srgbClr val="071018"/>
                </a:solidFill>
                <a:latin typeface="Avenir Next"/>
                <a:ea typeface="Avenir Next"/>
                <a:cs typeface="Avenir Next"/>
              </a:defRPr>
            </a:defPPr>
          </a:lstStyle>
          <a:p xmlns:a="http://schemas.openxmlformats.org/drawingml/2006/main">
            <a:pPr algn="ctr">
              <a:buNone/>
              <a:defRPr sz="750" b="1">
                <a:solidFill>
                  <a:srgbClr val="071018"/>
                </a:solidFill>
                <a:latin typeface="Avenir Next"/>
                <a:ea typeface="Avenir Next"/>
                <a:cs typeface="Avenir Next"/>
              </a:defRPr>
            </a:pPr>
            <a:r>
              <a:rPr sz="750" b="1">
                <a:solidFill>
                  <a:srgbClr val="071018"/>
                </a:solidFill>
                <a:latin typeface="Avenir Next"/>
                <a:ea typeface="Avenir Next"/>
                <a:cs typeface="Avenir Next"/>
              </a:rPr>
              <a:t>NAME 8</a:t>
            </a:r>
          </a:p>
        </p:txBody>
      </p:sp>
      <p:sp>
        <p:nvSpPr>
          <p:cNvPr id="38" name="">
            <a:extLst xmlns:a="http://schemas.openxmlformats.org/drawingml/2006/main">
              <a:ext uri="{FF2B5EF4-FFF2-40B4-BE49-F238E27FC236}">
                <a16:creationId xmlns:a16="http://schemas.microsoft.com/office/drawing/2014/main" id="{BBC4D007-0CB5-42CD-97DB-9FCEDBE2588D}"/>
              </a:ext>
            </a:extLst>
          </p:cNvPr>
          <p:cNvSpPr>
            <a:spLocks xmlns:a="http://schemas.openxmlformats.org/drawingml/2006/main" noGrp="1"/>
          </p:cNvSpPr>
          <p:nvPr/>
        </p:nvSpPr>
        <p:spPr>
          <a:xfrm xmlns:a="http://schemas.openxmlformats.org/drawingml/2006/main">
            <a:off x="876300" y="5486400"/>
            <a:ext cx="10439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a:solidFill>
                  <a:srgbClr val="F4F8FB"/>
                </a:solidFill>
                <a:latin typeface="Avenir Next"/>
                <a:ea typeface="Avenir Next"/>
                <a:cs typeface="Avenir Next"/>
              </a:defRPr>
            </a:defPPr>
          </a:lstStyle>
          <a:p xmlns:a="http://schemas.openxmlformats.org/drawingml/2006/main">
            <a:pPr algn="ctr">
              <a:buNone/>
              <a:defRPr sz="1650" b="1">
                <a:solidFill>
                  <a:srgbClr val="F4F8FB"/>
                </a:solidFill>
                <a:latin typeface="Avenir Next"/>
                <a:ea typeface="Avenir Next"/>
                <a:cs typeface="Avenir Next"/>
              </a:defRPr>
            </a:pPr>
            <a:r>
              <a:rPr sz="1650" b="1">
                <a:solidFill>
                  <a:srgbClr val="F4F8FB"/>
                </a:solidFill>
                <a:latin typeface="Avenir Next"/>
                <a:ea typeface="Avenir Next"/>
                <a:cs typeface="Avenir Next"/>
              </a:rPr>
              <a:t>Every tile must keep changing, every GFX strip must follow its source, and the 1080p output must hold cadence with zero drops.</a:t>
            </a:r>
          </a:p>
        </p:txBody>
      </p:sp>
      <p:sp>
        <p:nvSpPr>
          <p:cNvPr id="39" name="">
            <a:extLst xmlns:a="http://schemas.openxmlformats.org/drawingml/2006/main">
              <a:ext uri="{FF2B5EF4-FFF2-40B4-BE49-F238E27FC236}">
                <a16:creationId xmlns:a16="http://schemas.microsoft.com/office/drawing/2014/main" id="{9046F412-03B0-47B8-A676-5B7DB1490D0C}"/>
              </a:ext>
            </a:extLst>
          </p:cNvPr>
          <p:cNvSpPr>
            <a:spLocks xmlns:a="http://schemas.openxmlformats.org/drawingml/2006/main" noGrp="1"/>
          </p:cNvSpPr>
          <p:nvPr/>
        </p:nvSpPr>
        <p:spPr>
          <a:xfrm xmlns:a="http://schemas.openxmlformats.org/drawingml/2006/main">
            <a:off x="609600" y="6467475"/>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0">
                <a:solidFill>
                  <a:srgbClr val="718694"/>
                </a:solidFill>
                <a:latin typeface="Avenir Next"/>
                <a:ea typeface="Avenir Next"/>
                <a:cs typeface="Avenir Next"/>
              </a:defRPr>
            </a:defPPr>
          </a:lstStyle>
          <a:p xmlns:a="http://schemas.openxmlformats.org/drawingml/2006/main">
            <a:pPr algn="l">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Proposed multiview looks</a:t>
            </a:r>
          </a:p>
        </p:txBody>
      </p:sp>
      <p:sp>
        <p:nvSpPr>
          <p:cNvPr id="40" name="">
            <a:extLst xmlns:a="http://schemas.openxmlformats.org/drawingml/2006/main">
              <a:ext uri="{FF2B5EF4-FFF2-40B4-BE49-F238E27FC236}">
                <a16:creationId xmlns:a16="http://schemas.microsoft.com/office/drawing/2014/main" id="{97804BE6-1E4C-42D0-8C1E-2ED6DC411B31}"/>
              </a:ext>
            </a:extLst>
          </p:cNvPr>
          <p:cNvSpPr>
            <a:spLocks xmlns:a="http://schemas.openxmlformats.org/drawingml/2006/main" noGrp="1"/>
          </p:cNvSpPr>
          <p:nvPr/>
        </p:nvSpPr>
        <p:spPr>
          <a:xfrm xmlns:a="http://schemas.openxmlformats.org/drawingml/2006/main">
            <a:off x="11239500" y="646747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718694"/>
                </a:solidFill>
                <a:latin typeface="Avenir Next"/>
                <a:ea typeface="Avenir Next"/>
                <a:cs typeface="Avenir Next"/>
              </a:defRPr>
            </a:defPPr>
          </a:lstStyle>
          <a:p xmlns:a="http://schemas.openxmlformats.org/drawingml/2006/main">
            <a:pPr algn="r">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20</a:t>
            </a:r>
          </a:p>
        </p:txBody>
      </p:sp>
    </p:spTree>
    <p:extLst>
      <p:ext uri="{BB962C8B-B14F-4D97-AF65-F5344CB8AC3E}">
        <p14:creationId xmlns:p14="http://schemas.microsoft.com/office/powerpoint/2010/main" val="637693534"/>
      </p:ext>
    </p:extLst>
  </p:cSld>
</p:sld>
</file>

<file path=ppt/slides/slide21.xml><?xml version="1.0" encoding="utf-8"?>
<p:sld xmlns:p="http://schemas.openxmlformats.org/presentationml/2006/main">
  <p:cSld>
    <p:bg>
      <p:bgPr>
        <a:solidFill xmlns:a="http://schemas.openxmlformats.org/drawingml/2006/main">
          <a:srgbClr val="07101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1C82EF6-290C-4E54-9BD7-767A0D19EEA8}"/>
              </a:ext>
            </a:extLst>
          </p:cNvPr>
          <p:cNvSpPr>
            <a:spLocks xmlns:a="http://schemas.openxmlformats.org/drawingml/2006/main" noGrp="1"/>
          </p:cNvSpPr>
          <p:nvPr/>
        </p:nvSpPr>
        <p:spPr>
          <a:xfrm xmlns:a="http://schemas.openxmlformats.org/drawingml/2006/main">
            <a:off x="609600" y="361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3150" b="1">
                <a:solidFill>
                  <a:srgbClr val="F4F8FB"/>
                </a:solidFill>
                <a:latin typeface="Avenir Next"/>
                <a:ea typeface="Avenir Next"/>
                <a:cs typeface="Avenir Next"/>
              </a:defRPr>
            </a:pPr>
            <a:r>
              <a:rPr sz="3150" b="1">
                <a:solidFill>
                  <a:srgbClr val="F4F8FB"/>
                </a:solidFill>
                <a:latin typeface="Avenir Next"/>
                <a:ea typeface="Avenir Next"/>
                <a:cs typeface="Avenir Next"/>
              </a:rPr>
              <a:t>Who wants to play?</a:t>
            </a:r>
          </a:p>
        </p:txBody>
      </p:sp>
      <p:sp>
        <p:nvSpPr>
          <p:cNvPr id="2" name="">
            <a:extLst xmlns:a="http://schemas.openxmlformats.org/drawingml/2006/main">
              <a:ext uri="{FF2B5EF4-FFF2-40B4-BE49-F238E27FC236}">
                <a16:creationId xmlns:a16="http://schemas.microsoft.com/office/drawing/2014/main" id="{B227463C-0815-4DB3-8273-D8FD6CC0819D}"/>
              </a:ext>
            </a:extLst>
          </p:cNvPr>
          <p:cNvSpPr>
            <a:spLocks xmlns:a="http://schemas.openxmlformats.org/drawingml/2006/main" noGrp="1"/>
          </p:cNvSpPr>
          <p:nvPr/>
        </p:nvSpPr>
        <p:spPr>
          <a:xfrm xmlns:a="http://schemas.openxmlformats.org/drawingml/2006/main">
            <a:off x="628650" y="9525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500" b="0">
                <a:solidFill>
                  <a:srgbClr val="A9BAC8"/>
                </a:solidFill>
                <a:latin typeface="Avenir Next"/>
                <a:ea typeface="Avenir Next"/>
                <a:cs typeface="Avenir Next"/>
              </a:defRPr>
            </a:pPr>
            <a:r>
              <a:rPr sz="1500" b="0">
                <a:solidFill>
                  <a:srgbClr val="A9BAC8"/>
                </a:solidFill>
                <a:latin typeface="Avenir Next"/>
                <a:ea typeface="Avenir Next"/>
                <a:cs typeface="Avenir Next"/>
              </a:rPr>
              <a:t>The new Office Hours Discord channel can turn the roadmap into shared experiments</a:t>
            </a:r>
          </a:p>
        </p:txBody>
      </p:sp>
      <p:sp>
        <p:nvSpPr>
          <p:cNvPr id="3" name="">
            <a:extLst xmlns:a="http://schemas.openxmlformats.org/drawingml/2006/main">
              <a:ext uri="{FF2B5EF4-FFF2-40B4-BE49-F238E27FC236}">
                <a16:creationId xmlns:a16="http://schemas.microsoft.com/office/drawing/2014/main" id="{0E71D860-4121-47F5-8E29-1F4E4B40971C}"/>
              </a:ext>
            </a:extLst>
          </p:cNvPr>
          <p:cNvSpPr>
            <a:spLocks xmlns:a="http://schemas.openxmlformats.org/drawingml/2006/main" noGrp="1"/>
          </p:cNvSpPr>
          <p:nvPr/>
        </p:nvSpPr>
        <p:spPr>
          <a:xfrm xmlns:a="http://schemas.openxmlformats.org/drawingml/2006/main">
            <a:off x="609600" y="1362075"/>
            <a:ext cx="819150" cy="38100"/>
          </a:xfrm>
          <a:prstGeom xmlns:a="http://schemas.openxmlformats.org/drawingml/2006/main" prst="rect">
            <a:avLst/>
          </a:prstGeom>
          <a:solidFill xmlns:a="http://schemas.openxmlformats.org/drawingml/2006/main">
            <a:srgbClr val="36D4C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5FF9DC2-E7D2-4A87-9D46-5AAB8322C98D}"/>
              </a:ext>
            </a:extLst>
          </p:cNvPr>
          <p:cNvSpPr>
            <a:spLocks xmlns:a="http://schemas.openxmlformats.org/drawingml/2006/main" noGrp="1"/>
          </p:cNvSpPr>
          <p:nvPr/>
        </p:nvSpPr>
        <p:spPr>
          <a:xfrm xmlns:a="http://schemas.openxmlformats.org/drawingml/2006/main">
            <a:off x="742950" y="161925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500" b="1">
                <a:solidFill>
                  <a:srgbClr val="36D4C5"/>
                </a:solidFill>
                <a:latin typeface="Avenir Next"/>
                <a:ea typeface="Avenir Next"/>
                <a:cs typeface="Avenir Next"/>
              </a:defRPr>
            </a:pPr>
            <a:r>
              <a:rPr sz="1500" b="1">
                <a:solidFill>
                  <a:srgbClr val="36D4C5"/>
                </a:solidFill>
                <a:latin typeface="Avenir Next"/>
                <a:ea typeface="Avenir Next"/>
                <a:cs typeface="Avenir Next"/>
              </a:rPr>
              <a:t>01</a:t>
            </a:r>
          </a:p>
        </p:txBody>
      </p:sp>
      <p:sp>
        <p:nvSpPr>
          <p:cNvPr id="5" name="">
            <a:extLst xmlns:a="http://schemas.openxmlformats.org/drawingml/2006/main">
              <a:ext uri="{FF2B5EF4-FFF2-40B4-BE49-F238E27FC236}">
                <a16:creationId xmlns:a16="http://schemas.microsoft.com/office/drawing/2014/main" id="{B9CC27C9-87CF-4BAB-9604-77A72A062E5A}"/>
              </a:ext>
            </a:extLst>
          </p:cNvPr>
          <p:cNvSpPr>
            <a:spLocks xmlns:a="http://schemas.openxmlformats.org/drawingml/2006/main" noGrp="1"/>
          </p:cNvSpPr>
          <p:nvPr/>
        </p:nvSpPr>
        <p:spPr>
          <a:xfrm xmlns:a="http://schemas.openxmlformats.org/drawingml/2006/main">
            <a:off x="1581150" y="1600200"/>
            <a:ext cx="9667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875" b="1">
                <a:solidFill>
                  <a:srgbClr val="F4F8FB"/>
                </a:solidFill>
                <a:latin typeface="Avenir Next"/>
                <a:ea typeface="Avenir Next"/>
                <a:cs typeface="Avenir Next"/>
              </a:defRPr>
            </a:pPr>
            <a:r>
              <a:rPr sz="1875" b="1">
                <a:solidFill>
                  <a:srgbClr val="F4F8FB"/>
                </a:solidFill>
                <a:latin typeface="Avenir Next"/>
                <a:ea typeface="Avenir Next"/>
                <a:cs typeface="Avenir Next"/>
              </a:rPr>
              <a:t>Where would a small MXL-native switching Core help your production?</a:t>
            </a:r>
          </a:p>
        </p:txBody>
      </p:sp>
      <p:sp>
        <p:nvSpPr>
          <p:cNvPr id="6" name="">
            <a:extLst xmlns:a="http://schemas.openxmlformats.org/drawingml/2006/main">
              <a:ext uri="{FF2B5EF4-FFF2-40B4-BE49-F238E27FC236}">
                <a16:creationId xmlns:a16="http://schemas.microsoft.com/office/drawing/2014/main" id="{3B32A3E1-EAA5-448E-AE93-B74EFC8C5CA5}"/>
              </a:ext>
            </a:extLst>
          </p:cNvPr>
          <p:cNvSpPr>
            <a:spLocks xmlns:a="http://schemas.openxmlformats.org/drawingml/2006/main" noGrp="1"/>
          </p:cNvSpPr>
          <p:nvPr/>
        </p:nvSpPr>
        <p:spPr>
          <a:xfrm xmlns:a="http://schemas.openxmlformats.org/drawingml/2006/main">
            <a:off x="1581150" y="2162175"/>
            <a:ext cx="9658350" cy="9525"/>
          </a:xfrm>
          <a:prstGeom xmlns:a="http://schemas.openxmlformats.org/drawingml/2006/main" prst="rect">
            <a:avLst/>
          </a:prstGeom>
          <a:solidFill xmlns:a="http://schemas.openxmlformats.org/drawingml/2006/main">
            <a:srgbClr val="29415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B7F370C-EA2D-49BB-80B7-72AE8386B6BB}"/>
              </a:ext>
            </a:extLst>
          </p:cNvPr>
          <p:cNvSpPr>
            <a:spLocks xmlns:a="http://schemas.openxmlformats.org/drawingml/2006/main" noGrp="1"/>
          </p:cNvSpPr>
          <p:nvPr/>
        </p:nvSpPr>
        <p:spPr>
          <a:xfrm xmlns:a="http://schemas.openxmlformats.org/drawingml/2006/main">
            <a:off x="742950" y="24765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500" b="1">
                <a:solidFill>
                  <a:srgbClr val="36D4C5"/>
                </a:solidFill>
                <a:latin typeface="Avenir Next"/>
                <a:ea typeface="Avenir Next"/>
                <a:cs typeface="Avenir Next"/>
              </a:defRPr>
            </a:pPr>
            <a:r>
              <a:rPr sz="1500" b="1">
                <a:solidFill>
                  <a:srgbClr val="36D4C5"/>
                </a:solidFill>
                <a:latin typeface="Avenir Next"/>
                <a:ea typeface="Avenir Next"/>
                <a:cs typeface="Avenir Next"/>
              </a:rPr>
              <a:t>02</a:t>
            </a:r>
          </a:p>
        </p:txBody>
      </p:sp>
      <p:sp>
        <p:nvSpPr>
          <p:cNvPr id="8" name="">
            <a:extLst xmlns:a="http://schemas.openxmlformats.org/drawingml/2006/main">
              <a:ext uri="{FF2B5EF4-FFF2-40B4-BE49-F238E27FC236}">
                <a16:creationId xmlns:a16="http://schemas.microsoft.com/office/drawing/2014/main" id="{79B6B1BA-F2B9-46CF-A6E6-D9D020C53256}"/>
              </a:ext>
            </a:extLst>
          </p:cNvPr>
          <p:cNvSpPr>
            <a:spLocks xmlns:a="http://schemas.openxmlformats.org/drawingml/2006/main" noGrp="1"/>
          </p:cNvSpPr>
          <p:nvPr/>
        </p:nvSpPr>
        <p:spPr>
          <a:xfrm xmlns:a="http://schemas.openxmlformats.org/drawingml/2006/main">
            <a:off x="1581150" y="2457450"/>
            <a:ext cx="9667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875" b="1">
                <a:solidFill>
                  <a:srgbClr val="F4F8FB"/>
                </a:solidFill>
                <a:latin typeface="Avenir Next"/>
                <a:ea typeface="Avenir Next"/>
                <a:cs typeface="Avenir Next"/>
              </a:defRPr>
            </a:pPr>
            <a:r>
              <a:rPr sz="1875" b="1">
                <a:solidFill>
                  <a:srgbClr val="F4F8FB"/>
                </a:solidFill>
                <a:latin typeface="Avenir Next"/>
                <a:ea typeface="Avenir Next"/>
                <a:cs typeface="Avenir Next"/>
              </a:rPr>
              <a:t>Which useful output should attach to Program Master first: Zoom, NDI, SRT, SDI, record, or RTMP?</a:t>
            </a:r>
          </a:p>
        </p:txBody>
      </p:sp>
      <p:sp>
        <p:nvSpPr>
          <p:cNvPr id="9" name="">
            <a:extLst xmlns:a="http://schemas.openxmlformats.org/drawingml/2006/main">
              <a:ext uri="{FF2B5EF4-FFF2-40B4-BE49-F238E27FC236}">
                <a16:creationId xmlns:a16="http://schemas.microsoft.com/office/drawing/2014/main" id="{66F3271E-98A4-4EB3-A214-6CED2115C34B}"/>
              </a:ext>
            </a:extLst>
          </p:cNvPr>
          <p:cNvSpPr>
            <a:spLocks xmlns:a="http://schemas.openxmlformats.org/drawingml/2006/main" noGrp="1"/>
          </p:cNvSpPr>
          <p:nvPr/>
        </p:nvSpPr>
        <p:spPr>
          <a:xfrm xmlns:a="http://schemas.openxmlformats.org/drawingml/2006/main">
            <a:off x="1581150" y="3019425"/>
            <a:ext cx="9658350" cy="9525"/>
          </a:xfrm>
          <a:prstGeom xmlns:a="http://schemas.openxmlformats.org/drawingml/2006/main" prst="rect">
            <a:avLst/>
          </a:prstGeom>
          <a:solidFill xmlns:a="http://schemas.openxmlformats.org/drawingml/2006/main">
            <a:srgbClr val="29415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FB63A01-6E93-4114-A3F6-A59037D1078D}"/>
              </a:ext>
            </a:extLst>
          </p:cNvPr>
          <p:cNvSpPr>
            <a:spLocks xmlns:a="http://schemas.openxmlformats.org/drawingml/2006/main" noGrp="1"/>
          </p:cNvSpPr>
          <p:nvPr/>
        </p:nvSpPr>
        <p:spPr>
          <a:xfrm xmlns:a="http://schemas.openxmlformats.org/drawingml/2006/main">
            <a:off x="742950" y="333375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500" b="1">
                <a:solidFill>
                  <a:srgbClr val="36D4C5"/>
                </a:solidFill>
                <a:latin typeface="Avenir Next"/>
                <a:ea typeface="Avenir Next"/>
                <a:cs typeface="Avenir Next"/>
              </a:defRPr>
            </a:pPr>
            <a:r>
              <a:rPr sz="1500" b="1">
                <a:solidFill>
                  <a:srgbClr val="36D4C5"/>
                </a:solidFill>
                <a:latin typeface="Avenir Next"/>
                <a:ea typeface="Avenir Next"/>
                <a:cs typeface="Avenir Next"/>
              </a:rPr>
              <a:t>03</a:t>
            </a:r>
          </a:p>
        </p:txBody>
      </p:sp>
      <p:sp>
        <p:nvSpPr>
          <p:cNvPr id="11" name="">
            <a:extLst xmlns:a="http://schemas.openxmlformats.org/drawingml/2006/main">
              <a:ext uri="{FF2B5EF4-FFF2-40B4-BE49-F238E27FC236}">
                <a16:creationId xmlns:a16="http://schemas.microsoft.com/office/drawing/2014/main" id="{7CD129CF-257E-4739-92B4-B5BFEFF1CF20}"/>
              </a:ext>
            </a:extLst>
          </p:cNvPr>
          <p:cNvSpPr>
            <a:spLocks xmlns:a="http://schemas.openxmlformats.org/drawingml/2006/main" noGrp="1"/>
          </p:cNvSpPr>
          <p:nvPr/>
        </p:nvSpPr>
        <p:spPr>
          <a:xfrm xmlns:a="http://schemas.openxmlformats.org/drawingml/2006/main">
            <a:off x="1581150" y="3314700"/>
            <a:ext cx="9667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875" b="1">
                <a:solidFill>
                  <a:srgbClr val="F4F8FB"/>
                </a:solidFill>
                <a:latin typeface="Avenir Next"/>
                <a:ea typeface="Avenir Next"/>
                <a:cs typeface="Avenir Next"/>
              </a:defRPr>
            </a:pPr>
            <a:r>
              <a:rPr sz="1875" b="1">
                <a:solidFill>
                  <a:srgbClr val="F4F8FB"/>
                </a:solidFill>
                <a:latin typeface="Avenir Next"/>
                <a:ea typeface="Avenir Next"/>
                <a:cs typeface="Avenir Next"/>
              </a:rPr>
              <a:t>Who wants to turn one of tonight's 2-up through 8-up Looks into a reusable production template?</a:t>
            </a:r>
          </a:p>
        </p:txBody>
      </p:sp>
      <p:sp>
        <p:nvSpPr>
          <p:cNvPr id="12" name="">
            <a:extLst xmlns:a="http://schemas.openxmlformats.org/drawingml/2006/main">
              <a:ext uri="{FF2B5EF4-FFF2-40B4-BE49-F238E27FC236}">
                <a16:creationId xmlns:a16="http://schemas.microsoft.com/office/drawing/2014/main" id="{31A1686B-EA22-40E7-B5DA-07BA175D62C2}"/>
              </a:ext>
            </a:extLst>
          </p:cNvPr>
          <p:cNvSpPr>
            <a:spLocks xmlns:a="http://schemas.openxmlformats.org/drawingml/2006/main" noGrp="1"/>
          </p:cNvSpPr>
          <p:nvPr/>
        </p:nvSpPr>
        <p:spPr>
          <a:xfrm xmlns:a="http://schemas.openxmlformats.org/drawingml/2006/main">
            <a:off x="1581150" y="3876675"/>
            <a:ext cx="9658350" cy="9525"/>
          </a:xfrm>
          <a:prstGeom xmlns:a="http://schemas.openxmlformats.org/drawingml/2006/main" prst="rect">
            <a:avLst/>
          </a:prstGeom>
          <a:solidFill xmlns:a="http://schemas.openxmlformats.org/drawingml/2006/main">
            <a:srgbClr val="29415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93CA340-0F22-4DB9-B70C-6FDD897320DF}"/>
              </a:ext>
            </a:extLst>
          </p:cNvPr>
          <p:cNvSpPr>
            <a:spLocks xmlns:a="http://schemas.openxmlformats.org/drawingml/2006/main" noGrp="1"/>
          </p:cNvSpPr>
          <p:nvPr/>
        </p:nvSpPr>
        <p:spPr>
          <a:xfrm xmlns:a="http://schemas.openxmlformats.org/drawingml/2006/main">
            <a:off x="742950" y="41910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500" b="1">
                <a:solidFill>
                  <a:srgbClr val="36D4C5"/>
                </a:solidFill>
                <a:latin typeface="Avenir Next"/>
                <a:ea typeface="Avenir Next"/>
                <a:cs typeface="Avenir Next"/>
              </a:defRPr>
            </a:pPr>
            <a:r>
              <a:rPr sz="1500" b="1">
                <a:solidFill>
                  <a:srgbClr val="36D4C5"/>
                </a:solidFill>
                <a:latin typeface="Avenir Next"/>
                <a:ea typeface="Avenir Next"/>
                <a:cs typeface="Avenir Next"/>
              </a:rPr>
              <a:t>04</a:t>
            </a:r>
          </a:p>
        </p:txBody>
      </p:sp>
      <p:sp>
        <p:nvSpPr>
          <p:cNvPr id="14" name="">
            <a:extLst xmlns:a="http://schemas.openxmlformats.org/drawingml/2006/main">
              <a:ext uri="{FF2B5EF4-FFF2-40B4-BE49-F238E27FC236}">
                <a16:creationId xmlns:a16="http://schemas.microsoft.com/office/drawing/2014/main" id="{76B3E5DE-6FBF-4A5A-8C35-EF1448AAE627}"/>
              </a:ext>
            </a:extLst>
          </p:cNvPr>
          <p:cNvSpPr>
            <a:spLocks xmlns:a="http://schemas.openxmlformats.org/drawingml/2006/main" noGrp="1"/>
          </p:cNvSpPr>
          <p:nvPr/>
        </p:nvSpPr>
        <p:spPr>
          <a:xfrm xmlns:a="http://schemas.openxmlformats.org/drawingml/2006/main">
            <a:off x="1581150" y="4171950"/>
            <a:ext cx="9667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875" b="1">
                <a:solidFill>
                  <a:srgbClr val="F4F8FB"/>
                </a:solidFill>
                <a:latin typeface="Avenir Next"/>
                <a:ea typeface="Avenir Next"/>
                <a:cs typeface="Avenir Next"/>
              </a:defRPr>
            </a:pPr>
            <a:r>
              <a:rPr sz="1875" b="1">
                <a:solidFill>
                  <a:srgbClr val="F4F8FB"/>
                </a:solidFill>
                <a:latin typeface="Avenir Next"/>
                <a:ea typeface="Avenir Next"/>
                <a:cs typeface="Avenir Next"/>
              </a:rPr>
              <a:t>Would you build a Skin, media function, transport adapter, or OBS bridge?</a:t>
            </a:r>
          </a:p>
        </p:txBody>
      </p:sp>
      <p:sp>
        <p:nvSpPr>
          <p:cNvPr id="15" name="">
            <a:extLst xmlns:a="http://schemas.openxmlformats.org/drawingml/2006/main">
              <a:ext uri="{FF2B5EF4-FFF2-40B4-BE49-F238E27FC236}">
                <a16:creationId xmlns:a16="http://schemas.microsoft.com/office/drawing/2014/main" id="{CF0E1E75-4E90-45BD-85B4-57EC3842984F}"/>
              </a:ext>
            </a:extLst>
          </p:cNvPr>
          <p:cNvSpPr>
            <a:spLocks xmlns:a="http://schemas.openxmlformats.org/drawingml/2006/main" noGrp="1"/>
          </p:cNvSpPr>
          <p:nvPr/>
        </p:nvSpPr>
        <p:spPr>
          <a:xfrm xmlns:a="http://schemas.openxmlformats.org/drawingml/2006/main">
            <a:off x="1581150" y="4733925"/>
            <a:ext cx="9658350" cy="9525"/>
          </a:xfrm>
          <a:prstGeom xmlns:a="http://schemas.openxmlformats.org/drawingml/2006/main" prst="rect">
            <a:avLst/>
          </a:prstGeom>
          <a:solidFill xmlns:a="http://schemas.openxmlformats.org/drawingml/2006/main">
            <a:srgbClr val="29415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CF4FB79-5BAE-40F8-A9AE-D9455E0E60C4}"/>
              </a:ext>
            </a:extLst>
          </p:cNvPr>
          <p:cNvSpPr>
            <a:spLocks xmlns:a="http://schemas.openxmlformats.org/drawingml/2006/main" noGrp="1"/>
          </p:cNvSpPr>
          <p:nvPr/>
        </p:nvSpPr>
        <p:spPr>
          <a:xfrm xmlns:a="http://schemas.openxmlformats.org/drawingml/2006/main">
            <a:off x="742950" y="504825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500" b="1">
                <a:solidFill>
                  <a:srgbClr val="36D4C5"/>
                </a:solidFill>
                <a:latin typeface="Avenir Next"/>
                <a:ea typeface="Avenir Next"/>
                <a:cs typeface="Avenir Next"/>
              </a:defRPr>
            </a:pPr>
            <a:r>
              <a:rPr sz="1500" b="1">
                <a:solidFill>
                  <a:srgbClr val="36D4C5"/>
                </a:solidFill>
                <a:latin typeface="Avenir Next"/>
                <a:ea typeface="Avenir Next"/>
                <a:cs typeface="Avenir Next"/>
              </a:rPr>
              <a:t>05</a:t>
            </a:r>
          </a:p>
        </p:txBody>
      </p:sp>
      <p:sp>
        <p:nvSpPr>
          <p:cNvPr id="17" name="">
            <a:extLst xmlns:a="http://schemas.openxmlformats.org/drawingml/2006/main">
              <a:ext uri="{FF2B5EF4-FFF2-40B4-BE49-F238E27FC236}">
                <a16:creationId xmlns:a16="http://schemas.microsoft.com/office/drawing/2014/main" id="{8CBCF6EB-D21A-40DC-A6C9-0B6DFE3076DB}"/>
              </a:ext>
            </a:extLst>
          </p:cNvPr>
          <p:cNvSpPr>
            <a:spLocks xmlns:a="http://schemas.openxmlformats.org/drawingml/2006/main" noGrp="1"/>
          </p:cNvSpPr>
          <p:nvPr/>
        </p:nvSpPr>
        <p:spPr>
          <a:xfrm xmlns:a="http://schemas.openxmlformats.org/drawingml/2006/main">
            <a:off x="1581150" y="5029200"/>
            <a:ext cx="9667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1875" b="1">
                <a:solidFill>
                  <a:srgbClr val="F4F8FB"/>
                </a:solidFill>
                <a:latin typeface="Avenir Next"/>
                <a:ea typeface="Avenir Next"/>
                <a:cs typeface="Avenir Next"/>
              </a:defRPr>
            </a:pPr>
            <a:r>
              <a:rPr sz="1875" b="1">
                <a:solidFill>
                  <a:srgbClr val="F4F8FB"/>
                </a:solidFill>
                <a:latin typeface="Avenir Next"/>
                <a:ea typeface="Avenir Next"/>
                <a:cs typeface="Avenir Next"/>
              </a:rPr>
              <a:t>What matched benchmark would convince you that fewer internal codec boundaries matter?</a:t>
            </a:r>
          </a:p>
        </p:txBody>
      </p:sp>
      <p:sp>
        <p:nvSpPr>
          <p:cNvPr id="18" name="">
            <a:extLst xmlns:a="http://schemas.openxmlformats.org/drawingml/2006/main">
              <a:ext uri="{FF2B5EF4-FFF2-40B4-BE49-F238E27FC236}">
                <a16:creationId xmlns:a16="http://schemas.microsoft.com/office/drawing/2014/main" id="{1439FB0C-00A3-46F4-844A-F6F095F849EB}"/>
              </a:ext>
            </a:extLst>
          </p:cNvPr>
          <p:cNvSpPr>
            <a:spLocks xmlns:a="http://schemas.openxmlformats.org/drawingml/2006/main" noGrp="1"/>
          </p:cNvSpPr>
          <p:nvPr/>
        </p:nvSpPr>
        <p:spPr>
          <a:xfrm xmlns:a="http://schemas.openxmlformats.org/drawingml/2006/main">
            <a:off x="1581150" y="5591175"/>
            <a:ext cx="9658350" cy="9525"/>
          </a:xfrm>
          <a:prstGeom xmlns:a="http://schemas.openxmlformats.org/drawingml/2006/main" prst="rect">
            <a:avLst/>
          </a:prstGeom>
          <a:solidFill xmlns:a="http://schemas.openxmlformats.org/drawingml/2006/main">
            <a:srgbClr val="29415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5709A6C-5F71-41B9-88AA-FABEC90382EC}"/>
              </a:ext>
            </a:extLst>
          </p:cNvPr>
          <p:cNvSpPr>
            <a:spLocks xmlns:a="http://schemas.openxmlformats.org/drawingml/2006/main" noGrp="1"/>
          </p:cNvSpPr>
          <p:nvPr/>
        </p:nvSpPr>
        <p:spPr>
          <a:xfrm xmlns:a="http://schemas.openxmlformats.org/drawingml/2006/main">
            <a:off x="723900" y="5972175"/>
            <a:ext cx="10515600" cy="14288"/>
          </a:xfrm>
          <a:prstGeom xmlns:a="http://schemas.openxmlformats.org/drawingml/2006/main" prst="rect">
            <a:avLst/>
          </a:prstGeom>
          <a:solidFill xmlns:a="http://schemas.openxmlformats.org/drawingml/2006/main">
            <a:srgbClr val="36D4C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131F0FF-BCB8-4733-A488-BECDCB146478}"/>
              </a:ext>
            </a:extLst>
          </p:cNvPr>
          <p:cNvSpPr>
            <a:spLocks xmlns:a="http://schemas.openxmlformats.org/drawingml/2006/main" noGrp="1"/>
          </p:cNvSpPr>
          <p:nvPr/>
        </p:nvSpPr>
        <p:spPr>
          <a:xfrm xmlns:a="http://schemas.openxmlformats.org/drawingml/2006/main">
            <a:off x="742950" y="6096000"/>
            <a:ext cx="10458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ctr">
              <a:buNone/>
              <a:defRPr sz="1875" b="1">
                <a:solidFill>
                  <a:srgbClr val="F4F8FB"/>
                </a:solidFill>
                <a:latin typeface="Avenir Next"/>
                <a:ea typeface="Avenir Next"/>
                <a:cs typeface="Avenir Next"/>
              </a:defRPr>
            </a:pPr>
            <a:r>
              <a:rPr sz="1875" b="1">
                <a:solidFill>
                  <a:srgbClr val="F4F8FB"/>
                </a:solidFill>
                <a:latin typeface="Avenir Next"/>
                <a:ea typeface="Avenir Next"/>
                <a:cs typeface="Avenir Next"/>
              </a:rPr>
              <a:t>Join the channel. Bring a source, a destination, a control surface, a machine, or code.</a:t>
            </a:r>
          </a:p>
        </p:txBody>
      </p:sp>
      <p:sp>
        <p:nvSpPr>
          <p:cNvPr id="21" name="">
            <a:extLst xmlns:a="http://schemas.openxmlformats.org/drawingml/2006/main">
              <a:ext uri="{FF2B5EF4-FFF2-40B4-BE49-F238E27FC236}">
                <a16:creationId xmlns:a16="http://schemas.microsoft.com/office/drawing/2014/main" id="{2C5D9F40-23A7-4FD7-9AD3-B3A9F9AA1C65}"/>
              </a:ext>
            </a:extLst>
          </p:cNvPr>
          <p:cNvSpPr>
            <a:spLocks xmlns:a="http://schemas.openxmlformats.org/drawingml/2006/main" noGrp="1"/>
          </p:cNvSpPr>
          <p:nvPr/>
        </p:nvSpPr>
        <p:spPr>
          <a:xfrm xmlns:a="http://schemas.openxmlformats.org/drawingml/2006/main">
            <a:off x="609600" y="64674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l">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github.com/guycochran/mxl-switcher-core</a:t>
            </a:r>
          </a:p>
        </p:txBody>
      </p:sp>
      <p:sp>
        <p:nvSpPr>
          <p:cNvPr id="22" name="">
            <a:extLst xmlns:a="http://schemas.openxmlformats.org/drawingml/2006/main">
              <a:ext uri="{FF2B5EF4-FFF2-40B4-BE49-F238E27FC236}">
                <a16:creationId xmlns:a16="http://schemas.microsoft.com/office/drawing/2014/main" id="{35580BF6-A3A2-42AA-B600-6D235F13696F}"/>
              </a:ext>
            </a:extLst>
          </p:cNvPr>
          <p:cNvSpPr>
            <a:spLocks xmlns:a="http://schemas.openxmlformats.org/drawingml/2006/main" noGrp="1"/>
          </p:cNvSpPr>
          <p:nvPr/>
        </p:nvSpPr>
        <p:spPr>
          <a:xfrm xmlns:a="http://schemas.openxmlformats.org/drawingml/2006/main">
            <a:off x="11239500" y="6467475"/>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a:latin typeface="Avenir Next"/>
                <a:ea typeface="Avenir Next"/>
                <a:cs typeface="Avenir Next"/>
              </a:defRPr>
            </a:defPPr>
          </a:lstStyle>
          <a:p xmlns:a="http://schemas.openxmlformats.org/drawingml/2006/main">
            <a:pPr algn="r">
              <a:buNone/>
              <a:defRPr sz="975" b="0">
                <a:solidFill>
                  <a:srgbClr val="718694"/>
                </a:solidFill>
                <a:latin typeface="Avenir Next"/>
                <a:ea typeface="Avenir Next"/>
                <a:cs typeface="Avenir Next"/>
              </a:defRPr>
            </a:pPr>
            <a:r>
              <a:rPr sz="975" b="0">
                <a:solidFill>
                  <a:srgbClr val="718694"/>
                </a:solidFill>
                <a:latin typeface="Avenir Next"/>
                <a:ea typeface="Avenir Next"/>
                <a:cs typeface="Avenir Next"/>
              </a:rPr>
              <a:t>21</a:t>
            </a:r>
          </a:p>
        </p:txBody>
      </p:sp>
    </p:spTree>
    <p:extLst>
      <p:ext uri="{BB962C8B-B14F-4D97-AF65-F5344CB8AC3E}">
        <p14:creationId xmlns:p14="http://schemas.microsoft.com/office/powerpoint/2010/main" val="4868578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2026-10-13T23:09:54.9570000Z</dcterms:created>
  <dcterms:modified xsi:type="dcterms:W3CDTF">2026-10-13T23:09:54.9570000Z</dcterms:modified>
</coreProperties>
</file>